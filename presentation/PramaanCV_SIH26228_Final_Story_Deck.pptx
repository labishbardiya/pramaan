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9891af519e430a" /><Relationship Type="http://schemas.openxmlformats.org/officeDocument/2006/relationships/extended-properties" Target="/docProps/app.xml" Id="Rafe62e9987c8465a" /><Relationship Type="http://schemas.openxmlformats.org/officeDocument/2006/relationships/officeDocument" Target="/ppt/presentation.xml" Id="R810d0e0bd78e462c" /></Relationships>
</file>

<file path=ppt/presentation.xml><?xml version="1.0" encoding="utf-8"?>
<p:presentation xmlns:p="http://schemas.openxmlformats.org/presentationml/2006/main">
  <p:sldMasterIdLst>
    <p:sldMasterId xmlns:r="http://schemas.openxmlformats.org/officeDocument/2006/relationships" id="2147483648" r:id="Rd982e06ba2874b68"/>
  </p:sldMasterIdLst>
  <p:notesMasterIdLst>
    <p:notesMasterId xmlns:r="http://schemas.openxmlformats.org/officeDocument/2006/relationships" r:id="R8d512284f1eb4d5f"/>
  </p:notesMasterIdLst>
  <p:sldIdLst>
    <p:sldId xmlns:r="http://schemas.openxmlformats.org/officeDocument/2006/relationships" id="256" r:id="R409a53c2ba0b4a4d"/>
    <p:sldId xmlns:r="http://schemas.openxmlformats.org/officeDocument/2006/relationships" id="257" r:id="Rbbdbeb02e5874214"/>
    <p:sldId xmlns:r="http://schemas.openxmlformats.org/officeDocument/2006/relationships" id="258" r:id="R70da2660fe704af8"/>
    <p:sldId xmlns:r="http://schemas.openxmlformats.org/officeDocument/2006/relationships" id="259" r:id="R063607c8cdf34549"/>
    <p:sldId xmlns:r="http://schemas.openxmlformats.org/officeDocument/2006/relationships" id="260" r:id="R37873e9e5d104e13"/>
    <p:sldId xmlns:r="http://schemas.openxmlformats.org/officeDocument/2006/relationships" id="261" r:id="R461643e66bf1496d"/>
    <p:sldId xmlns:r="http://schemas.openxmlformats.org/officeDocument/2006/relationships" id="262" r:id="R89180120497d4fa8"/>
    <p:sldId xmlns:r="http://schemas.openxmlformats.org/officeDocument/2006/relationships" id="263" r:id="Re0c469d8f35a4b66"/>
    <p:sldId xmlns:r="http://schemas.openxmlformats.org/officeDocument/2006/relationships" id="264" r:id="R5ee877b894754f9f"/>
    <p:sldId xmlns:r="http://schemas.openxmlformats.org/officeDocument/2006/relationships" id="265" r:id="R172ede1d230b45be"/>
    <p:sldId xmlns:r="http://schemas.openxmlformats.org/officeDocument/2006/relationships" id="266" r:id="Rc0b9bb737a0d440e"/>
    <p:sldId xmlns:r="http://schemas.openxmlformats.org/officeDocument/2006/relationships" id="267" r:id="Rb48fd4734eb14be7"/>
    <p:sldId xmlns:r="http://schemas.openxmlformats.org/officeDocument/2006/relationships" id="268" r:id="Re3172236b3684bcc"/>
    <p:sldId xmlns:r="http://schemas.openxmlformats.org/officeDocument/2006/relationships" id="269" r:id="R613e79a9023c45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ed1a35a39542f3" /><Relationship Type="http://schemas.openxmlformats.org/officeDocument/2006/relationships/slideMaster" Target="/ppt/slideMasters/slideMaster1.xml" Id="Rd982e06ba2874b68" /><Relationship Type="http://schemas.openxmlformats.org/officeDocument/2006/relationships/notesMaster" Target="/ppt/notesMasters/notesMaster1.xml" Id="R8d512284f1eb4d5f" /><Relationship Type="http://schemas.openxmlformats.org/officeDocument/2006/relationships/presProps" Target="/ppt/presProps.xml" Id="R206f64f5a51647ce" /><Relationship Type="http://schemas.openxmlformats.org/officeDocument/2006/relationships/tableStyles" Target="/ppt/tableStyles.xml" Id="Rf811855254e8406b" /><Relationship Type="http://schemas.openxmlformats.org/officeDocument/2006/relationships/slide" Target="/ppt/slides/slide1.xml" Id="R409a53c2ba0b4a4d" /><Relationship Type="http://schemas.openxmlformats.org/officeDocument/2006/relationships/slide" Target="/ppt/slides/slide2.xml" Id="Rbbdbeb02e5874214" /><Relationship Type="http://schemas.openxmlformats.org/officeDocument/2006/relationships/slide" Target="/ppt/slides/slide3.xml" Id="R70da2660fe704af8" /><Relationship Type="http://schemas.openxmlformats.org/officeDocument/2006/relationships/slide" Target="/ppt/slides/slide4.xml" Id="R063607c8cdf34549" /><Relationship Type="http://schemas.openxmlformats.org/officeDocument/2006/relationships/slide" Target="/ppt/slides/slide5.xml" Id="R37873e9e5d104e13" /><Relationship Type="http://schemas.openxmlformats.org/officeDocument/2006/relationships/slide" Target="/ppt/slides/slide6.xml" Id="R461643e66bf1496d" /><Relationship Type="http://schemas.openxmlformats.org/officeDocument/2006/relationships/slide" Target="/ppt/slides/slide7.xml" Id="R89180120497d4fa8" /><Relationship Type="http://schemas.openxmlformats.org/officeDocument/2006/relationships/slide" Target="/ppt/slides/slide8.xml" Id="Re0c469d8f35a4b66" /><Relationship Type="http://schemas.openxmlformats.org/officeDocument/2006/relationships/slide" Target="/ppt/slides/slide9.xml" Id="R5ee877b894754f9f" /><Relationship Type="http://schemas.openxmlformats.org/officeDocument/2006/relationships/slide" Target="/ppt/slides/slide10.xml" Id="R172ede1d230b45be" /><Relationship Type="http://schemas.openxmlformats.org/officeDocument/2006/relationships/slide" Target="/ppt/slides/slide11.xml" Id="Rc0b9bb737a0d440e" /><Relationship Type="http://schemas.openxmlformats.org/officeDocument/2006/relationships/slide" Target="/ppt/slides/slide12.xml" Id="Rb48fd4734eb14be7" /><Relationship Type="http://schemas.openxmlformats.org/officeDocument/2006/relationships/slide" Target="/ppt/slides/slide13.xml" Id="Re3172236b3684bcc" /><Relationship Type="http://schemas.openxmlformats.org/officeDocument/2006/relationships/slide" Target="/ppt/slides/slide14.xml" Id="R613e79a9023c45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2dccb0dc4749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724c74025d4a2d" /><Relationship Type="http://schemas.openxmlformats.org/officeDocument/2006/relationships/notesMaster" Target="/ppt/notesMasters/notesMaster1.xml" Id="R68d8002457f348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ba6cf2fe204e3b" /><Relationship Type="http://schemas.openxmlformats.org/officeDocument/2006/relationships/notesMaster" Target="/ppt/notesMasters/notesMaster1.xml" Id="R5f0ebc2662d14b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2a4c81afc4a9a" /><Relationship Type="http://schemas.openxmlformats.org/officeDocument/2006/relationships/notesMaster" Target="/ppt/notesMasters/notesMaster1.xml" Id="R414dd12eabd448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f13b9bf943490d" /><Relationship Type="http://schemas.openxmlformats.org/officeDocument/2006/relationships/notesMaster" Target="/ppt/notesMasters/notesMaster1.xml" Id="Ra129b3f040fd4a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85f0fb932b4a3a" /><Relationship Type="http://schemas.openxmlformats.org/officeDocument/2006/relationships/notesMaster" Target="/ppt/notesMasters/notesMaster1.xml" Id="R091149c79ab44e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cc104aa5234741" /><Relationship Type="http://schemas.openxmlformats.org/officeDocument/2006/relationships/notesMaster" Target="/ppt/notesMasters/notesMaster1.xml" Id="R87ca1a40f4d448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62293a7c8e40f8" /><Relationship Type="http://schemas.openxmlformats.org/officeDocument/2006/relationships/notesMaster" Target="/ppt/notesMasters/notesMaster1.xml" Id="R6f8fe6c8408a49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fea5e9c4784bc7" /><Relationship Type="http://schemas.openxmlformats.org/officeDocument/2006/relationships/notesMaster" Target="/ppt/notesMasters/notesMaster1.xml" Id="R167abc9e08014e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c03f90b6e74dd8" /><Relationship Type="http://schemas.openxmlformats.org/officeDocument/2006/relationships/notesMaster" Target="/ppt/notesMasters/notesMaster1.xml" Id="R02ebc4c9dccf41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4bbacf9de440a5" /><Relationship Type="http://schemas.openxmlformats.org/officeDocument/2006/relationships/notesMaster" Target="/ppt/notesMasters/notesMaster1.xml" Id="R20f700bfade345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58cbd216e14ca3" /><Relationship Type="http://schemas.openxmlformats.org/officeDocument/2006/relationships/notesMaster" Target="/ppt/notesMasters/notesMaster1.xml" Id="Rd019648f6abf49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235d8387b04a5b" /><Relationship Type="http://schemas.openxmlformats.org/officeDocument/2006/relationships/notesMaster" Target="/ppt/notesMasters/notesMaster1.xml" Id="R6b5c5fc211de46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c12ed45fa44388" /><Relationship Type="http://schemas.openxmlformats.org/officeDocument/2006/relationships/notesMaster" Target="/ppt/notesMasters/notesMaster1.xml" Id="R07f153c038784e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b6d3455a294e83" /><Relationship Type="http://schemas.openxmlformats.org/officeDocument/2006/relationships/notesMaster" Target="/ppt/notesMasters/notesMaster1.xml" Id="R54b437ffaccc48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Operational computer vision can fail even when the model accuracy looks normal. A single contributor can poison training samples, a vendor model can be substituted, or an inference record can be changed after generation. PramaanCV gives an analyst one offline chain of evidence across those three points. We are proposing SIH26228 because it rewards a software-first, measurable assurance system and it lets us validate on public defence-relevant security benchmarks without depending on a fragile hardware demonstration.</a:t>
            </a:r>
          </a:p>
          <a:p xmlns:a="http://schemas.openxmlformats.org/drawingml/2006/main">
            <a:r>
              <a:t/>
            </a:r>
          </a:p>
          <a:p xmlns:a="http://schemas.openxmlformats.org/drawingml/2006/main">
            <a:r>
              <a:t>Sources:</a:t>
            </a:r>
          </a:p>
          <a:p xmlns:a="http://schemas.openxmlformats.org/drawingml/2006/main">
            <a:r>
              <a:t>- Official SIH26228 problem text supplied from the SIH portal</a:t>
            </a:r>
          </a:p>
          <a:p xmlns:a="http://schemas.openxmlformats.org/drawingml/2006/main">
            <a:r>
              <a:t>- https://sih2026.vuce.in/ps/SIH26228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structure the next nine minutes around four questions. First, what can go wrong in a multi-contributor computer-vision pipeline? Second, why do existing controls still miss the complete failure? Third, how does PramaanCV connect the evidence into one defensible decision? Fourth, can we prove it with a live offline prototype and accepted public benchmarks? We will finish with the exact ninety-second demo and the measurements that decide whether our innovation is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need is measurable. NIST says it has released more than fourteen thousand AI models so the public can study Trojan detection. In the object-detection Round 13, the IARPA final report says only one team produced detectors that met the threshold; its ten detectors averaged 0.898 ROC-AUC. A different failure appears even without an attacker: COCO-O caused a 55.7 percent relative performance drop for a Faster R-CNN detector under natural shifts. And an AISTATS 2024 result proves that a universal adversary-unaware backdoor detector is impossible. The correct product must combine evidence, declare its threat model and preserve uncertainty.</a:t>
            </a:r>
          </a:p>
          <a:p xmlns:a="http://schemas.openxmlformats.org/drawingml/2006/main">
            <a:r>
              <a:t/>
            </a:r>
          </a:p>
          <a:p xmlns:a="http://schemas.openxmlformats.org/drawingml/2006/main">
            <a:r>
              <a:t>Sources:</a:t>
            </a:r>
          </a:p>
          <a:p xmlns:a="http://schemas.openxmlformats.org/drawingml/2006/main">
            <a:r>
              <a:t>- https://www.nist.gov/news-events/news/2023/09/spotlight-challenge-detect-stealthy-attacks-against-ai-data</a:t>
            </a:r>
          </a:p>
          <a:p xmlns:a="http://schemas.openxmlformats.org/drawingml/2006/main">
            <a:r>
              <a:t>- https://www.iarpa.gov/images/pdfs/TrojAI/TrojAI_Final_Report_Final_Version_20260123-compressed.pdf</a:t>
            </a:r>
          </a:p>
          <a:p xmlns:a="http://schemas.openxmlformats.org/drawingml/2006/main">
            <a:r>
              <a:t>- https://openaccess.thecvf.com/content/ICCV2023/papers/Mao_COCO-O_A_Benchmark_for_Object_Detectors_under_Natural_Distribution_Shifts_ICCV_2023_paper.pdf</a:t>
            </a:r>
          </a:p>
          <a:p xmlns:a="http://schemas.openxmlformats.org/drawingml/2006/main">
            <a:r>
              <a:t>- https://proceedings.mlr.press/v238/pichler24a.html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concrete failure. A contributor uploads many near-duplicate images carrying a small trigger. The model behaves normally on the clean validation set, but suppresses one class when that trigger appears. Later, the inference result can be copied or modified because no signed record binds the image, weights, configuration and output. Point tools can catch one symptom, yet the analyst still has to reconstruct the story. The problem asks for a unified assurance layer that treats every contributor as potentially untrusted and gives a reason, evidence, confidence and disposition for each finding.</a:t>
            </a:r>
          </a:p>
          <a:p xmlns:a="http://schemas.openxmlformats.org/drawingml/2006/main">
            <a:r>
              <a:t/>
            </a:r>
          </a:p>
          <a:p xmlns:a="http://schemas.openxmlformats.org/drawingml/2006/main">
            <a:r>
              <a:t>Sources:</a:t>
            </a:r>
          </a:p>
          <a:p xmlns:a="http://schemas.openxmlformats.org/drawingml/2006/main">
            <a:r>
              <a:t>- https://sih2026.vuce.in/ps/SIH26228</a:t>
            </a:r>
          </a:p>
          <a:p xmlns:a="http://schemas.openxmlformats.org/drawingml/2006/main">
            <a:r>
              <a:t>- https://csrc.nist.gov/pubs/ai/100/2/e2025/final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translate the statement into five questions. First, find suspicious samples and aggregate them by contributor. Second, test model integrity according to the access available. Third, cryptographically bind the input, model digest, preprocessing, configuration and output. Fourth, measure distribution shift without pretending that every shift is malicious. Fifth, give the analyst an evidence-backed action. The complete workflow runs in an air-gapped environment, accepts COCO and YOLO data, supports ONNX and PyTorch or TorchScript models, and does not require baseline retraining. When black-box access cannot support a test, PramaanCV reports unavailable or inconclusive instead of fabricating certainty.</a:t>
            </a:r>
          </a:p>
          <a:p xmlns:a="http://schemas.openxmlformats.org/drawingml/2006/main">
            <a:r>
              <a:t/>
            </a:r>
          </a:p>
          <a:p xmlns:a="http://schemas.openxmlformats.org/drawingml/2006/main">
            <a:r>
              <a:t>Sources:</a:t>
            </a:r>
          </a:p>
          <a:p xmlns:a="http://schemas.openxmlformats.org/drawingml/2006/main">
            <a:r>
              <a:t>- https://sih2026.vuce.in/ps/SIH26228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gap is not a lack of algorithms. ObjectLab can identify likely label and bounding-box issues. TrojAI and BackdoorBench support research on model backdoors. Provenance standards explain how to bind artifacts and processes. These systems answer different questions and leave the analyst to join the evidence manually. Our differentiator is an assurance case: a data anomaly produces a hypothesis, the model scanner runs the relevant behavioural test, and the final inference receipt preserves which model and configuration produced the output. We will test whether that handoff improves attack detection or reduces review time at the same false-positive rate. Until measured, we call it a hypothesis, not a guaranteed result.</a:t>
            </a:r>
          </a:p>
          <a:p xmlns:a="http://schemas.openxmlformats.org/drawingml/2006/main">
            <a:r>
              <a:t/>
            </a:r>
          </a:p>
          <a:p xmlns:a="http://schemas.openxmlformats.org/drawingml/2006/main">
            <a:r>
              <a:t>Sources:</a:t>
            </a:r>
          </a:p>
          <a:p xmlns:a="http://schemas.openxmlformats.org/drawingml/2006/main">
            <a:r>
              <a:t>- https://arxiv.org/abs/2309.00832</a:t>
            </a:r>
          </a:p>
          <a:p xmlns:a="http://schemas.openxmlformats.org/drawingml/2006/main">
            <a:r>
              <a:t>- https://pages.nist.gov/trojai/docs/overview.html</a:t>
            </a:r>
          </a:p>
          <a:p xmlns:a="http://schemas.openxmlformats.org/drawingml/2006/main">
            <a:r>
              <a:t>- https://github.com/slsa-framework/slsa/blob/main/spec/build-provenance.md</a:t>
            </a:r>
          </a:p>
          <a:p xmlns:a="http://schemas.openxmlformats.org/drawingml/2006/main">
            <a:r>
              <a:t>- https://spec.c2pa.org/specifications/specifications/2.4/specs/C2PA_Specification.html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is a release gate. Untrusted datasets and models enter a sandbox. Format adapters normalise COCO, YOLO, ONNX and TorchScript without loading arbitrary model files into the main process. Analyser plugins run only when their required access is available. Every finding becomes a typed evidence object with the asset digest, method, confidence, limitation and recommended disposition. The evidence graph connects findings across data, model and inference. A policy engine then returns accept, review, quarantine or inconclusive. Three small trusted roots remain: a signed baseline manifest, a public-key store and a versioned reference battery. The complete system packages dependencies for offline use.</a:t>
            </a:r>
          </a:p>
          <a:p xmlns:a="http://schemas.openxmlformats.org/drawingml/2006/main">
            <a:r>
              <a:t/>
            </a:r>
          </a:p>
          <a:p xmlns:a="http://schemas.openxmlformats.org/drawingml/2006/main">
            <a:r>
              <a:t>Sources:</a:t>
            </a:r>
          </a:p>
          <a:p xmlns:a="http://schemas.openxmlformats.org/drawingml/2006/main">
            <a:r>
              <a:t>- https://github.com/pytorch/pytorch/security/policy</a:t>
            </a:r>
          </a:p>
          <a:p xmlns:a="http://schemas.openxmlformats.org/drawingml/2006/main">
            <a:r>
              <a:t>- https://github.com/slsa-framework/slsa/blob/main/spec/build-provenance.md</a:t>
            </a:r>
          </a:p>
          <a:p xmlns:a="http://schemas.openxmlformats.org/drawingml/2006/main">
            <a:r>
              <a:t>- https://sih2026.vuce.in/ps/SIH26228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innovation. Suppose the data scanner finds a repeated patch concentrated in one contributor’s images. Instead of issuing a generic anomaly score, it passes the patch and affected classes to the model scanner. The behavioural battery then measures the model with valid, invalid and absent trigger conditions. If the model shows correlated behaviour, the assurance case becomes stronger. Every protected inference produces a signed receipt that binds the input hash, model digest, preprocessing, output, nonce, sequence number and previous-record hash. The analyst sees the evidence chain and its limits. Our evaluation compares this coordinated flow with isolated detectors at a matched clean false-positive rate.</a:t>
            </a:r>
          </a:p>
          <a:p xmlns:a="http://schemas.openxmlformats.org/drawingml/2006/main">
            <a:r>
              <a:t/>
            </a:r>
          </a:p>
          <a:p xmlns:a="http://schemas.openxmlformats.org/drawingml/2006/main">
            <a:r>
              <a:t>Sources:</a:t>
            </a:r>
          </a:p>
          <a:p xmlns:a="http://schemas.openxmlformats.org/drawingml/2006/main">
            <a:r>
              <a:t>- https://pages.nist.gov/trojai/docs/object-detection-feb2023.html</a:t>
            </a:r>
          </a:p>
          <a:p xmlns:a="http://schemas.openxmlformats.org/drawingml/2006/main">
            <a:r>
              <a:t>- https://proceedings.mlr.press/v238/pichler24a.html</a:t>
            </a:r>
          </a:p>
          <a:p xmlns:a="http://schemas.openxmlformats.org/drawingml/2006/main">
            <a:r>
              <a:t>- https://spec.c2pa.org/specifications/specifications/2.4/specs/C2PA_Specification.html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not invent the main benchmark. NIST TrojAI Round 13 is explicitly cited by the problem statement and directly targets object detection. Its public training split contains 128 models, with 192 test and 192 holdout models. It includes SSD, Faster R-CNN and DETR across synthetic road scenes and DOTA aerial imagery. Attack families include misclassification, evasion, localisation and injection, plus spurious triggers on clean models. For operational distribution shift we add COCO-O: 6,782 real images across six natural domains. For label and box quality we use COCO-format clean controls and reproduce ObjectLab-style checks. No single dataset covers all five capabilities, so this suite gives each claim an accepted benchmark.</a:t>
            </a:r>
          </a:p>
          <a:p xmlns:a="http://schemas.openxmlformats.org/drawingml/2006/main">
            <a:r>
              <a:t/>
            </a:r>
          </a:p>
          <a:p xmlns:a="http://schemas.openxmlformats.org/drawingml/2006/main">
            <a:r>
              <a:t>Sources:</a:t>
            </a:r>
          </a:p>
          <a:p xmlns:a="http://schemas.openxmlformats.org/drawingml/2006/main">
            <a:r>
              <a:t>- https://pages.nist.gov/trojai/docs/object-detection-feb2023.html</a:t>
            </a:r>
          </a:p>
          <a:p xmlns:a="http://schemas.openxmlformats.org/drawingml/2006/main">
            <a:r>
              <a:t>- https://data.nist.gov/od/id/mds2-2959</a:t>
            </a:r>
          </a:p>
          <a:p xmlns:a="http://schemas.openxmlformats.org/drawingml/2006/main">
            <a:r>
              <a:t>- https://openaccess.thecvf.com/content/ICCV2023/papers/Mao_COCO-O_A_Benchmark_for_Object_Detectors_under_Natural_Distribution_Shifts_ICCV_2023_paper.pdf</a:t>
            </a:r>
          </a:p>
          <a:p xmlns:a="http://schemas.openxmlformats.org/drawingml/2006/main">
            <a:r>
              <a:t>- https://arxiv.org/abs/2309.00832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scope stays narrow and honest. Today, it audits a COCO manifest and aggregates contributor-level clues, imports a declared behavioural output battery, hashes the image, model and output, signs an append-only receipt, detects tampering or replay, and compiles an accept, review, quarantine or inconclusive disposition. The analyst can inspect the evidence and limitations behind that result. Our next measured gate is direct execution of selected clean and poisoned NIST models, followed by attack-family accuracy and clean false-positive reporting. A successful live demo takes less than ninety seconds and proves the connected evidence loop without claiming validation we have not completed.</a:t>
            </a:r>
          </a:p>
          <a:p xmlns:a="http://schemas.openxmlformats.org/drawingml/2006/main">
            <a:r>
              <a:t/>
            </a:r>
          </a:p>
          <a:p xmlns:a="http://schemas.openxmlformats.org/drawingml/2006/main">
            <a:r>
              <a:t>Sources:</a:t>
            </a:r>
          </a:p>
          <a:p xmlns:a="http://schemas.openxmlformats.org/drawingml/2006/main">
            <a:r>
              <a:t>- https://pages.nist.gov/trojai/docs/object-detection-feb2023.html</a:t>
            </a:r>
          </a:p>
          <a:p xmlns:a="http://schemas.openxmlformats.org/drawingml/2006/main">
            <a:r>
              <a:t>- https://pages.nist.gov/trojai/docs/object-detection-jul2022.html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comes from separating formats, analyses and policy. Model adapters isolate framework-specific loading. Content hashes cache evidence for unchanged files, so a new contributor batch does not force a full rescan. Independent jobs can run across CPUs or GPUs when available. The baseline prototype uses team laptops and open-source components with no cloud dependency. Real deployment cost depends on model size, evidence retention and throughput, so we will report measured CPU time, peak memory and storage per thousand images instead of inventing one price. The design can start as a single workstation and scale to an offline cluster with the same evidence schema.</a:t>
            </a:r>
          </a:p>
          <a:p xmlns:a="http://schemas.openxmlformats.org/drawingml/2006/main">
            <a:r>
              <a:t/>
            </a:r>
          </a:p>
          <a:p xmlns:a="http://schemas.openxmlformats.org/drawingml/2006/main">
            <a:r>
              <a:t>Sources:</a:t>
            </a:r>
          </a:p>
          <a:p xmlns:a="http://schemas.openxmlformats.org/drawingml/2006/main">
            <a:r>
              <a:t>- https://sih2026.vuce.in/ps/SIH26228</a:t>
            </a:r>
          </a:p>
          <a:p xmlns:a="http://schemas.openxmlformats.org/drawingml/2006/main">
            <a:r>
              <a:t>- https://github.com/pytorch/pytorch/security/policy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national-stage roadmap uses evidence gates. The first gate proves the end-to-end loop on clean and poisoned NIST models. The second measures true-positive rate at a fixed false-positive rate across Round 13 attack families and reports how often clean assets are quarantined. The third adds COCO-O shift calibration, ONNX support and a graceful black-box fallback. The final gate packages the system for an air-gapped environment, publishes the coverage statement and measures analyst review time. If cross-layer evidence does not improve detection or review efficiency, we simplify the claim and retain the strongest components. PramaanCV’s outcome is a defensible reason to accept, review, quarantine or declare an assessment inconclusive.</a:t>
            </a:r>
          </a:p>
          <a:p xmlns:a="http://schemas.openxmlformats.org/drawingml/2006/main">
            <a:r>
              <a:t/>
            </a:r>
          </a:p>
          <a:p xmlns:a="http://schemas.openxmlformats.org/drawingml/2006/main">
            <a:r>
              <a:t>Sources:</a:t>
            </a:r>
          </a:p>
          <a:p xmlns:a="http://schemas.openxmlformats.org/drawingml/2006/main">
            <a:r>
              <a:t>- https://pages.nist.gov/trojai/docs/overview.html</a:t>
            </a:r>
          </a:p>
          <a:p xmlns:a="http://schemas.openxmlformats.org/drawingml/2006/main">
            <a:r>
              <a:t>- https://pages.nist.gov/trojai/docs/object-detection-feb2023.html</a:t>
            </a:r>
          </a:p>
          <a:p xmlns:a="http://schemas.openxmlformats.org/drawingml/2006/main">
            <a:r>
              <a:t>- https://openaccess.thecvf.com/content/ICCV2023/papers/Mao_COCO-O_A_Benchmark_for_Object_Detectors_under_Natural_Distribution_Shifts_ICCV_2023_paper.pdf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access-mode questions. White-box access enables parameter and activation statistics. Black-box access still permits a behavioural reference battery, but confidence depends on the queries and coverage. A cryptographic receipt proves tamper evidence under the declared key and execution trust model. It does not prove that the underlying model or assertion is truthful. Theoretical results show that universal backdoor detection cannot be guaranteed under unrestricted attack models, so our coverage statement is a product feature rather than a weakness.</a:t>
            </a:r>
          </a:p>
          <a:p xmlns:a="http://schemas.openxmlformats.org/drawingml/2006/main">
            <a:r>
              <a:t/>
            </a:r>
          </a:p>
          <a:p xmlns:a="http://schemas.openxmlformats.org/drawingml/2006/main">
            <a:r>
              <a:t>Sources:</a:t>
            </a:r>
          </a:p>
          <a:p xmlns:a="http://schemas.openxmlformats.org/drawingml/2006/main">
            <a:r>
              <a:t>- https://proceedings.mlr.press/v238/pichler24a.html</a:t>
            </a:r>
          </a:p>
          <a:p xmlns:a="http://schemas.openxmlformats.org/drawingml/2006/main">
            <a:r>
              <a:t>- https://spec.c2pa.org/specifications/specifications/2.4/specs/C2PA_Specification.html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numbers we will bring to the national jury. Security performance includes TPR at fixed false-positive rates and attack-family AUROC or AUPRC. Clean quarantine rate keeps us honest. Contributor ranking recall tests whether aggregation helps investigators. Calibration measures whether confidence means what it says. System measurements cover CPU time, memory, record integrity and review time. Our kill signal is explicit: if the evidence graph does not improve detection or analyst efficiency at the same false-positive rate, we reduce the novelty claim and retain only the components supported by results.</a:t>
            </a:r>
          </a:p>
          <a:p xmlns:a="http://schemas.openxmlformats.org/drawingml/2006/main">
            <a:r>
              <a:t/>
            </a:r>
          </a:p>
          <a:p xmlns:a="http://schemas.openxmlformats.org/drawingml/2006/main">
            <a:r>
              <a:t>Sources:</a:t>
            </a:r>
          </a:p>
          <a:p xmlns:a="http://schemas.openxmlformats.org/drawingml/2006/main">
            <a:r>
              <a:t>- https://pages.nist.gov/trojai/docs/overview.html</a:t>
            </a:r>
          </a:p>
          <a:p xmlns:a="http://schemas.openxmlformats.org/drawingml/2006/main">
            <a:r>
              <a:t>- https://proceedings.mlr.press/v238/pichler24a.html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916b3c3e4c40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adfd13e7ed4bb6" /><Relationship Type="http://schemas.openxmlformats.org/officeDocument/2006/relationships/slideLayout" Target="/ppt/slideLayouts/slideLayout1.xml" Id="R10041d960fb841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041d960fb841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903d2277674046" /><Relationship Type="http://schemas.openxmlformats.org/officeDocument/2006/relationships/image" Target="/ppt/media/image.png" Id="Rcc2b50a971e14567" /><Relationship Type="http://schemas.openxmlformats.org/officeDocument/2006/relationships/notesSlide" Target="/ppt/notesSlides/notesSlide1.xml" Id="R18376de2a0604a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0d178038ad4e36" /><Relationship Type="http://schemas.openxmlformats.org/officeDocument/2006/relationships/notesSlide" Target="/ppt/notesSlides/notesSlide2.xml" Id="R32b86e5d9fd849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64049f77d34e9d" /><Relationship Type="http://schemas.openxmlformats.org/officeDocument/2006/relationships/notesSlide" Target="/ppt/notesSlides/notesSlide3.xml" Id="R39fec21e0bd444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e6d880ce2d4923" /><Relationship Type="http://schemas.openxmlformats.org/officeDocument/2006/relationships/image" Target="/ppt/media/image2.png" Id="Rd466718b00654fe8" /><Relationship Type="http://schemas.openxmlformats.org/officeDocument/2006/relationships/notesSlide" Target="/ppt/notesSlides/notesSlide4.xml" Id="Rf9c8d68e66b741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fd2e8c7b944aa1" /><Relationship Type="http://schemas.openxmlformats.org/officeDocument/2006/relationships/notesSlide" Target="/ppt/notesSlides/notesSlide5.xml" Id="R4dd9c4e57ea541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d16af5e99242a1" /><Relationship Type="http://schemas.openxmlformats.org/officeDocument/2006/relationships/notesSlide" Target="/ppt/notesSlides/notesSlide6.xml" Id="Rec2abbd34d0b45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2e78537f334c6a" /><Relationship Type="http://schemas.openxmlformats.org/officeDocument/2006/relationships/notesSlide" Target="/ppt/notesSlides/notesSlide7.xml" Id="R7febbaf5e66242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819df2fd604e0f" /><Relationship Type="http://schemas.openxmlformats.org/officeDocument/2006/relationships/notesSlide" Target="/ppt/notesSlides/notesSlide8.xml" Id="R74df710e3ec24e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5318f3557f44b5" /><Relationship Type="http://schemas.openxmlformats.org/officeDocument/2006/relationships/notesSlide" Target="/ppt/notesSlides/notesSlide9.xml" Id="Rb9b055029b9948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c4d12e3302422a" /><Relationship Type="http://schemas.openxmlformats.org/officeDocument/2006/relationships/notesSlide" Target="/ppt/notesSlides/notesSlide10.xml" Id="R707caf9f6d0f40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f2e3db22654618" /><Relationship Type="http://schemas.openxmlformats.org/officeDocument/2006/relationships/notesSlide" Target="/ppt/notesSlides/notesSlide11.xml" Id="Re067845b62eb42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fe921cb69a40e9" /><Relationship Type="http://schemas.openxmlformats.org/officeDocument/2006/relationships/notesSlide" Target="/ppt/notesSlides/notesSlide12.xml" Id="R079d442b60024a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8b8256510a4d7c" /><Relationship Type="http://schemas.openxmlformats.org/officeDocument/2006/relationships/notesSlide" Target="/ppt/notesSlides/notesSlide13.xml" Id="Rd24f526e6a5945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a552916a6a4b37" /><Relationship Type="http://schemas.openxmlformats.org/officeDocument/2006/relationships/notesSlide" Target="/ppt/notesSlides/notesSlide14.xml" Id="Rbf2cc4e060084627" /></Relationships>
</file>

<file path=ppt/slides/slide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2b50a971e14567"/>
          <a:srcRect xmlns:a="http://schemas.openxmlformats.org/drawingml/2006/main" l="20297" t="0" r="20297"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CD0C61-E2C4-49DF-BD7B-F1A7D8A554D4}"/>
              </a:ext>
            </a:extLst>
          </p:cNvPr>
          <p:cNvSpPr>
            <a:spLocks xmlns:a="http://schemas.openxmlformats.org/drawingml/2006/main" noGrp="1"/>
          </p:cNvSpPr>
          <p:nvPr/>
        </p:nvSpPr>
        <p:spPr>
          <a:xfrm xmlns:a="http://schemas.openxmlformats.org/drawingml/2006/main">
            <a:off x="0" y="0"/>
            <a:ext cx="5476875" cy="6858000"/>
          </a:xfrm>
          <a:prstGeom xmlns:a="http://schemas.openxmlformats.org/drawingml/2006/main" prst="rect">
            <a:avLst/>
          </a:prstGeom>
          <a:solidFill xmlns:a="http://schemas.openxmlformats.org/drawingml/2006/main">
            <a:srgbClr val="F6F0E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1FE4AC-5E1B-46F2-9478-553914D07C58}"/>
              </a:ext>
            </a:extLst>
          </p:cNvPr>
          <p:cNvSpPr>
            <a:spLocks xmlns:a="http://schemas.openxmlformats.org/drawingml/2006/main" noGrp="1"/>
          </p:cNvSpPr>
          <p:nvPr/>
        </p:nvSpPr>
        <p:spPr>
          <a:xfrm xmlns:a="http://schemas.openxmlformats.org/drawingml/2006/main">
            <a:off x="685800" y="6286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B66045"/>
                </a:solidFill>
                <a:latin typeface="Helvetica Neue"/>
                <a:ea typeface="Helvetica Neue"/>
                <a:cs typeface="Helvetica Neue"/>
              </a:defRPr>
            </a:pPr>
            <a:r>
              <a:rPr sz="1050" b="1">
                <a:solidFill>
                  <a:srgbClr val="B66045"/>
                </a:solidFill>
                <a:latin typeface="Helvetica Neue"/>
                <a:ea typeface="Helvetica Neue"/>
                <a:cs typeface="Helvetica Neue"/>
              </a:rPr>
              <a:t>SIH 2026  ·  INTERNAL SELECTION</a:t>
            </a:r>
          </a:p>
        </p:txBody>
      </p:sp>
      <p:sp>
        <p:nvSpPr>
          <p:cNvPr id="4" name="">
            <a:extLst xmlns:a="http://schemas.openxmlformats.org/drawingml/2006/main">
              <a:ext uri="{FF2B5EF4-FFF2-40B4-BE49-F238E27FC236}">
                <a16:creationId xmlns:a16="http://schemas.microsoft.com/office/drawing/2014/main" id="{AC3A975D-8861-4AAD-92E5-9CF969243033}"/>
              </a:ext>
            </a:extLst>
          </p:cNvPr>
          <p:cNvSpPr>
            <a:spLocks xmlns:a="http://schemas.openxmlformats.org/drawingml/2006/main" noGrp="1"/>
          </p:cNvSpPr>
          <p:nvPr/>
        </p:nvSpPr>
        <p:spPr>
          <a:xfrm xmlns:a="http://schemas.openxmlformats.org/drawingml/2006/main">
            <a:off x="685800" y="135255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050" b="1">
                <a:solidFill>
                  <a:srgbClr val="292A26"/>
                </a:solidFill>
                <a:latin typeface="Helvetica Neue"/>
                <a:ea typeface="Helvetica Neue"/>
                <a:cs typeface="Helvetica Neue"/>
              </a:defRPr>
            </a:pPr>
            <a:r>
              <a:rPr sz="4050" b="1">
                <a:solidFill>
                  <a:srgbClr val="292A26"/>
                </a:solidFill>
                <a:latin typeface="Helvetica Neue"/>
                <a:ea typeface="Helvetica Neue"/>
                <a:cs typeface="Helvetica Neue"/>
              </a:rPr>
              <a:t>PramaanCV</a:t>
            </a:r>
          </a:p>
        </p:txBody>
      </p:sp>
      <p:sp>
        <p:nvSpPr>
          <p:cNvPr id="5" name="">
            <a:extLst xmlns:a="http://schemas.openxmlformats.org/drawingml/2006/main">
              <a:ext uri="{FF2B5EF4-FFF2-40B4-BE49-F238E27FC236}">
                <a16:creationId xmlns:a16="http://schemas.microsoft.com/office/drawing/2014/main" id="{4A24C435-4302-456B-ACA7-0915CD9F345E}"/>
              </a:ext>
            </a:extLst>
          </p:cNvPr>
          <p:cNvSpPr>
            <a:spLocks xmlns:a="http://schemas.openxmlformats.org/drawingml/2006/main" noGrp="1"/>
          </p:cNvSpPr>
          <p:nvPr/>
        </p:nvSpPr>
        <p:spPr>
          <a:xfrm xmlns:a="http://schemas.openxmlformats.org/drawingml/2006/main">
            <a:off x="685800" y="2209800"/>
            <a:ext cx="409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5B6546"/>
                </a:solidFill>
                <a:latin typeface="Helvetica Neue"/>
                <a:ea typeface="Helvetica Neue"/>
                <a:cs typeface="Helvetica Neue"/>
              </a:defRPr>
            </a:pPr>
            <a:r>
              <a:rPr sz="1950" b="1">
                <a:solidFill>
                  <a:srgbClr val="5B6546"/>
                </a:solidFill>
                <a:latin typeface="Helvetica Neue"/>
                <a:ea typeface="Helvetica Neue"/>
                <a:cs typeface="Helvetica Neue"/>
              </a:rPr>
              <a:t>An offline assurance-case compiler for computer vision</a:t>
            </a:r>
          </a:p>
        </p:txBody>
      </p:sp>
      <p:sp>
        <p:nvSpPr>
          <p:cNvPr id="6" name="">
            <a:extLst xmlns:a="http://schemas.openxmlformats.org/drawingml/2006/main">
              <a:ext uri="{FF2B5EF4-FFF2-40B4-BE49-F238E27FC236}">
                <a16:creationId xmlns:a16="http://schemas.microsoft.com/office/drawing/2014/main" id="{C5471AFF-6B6B-4F1C-840A-22C13E21F656}"/>
              </a:ext>
            </a:extLst>
          </p:cNvPr>
          <p:cNvSpPr>
            <a:spLocks xmlns:a="http://schemas.openxmlformats.org/drawingml/2006/main" noGrp="1"/>
          </p:cNvSpPr>
          <p:nvPr/>
        </p:nvSpPr>
        <p:spPr>
          <a:xfrm xmlns:a="http://schemas.openxmlformats.org/drawingml/2006/main">
            <a:off x="685800" y="3429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Connect evidence from training data, model behaviour and inference records before deployment.</a:t>
            </a:r>
          </a:p>
        </p:txBody>
      </p:sp>
      <p:sp>
        <p:nvSpPr>
          <p:cNvPr id="7" name="">
            <a:extLst xmlns:a="http://schemas.openxmlformats.org/drawingml/2006/main">
              <a:ext uri="{FF2B5EF4-FFF2-40B4-BE49-F238E27FC236}">
                <a16:creationId xmlns:a16="http://schemas.microsoft.com/office/drawing/2014/main" id="{BD977822-DB74-4FC7-BBFD-1A0E0FD04AF0}"/>
              </a:ext>
            </a:extLst>
          </p:cNvPr>
          <p:cNvSpPr>
            <a:spLocks xmlns:a="http://schemas.openxmlformats.org/drawingml/2006/main" noGrp="1"/>
          </p:cNvSpPr>
          <p:nvPr/>
        </p:nvSpPr>
        <p:spPr>
          <a:xfrm xmlns:a="http://schemas.openxmlformats.org/drawingml/2006/main">
            <a:off x="685800" y="4895850"/>
            <a:ext cx="112395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SIH26228</a:t>
            </a:r>
          </a:p>
        </p:txBody>
      </p:sp>
      <p:sp>
        <p:nvSpPr>
          <p:cNvPr id="8" name="">
            <a:extLst xmlns:a="http://schemas.openxmlformats.org/drawingml/2006/main">
              <a:ext uri="{FF2B5EF4-FFF2-40B4-BE49-F238E27FC236}">
                <a16:creationId xmlns:a16="http://schemas.microsoft.com/office/drawing/2014/main" id="{194E7B40-82AF-43B2-B568-CCABBB229FFA}"/>
              </a:ext>
            </a:extLst>
          </p:cNvPr>
          <p:cNvSpPr>
            <a:spLocks xmlns:a="http://schemas.openxmlformats.org/drawingml/2006/main" noGrp="1"/>
          </p:cNvSpPr>
          <p:nvPr/>
        </p:nvSpPr>
        <p:spPr>
          <a:xfrm xmlns:a="http://schemas.openxmlformats.org/drawingml/2006/main">
            <a:off x="1943100" y="4895850"/>
            <a:ext cx="2876550" cy="323850"/>
          </a:xfrm>
          <a:prstGeom xmlns:a="http://schemas.openxmlformats.org/drawingml/2006/main" prst="roundRect">
            <a:avLst>
              <a:gd name="adj" fmla="val 50000"/>
            </a:avLst>
          </a:prstGeom>
          <a:solidFill xmlns:a="http://schemas.openxmlformats.org/drawingml/2006/main">
            <a:srgbClr val="EAE0D1"/>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292A26"/>
                </a:solidFill>
                <a:latin typeface="Helvetica Neue"/>
                <a:ea typeface="Helvetica Neue"/>
                <a:cs typeface="Helvetica Neue"/>
              </a:defRPr>
            </a:pPr>
            <a:r>
              <a:rPr sz="975" b="1">
                <a:solidFill>
                  <a:srgbClr val="292A26"/>
                </a:solidFill>
                <a:latin typeface="Helvetica Neue"/>
                <a:ea typeface="Helvetica Neue"/>
                <a:cs typeface="Helvetica Neue"/>
              </a:rPr>
              <a:t>Ministry of Defence · Indian Army (DGIS)</a:t>
            </a:r>
          </a:p>
        </p:txBody>
      </p:sp>
      <p:sp>
        <p:nvSpPr>
          <p:cNvPr id="9" name="">
            <a:extLst xmlns:a="http://schemas.openxmlformats.org/drawingml/2006/main">
              <a:ext uri="{FF2B5EF4-FFF2-40B4-BE49-F238E27FC236}">
                <a16:creationId xmlns:a16="http://schemas.microsoft.com/office/drawing/2014/main" id="{179235F5-4B46-4B18-8D8C-BD2F2331EB0E}"/>
              </a:ext>
            </a:extLst>
          </p:cNvPr>
          <p:cNvSpPr>
            <a:spLocks xmlns:a="http://schemas.openxmlformats.org/drawingml/2006/main" noGrp="1"/>
          </p:cNvSpPr>
          <p:nvPr/>
        </p:nvSpPr>
        <p:spPr>
          <a:xfrm xmlns:a="http://schemas.openxmlformats.org/drawingml/2006/main">
            <a:off x="685800" y="60960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defRPr sz="1050" b="1">
                <a:solidFill>
                  <a:srgbClr val="696B62"/>
                </a:solidFill>
                <a:latin typeface="Helvetica Neue"/>
                <a:ea typeface="Helvetica Neue"/>
                <a:cs typeface="Helvetica Neue"/>
              </a:defRPr>
            </a:pPr>
            <a:r>
              <a:rPr sz="1050" b="1">
                <a:solidFill>
                  <a:srgbClr val="696B62"/>
                </a:solidFill>
                <a:latin typeface="Helvetica Neue"/>
                <a:ea typeface="Helvetica Neue"/>
                <a:cs typeface="Helvetica Neue"/>
              </a:rPr>
              <a:t>Team PramaanCV</a:t>
            </a:r>
          </a:p>
        </p:txBody>
      </p:sp>
    </p:spTree>
    <p:extLst>
      <p:ext uri="{BB962C8B-B14F-4D97-AF65-F5344CB8AC3E}">
        <p14:creationId xmlns:p14="http://schemas.microsoft.com/office/powerpoint/2010/main" val="830110705"/>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BC39FAD-AA79-4378-A1E6-197A3E6344E2}"/>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LET'S TALK</a:t>
            </a:r>
          </a:p>
        </p:txBody>
      </p:sp>
      <p:sp>
        <p:nvSpPr>
          <p:cNvPr id="2" name="">
            <a:extLst xmlns:a="http://schemas.openxmlformats.org/drawingml/2006/main">
              <a:ext uri="{FF2B5EF4-FFF2-40B4-BE49-F238E27FC236}">
                <a16:creationId xmlns:a16="http://schemas.microsoft.com/office/drawing/2014/main" id="{F9CB335E-210F-4E13-B4B8-62F0271C5225}"/>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9A18A1B2-86E1-4081-84F9-AC92620B3717}"/>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02A9E2DA-4CBE-4139-A2A1-B44C1BEEDA33}"/>
              </a:ext>
            </a:extLst>
          </p:cNvPr>
          <p:cNvSpPr>
            <a:spLocks xmlns:a="http://schemas.openxmlformats.org/drawingml/2006/main" noGrp="1"/>
          </p:cNvSpPr>
          <p:nvPr/>
        </p:nvSpPr>
        <p:spPr>
          <a:xfrm xmlns:a="http://schemas.openxmlformats.org/drawingml/2006/main">
            <a:off x="685800" y="8763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600" b="1">
                <a:solidFill>
                  <a:srgbClr val="292A26"/>
                </a:solidFill>
                <a:latin typeface="Helvetica Neue"/>
                <a:ea typeface="Helvetica Neue"/>
                <a:cs typeface="Helvetica Neue"/>
              </a:defRPr>
            </a:pPr>
            <a:r>
              <a:rPr sz="3600" b="1">
                <a:solidFill>
                  <a:srgbClr val="292A26"/>
                </a:solidFill>
                <a:latin typeface="Helvetica Neue"/>
                <a:ea typeface="Helvetica Neue"/>
                <a:cs typeface="Helvetica Neue"/>
              </a:rPr>
              <a:t>Let’s Talk</a:t>
            </a:r>
          </a:p>
        </p:txBody>
      </p:sp>
      <p:sp>
        <p:nvSpPr>
          <p:cNvPr id="5" name="">
            <a:extLst xmlns:a="http://schemas.openxmlformats.org/drawingml/2006/main">
              <a:ext uri="{FF2B5EF4-FFF2-40B4-BE49-F238E27FC236}">
                <a16:creationId xmlns:a16="http://schemas.microsoft.com/office/drawing/2014/main" id="{77A74087-6854-4629-AC96-80B79E2D3CE9}"/>
              </a:ext>
            </a:extLst>
          </p:cNvPr>
          <p:cNvSpPr>
            <a:spLocks xmlns:a="http://schemas.openxmlformats.org/drawingml/2006/main" noGrp="1"/>
          </p:cNvSpPr>
          <p:nvPr/>
        </p:nvSpPr>
        <p:spPr>
          <a:xfrm xmlns:a="http://schemas.openxmlformats.org/drawingml/2006/main">
            <a:off x="685800" y="152400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696B62"/>
                </a:solidFill>
                <a:latin typeface="Helvetica Neue"/>
                <a:ea typeface="Helvetica Neue"/>
                <a:cs typeface="Helvetica Neue"/>
              </a:defRPr>
            </a:pPr>
            <a:r>
              <a:rPr sz="1500" b="0">
                <a:solidFill>
                  <a:srgbClr val="696B62"/>
                </a:solidFill>
                <a:latin typeface="Helvetica Neue"/>
                <a:ea typeface="Helvetica Neue"/>
                <a:cs typeface="Helvetica Neue"/>
              </a:rPr>
              <a:t>Four questions. One continuous story.</a:t>
            </a:r>
          </a:p>
        </p:txBody>
      </p:sp>
      <p:sp>
        <p:nvSpPr>
          <p:cNvPr id="6" name="">
            <a:extLst xmlns:a="http://schemas.openxmlformats.org/drawingml/2006/main">
              <a:ext uri="{FF2B5EF4-FFF2-40B4-BE49-F238E27FC236}">
                <a16:creationId xmlns:a16="http://schemas.microsoft.com/office/drawing/2014/main" id="{90647840-FFD6-4C7C-AA03-33BAD6E31461}"/>
              </a:ext>
            </a:extLst>
          </p:cNvPr>
          <p:cNvSpPr>
            <a:spLocks xmlns:a="http://schemas.openxmlformats.org/drawingml/2006/main" noGrp="1"/>
          </p:cNvSpPr>
          <p:nvPr/>
        </p:nvSpPr>
        <p:spPr>
          <a:xfrm xmlns:a="http://schemas.openxmlformats.org/drawingml/2006/main">
            <a:off x="685800" y="2362200"/>
            <a:ext cx="2457450" cy="2647950"/>
          </a:xfrm>
          <a:prstGeom xmlns:a="http://schemas.openxmlformats.org/drawingml/2006/main" prst="roundRect">
            <a:avLst>
              <a:gd name="adj" fmla="val 6202"/>
            </a:avLst>
          </a:prstGeom>
          <a:solidFill xmlns:a="http://schemas.openxmlformats.org/drawingml/2006/main">
            <a:srgbClr val="F3DDD5"/>
          </a:solidFill>
          <a:ln xmlns:a="http://schemas.openxmlformats.org/drawingml/2006/main" w="9525">
            <a:solidFill>
              <a:srgbClr val="DED0BC"/>
            </a:solidFill>
          </a:ln>
        </p:spPr>
      </p:sp>
      <p:sp>
        <p:nvSpPr>
          <p:cNvPr id="7" name="">
            <a:extLst xmlns:a="http://schemas.openxmlformats.org/drawingml/2006/main">
              <a:ext uri="{FF2B5EF4-FFF2-40B4-BE49-F238E27FC236}">
                <a16:creationId xmlns:a16="http://schemas.microsoft.com/office/drawing/2014/main" id="{2DD808CC-268D-466A-BE1F-4F36B38B3610}"/>
              </a:ext>
            </a:extLst>
          </p:cNvPr>
          <p:cNvSpPr>
            <a:spLocks xmlns:a="http://schemas.openxmlformats.org/drawingml/2006/main" noGrp="1"/>
          </p:cNvSpPr>
          <p:nvPr/>
        </p:nvSpPr>
        <p:spPr>
          <a:xfrm xmlns:a="http://schemas.openxmlformats.org/drawingml/2006/main">
            <a:off x="895350" y="2562225"/>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156BD04F-6C9B-4A6D-AFDD-4FDD9B1D3928}"/>
              </a:ext>
            </a:extLst>
          </p:cNvPr>
          <p:cNvSpPr>
            <a:spLocks xmlns:a="http://schemas.openxmlformats.org/drawingml/2006/main" noGrp="1"/>
          </p:cNvSpPr>
          <p:nvPr/>
        </p:nvSpPr>
        <p:spPr>
          <a:xfrm xmlns:a="http://schemas.openxmlformats.org/drawingml/2006/main">
            <a:off x="895350" y="3133725"/>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WHAT CAN GO WRONG?</a:t>
            </a:r>
          </a:p>
        </p:txBody>
      </p:sp>
      <p:sp>
        <p:nvSpPr>
          <p:cNvPr id="9" name="">
            <a:extLst xmlns:a="http://schemas.openxmlformats.org/drawingml/2006/main">
              <a:ext uri="{FF2B5EF4-FFF2-40B4-BE49-F238E27FC236}">
                <a16:creationId xmlns:a16="http://schemas.microsoft.com/office/drawing/2014/main" id="{F256D8B1-FAEB-431C-85C1-4804B0B9B930}"/>
              </a:ext>
            </a:extLst>
          </p:cNvPr>
          <p:cNvSpPr>
            <a:spLocks xmlns:a="http://schemas.openxmlformats.org/drawingml/2006/main" noGrp="1"/>
          </p:cNvSpPr>
          <p:nvPr/>
        </p:nvSpPr>
        <p:spPr>
          <a:xfrm xmlns:a="http://schemas.openxmlformats.org/drawingml/2006/main">
            <a:off x="933450" y="3800475"/>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1350" b="0">
                <a:solidFill>
                  <a:srgbClr val="696B62"/>
                </a:solidFill>
                <a:latin typeface="Helvetica Neue"/>
                <a:ea typeface="Helvetica Neue"/>
                <a:cs typeface="Helvetica Neue"/>
              </a:defRPr>
            </a:pPr>
            <a:r>
              <a:rPr sz="1350" b="0">
                <a:solidFill>
                  <a:srgbClr val="696B62"/>
                </a:solidFill>
                <a:latin typeface="Helvetica Neue"/>
                <a:ea typeface="Helvetica Neue"/>
                <a:cs typeface="Helvetica Neue"/>
              </a:rPr>
              <a:t>Follow one hidden failure from a contributor to an operational decision.</a:t>
            </a:r>
          </a:p>
        </p:txBody>
      </p:sp>
      <p:sp>
        <p:nvSpPr>
          <p:cNvPr id="10" name="">
            <a:extLst xmlns:a="http://schemas.openxmlformats.org/drawingml/2006/main">
              <a:ext uri="{FF2B5EF4-FFF2-40B4-BE49-F238E27FC236}">
                <a16:creationId xmlns:a16="http://schemas.microsoft.com/office/drawing/2014/main" id="{31807AEE-952F-4625-ADDF-159F476AA11C}"/>
              </a:ext>
            </a:extLst>
          </p:cNvPr>
          <p:cNvSpPr>
            <a:spLocks xmlns:a="http://schemas.openxmlformats.org/drawingml/2006/main" noGrp="1"/>
          </p:cNvSpPr>
          <p:nvPr/>
        </p:nvSpPr>
        <p:spPr>
          <a:xfrm xmlns:a="http://schemas.openxmlformats.org/drawingml/2006/main">
            <a:off x="3190875" y="364807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1" name="">
            <a:extLst xmlns:a="http://schemas.openxmlformats.org/drawingml/2006/main">
              <a:ext uri="{FF2B5EF4-FFF2-40B4-BE49-F238E27FC236}">
                <a16:creationId xmlns:a16="http://schemas.microsoft.com/office/drawing/2014/main" id="{59BE16C6-70E3-4336-8FC9-68F5A9EBE456}"/>
              </a:ext>
            </a:extLst>
          </p:cNvPr>
          <p:cNvSpPr>
            <a:spLocks xmlns:a="http://schemas.openxmlformats.org/drawingml/2006/main" noGrp="1"/>
          </p:cNvSpPr>
          <p:nvPr/>
        </p:nvSpPr>
        <p:spPr>
          <a:xfrm xmlns:a="http://schemas.openxmlformats.org/drawingml/2006/main">
            <a:off x="3409950" y="2362200"/>
            <a:ext cx="2457450" cy="2647950"/>
          </a:xfrm>
          <a:prstGeom xmlns:a="http://schemas.openxmlformats.org/drawingml/2006/main" prst="roundRect">
            <a:avLst>
              <a:gd name="adj" fmla="val 6202"/>
            </a:avLst>
          </a:prstGeom>
          <a:solidFill xmlns:a="http://schemas.openxmlformats.org/drawingml/2006/main">
            <a:srgbClr val="EAE0D1"/>
          </a:solidFill>
          <a:ln xmlns:a="http://schemas.openxmlformats.org/drawingml/2006/main" w="9525">
            <a:solidFill>
              <a:srgbClr val="DED0BC"/>
            </a:solidFill>
          </a:ln>
        </p:spPr>
      </p:sp>
      <p:sp>
        <p:nvSpPr>
          <p:cNvPr id="12" name="">
            <a:extLst xmlns:a="http://schemas.openxmlformats.org/drawingml/2006/main">
              <a:ext uri="{FF2B5EF4-FFF2-40B4-BE49-F238E27FC236}">
                <a16:creationId xmlns:a16="http://schemas.microsoft.com/office/drawing/2014/main" id="{F04E59E3-41FA-47EC-B406-C8211331C469}"/>
              </a:ext>
            </a:extLst>
          </p:cNvPr>
          <p:cNvSpPr>
            <a:spLocks xmlns:a="http://schemas.openxmlformats.org/drawingml/2006/main" noGrp="1"/>
          </p:cNvSpPr>
          <p:nvPr/>
        </p:nvSpPr>
        <p:spPr>
          <a:xfrm xmlns:a="http://schemas.openxmlformats.org/drawingml/2006/main">
            <a:off x="3619500" y="2562225"/>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88D500E4-1754-457A-B607-D6E911245C6F}"/>
              </a:ext>
            </a:extLst>
          </p:cNvPr>
          <p:cNvSpPr>
            <a:spLocks xmlns:a="http://schemas.openxmlformats.org/drawingml/2006/main" noGrp="1"/>
          </p:cNvSpPr>
          <p:nvPr/>
        </p:nvSpPr>
        <p:spPr>
          <a:xfrm xmlns:a="http://schemas.openxmlformats.org/drawingml/2006/main">
            <a:off x="3619500" y="3133725"/>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WHY DO CONTROLS MISS IT?</a:t>
            </a:r>
          </a:p>
        </p:txBody>
      </p:sp>
      <p:sp>
        <p:nvSpPr>
          <p:cNvPr id="14" name="">
            <a:extLst xmlns:a="http://schemas.openxmlformats.org/drawingml/2006/main">
              <a:ext uri="{FF2B5EF4-FFF2-40B4-BE49-F238E27FC236}">
                <a16:creationId xmlns:a16="http://schemas.microsoft.com/office/drawing/2014/main" id="{D9E3C2CE-A168-42AC-B942-95A56864D98D}"/>
              </a:ext>
            </a:extLst>
          </p:cNvPr>
          <p:cNvSpPr>
            <a:spLocks xmlns:a="http://schemas.openxmlformats.org/drawingml/2006/main" noGrp="1"/>
          </p:cNvSpPr>
          <p:nvPr/>
        </p:nvSpPr>
        <p:spPr>
          <a:xfrm xmlns:a="http://schemas.openxmlformats.org/drawingml/2006/main">
            <a:off x="3657600" y="3800475"/>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1350" b="0">
                <a:solidFill>
                  <a:srgbClr val="696B62"/>
                </a:solidFill>
                <a:latin typeface="Helvetica Neue"/>
                <a:ea typeface="Helvetica Neue"/>
                <a:cs typeface="Helvetica Neue"/>
              </a:defRPr>
            </a:pPr>
            <a:r>
              <a:rPr sz="1350" b="0">
                <a:solidFill>
                  <a:srgbClr val="696B62"/>
                </a:solidFill>
                <a:latin typeface="Helvetica Neue"/>
                <a:ea typeface="Helvetica Neue"/>
                <a:cs typeface="Helvetica Neue"/>
              </a:rPr>
              <a:t>See the evidence that backdoors, bad labels and natural shift remain difficult.</a:t>
            </a:r>
          </a:p>
        </p:txBody>
      </p:sp>
      <p:sp>
        <p:nvSpPr>
          <p:cNvPr id="15" name="">
            <a:extLst xmlns:a="http://schemas.openxmlformats.org/drawingml/2006/main">
              <a:ext uri="{FF2B5EF4-FFF2-40B4-BE49-F238E27FC236}">
                <a16:creationId xmlns:a16="http://schemas.microsoft.com/office/drawing/2014/main" id="{53E27F36-43E3-4C08-9D1B-1943357A9670}"/>
              </a:ext>
            </a:extLst>
          </p:cNvPr>
          <p:cNvSpPr>
            <a:spLocks xmlns:a="http://schemas.openxmlformats.org/drawingml/2006/main" noGrp="1"/>
          </p:cNvSpPr>
          <p:nvPr/>
        </p:nvSpPr>
        <p:spPr>
          <a:xfrm xmlns:a="http://schemas.openxmlformats.org/drawingml/2006/main">
            <a:off x="5915025" y="364807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6" name="">
            <a:extLst xmlns:a="http://schemas.openxmlformats.org/drawingml/2006/main">
              <a:ext uri="{FF2B5EF4-FFF2-40B4-BE49-F238E27FC236}">
                <a16:creationId xmlns:a16="http://schemas.microsoft.com/office/drawing/2014/main" id="{B2A7D249-8343-4194-BBD7-B31A298B866D}"/>
              </a:ext>
            </a:extLst>
          </p:cNvPr>
          <p:cNvSpPr>
            <a:spLocks xmlns:a="http://schemas.openxmlformats.org/drawingml/2006/main" noGrp="1"/>
          </p:cNvSpPr>
          <p:nvPr/>
        </p:nvSpPr>
        <p:spPr>
          <a:xfrm xmlns:a="http://schemas.openxmlformats.org/drawingml/2006/main">
            <a:off x="6134100" y="2362200"/>
            <a:ext cx="2457450" cy="2647950"/>
          </a:xfrm>
          <a:prstGeom xmlns:a="http://schemas.openxmlformats.org/drawingml/2006/main" prst="roundRect">
            <a:avLst>
              <a:gd name="adj" fmla="val 6202"/>
            </a:avLst>
          </a:prstGeom>
          <a:solidFill xmlns:a="http://schemas.openxmlformats.org/drawingml/2006/main">
            <a:srgbClr val="DCE7E6"/>
          </a:solidFill>
          <a:ln xmlns:a="http://schemas.openxmlformats.org/drawingml/2006/main" w="9525">
            <a:solidFill>
              <a:srgbClr val="DED0BC"/>
            </a:solidFill>
          </a:ln>
        </p:spPr>
      </p:sp>
      <p:sp>
        <p:nvSpPr>
          <p:cNvPr id="17" name="">
            <a:extLst xmlns:a="http://schemas.openxmlformats.org/drawingml/2006/main">
              <a:ext uri="{FF2B5EF4-FFF2-40B4-BE49-F238E27FC236}">
                <a16:creationId xmlns:a16="http://schemas.microsoft.com/office/drawing/2014/main" id="{5FD1BABF-8E5C-453C-9C15-E04DD16FBF39}"/>
              </a:ext>
            </a:extLst>
          </p:cNvPr>
          <p:cNvSpPr>
            <a:spLocks xmlns:a="http://schemas.openxmlformats.org/drawingml/2006/main" noGrp="1"/>
          </p:cNvSpPr>
          <p:nvPr/>
        </p:nvSpPr>
        <p:spPr>
          <a:xfrm xmlns:a="http://schemas.openxmlformats.org/drawingml/2006/main">
            <a:off x="6343650" y="2562225"/>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03</a:t>
            </a:r>
          </a:p>
        </p:txBody>
      </p:sp>
      <p:sp>
        <p:nvSpPr>
          <p:cNvPr id="18" name="">
            <a:extLst xmlns:a="http://schemas.openxmlformats.org/drawingml/2006/main">
              <a:ext uri="{FF2B5EF4-FFF2-40B4-BE49-F238E27FC236}">
                <a16:creationId xmlns:a16="http://schemas.microsoft.com/office/drawing/2014/main" id="{851C0186-99D6-4637-A5BE-902D44532010}"/>
              </a:ext>
            </a:extLst>
          </p:cNvPr>
          <p:cNvSpPr>
            <a:spLocks xmlns:a="http://schemas.openxmlformats.org/drawingml/2006/main" noGrp="1"/>
          </p:cNvSpPr>
          <p:nvPr/>
        </p:nvSpPr>
        <p:spPr>
          <a:xfrm xmlns:a="http://schemas.openxmlformats.org/drawingml/2006/main">
            <a:off x="6343650" y="3133725"/>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HOW DOES PRAMAANCV HELP?</a:t>
            </a:r>
          </a:p>
        </p:txBody>
      </p:sp>
      <p:sp>
        <p:nvSpPr>
          <p:cNvPr id="19" name="">
            <a:extLst xmlns:a="http://schemas.openxmlformats.org/drawingml/2006/main">
              <a:ext uri="{FF2B5EF4-FFF2-40B4-BE49-F238E27FC236}">
                <a16:creationId xmlns:a16="http://schemas.microsoft.com/office/drawing/2014/main" id="{0CC1655C-77C8-402C-B2D7-2505ADA9CC6E}"/>
              </a:ext>
            </a:extLst>
          </p:cNvPr>
          <p:cNvSpPr>
            <a:spLocks xmlns:a="http://schemas.openxmlformats.org/drawingml/2006/main" noGrp="1"/>
          </p:cNvSpPr>
          <p:nvPr/>
        </p:nvSpPr>
        <p:spPr>
          <a:xfrm xmlns:a="http://schemas.openxmlformats.org/drawingml/2006/main">
            <a:off x="6381750" y="3800475"/>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56"/>
          </a:bodyPr>
          <a:lstStyle xmlns:a="http://schemas.openxmlformats.org/drawingml/2006/main"/>
          <a:p xmlns:a="http://schemas.openxmlformats.org/drawingml/2006/main">
            <a:pPr>
              <a:defRPr sz="1350" b="0">
                <a:solidFill>
                  <a:srgbClr val="696B62"/>
                </a:solidFill>
                <a:latin typeface="Helvetica Neue"/>
                <a:ea typeface="Helvetica Neue"/>
                <a:cs typeface="Helvetica Neue"/>
              </a:defRPr>
            </a:pPr>
            <a:r>
              <a:rPr sz="1350" b="0">
                <a:solidFill>
                  <a:srgbClr val="696B62"/>
                </a:solidFill>
                <a:latin typeface="Helvetica Neue"/>
                <a:ea typeface="Helvetica Neue"/>
                <a:cs typeface="Helvetica Neue"/>
              </a:rPr>
              <a:t>Connect data clues, model behaviour and protected inference in one assurance case.</a:t>
            </a:r>
          </a:p>
        </p:txBody>
      </p:sp>
      <p:sp>
        <p:nvSpPr>
          <p:cNvPr id="20" name="">
            <a:extLst xmlns:a="http://schemas.openxmlformats.org/drawingml/2006/main">
              <a:ext uri="{FF2B5EF4-FFF2-40B4-BE49-F238E27FC236}">
                <a16:creationId xmlns:a16="http://schemas.microsoft.com/office/drawing/2014/main" id="{1D3CAECB-5BBB-4DBB-A8A9-CF3DFB513772}"/>
              </a:ext>
            </a:extLst>
          </p:cNvPr>
          <p:cNvSpPr>
            <a:spLocks xmlns:a="http://schemas.openxmlformats.org/drawingml/2006/main" noGrp="1"/>
          </p:cNvSpPr>
          <p:nvPr/>
        </p:nvSpPr>
        <p:spPr>
          <a:xfrm xmlns:a="http://schemas.openxmlformats.org/drawingml/2006/main">
            <a:off x="8639175" y="364807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21" name="">
            <a:extLst xmlns:a="http://schemas.openxmlformats.org/drawingml/2006/main">
              <a:ext uri="{FF2B5EF4-FFF2-40B4-BE49-F238E27FC236}">
                <a16:creationId xmlns:a16="http://schemas.microsoft.com/office/drawing/2014/main" id="{6356C5FC-DB8F-4042-8ABC-D9DE58C91DEB}"/>
              </a:ext>
            </a:extLst>
          </p:cNvPr>
          <p:cNvSpPr>
            <a:spLocks xmlns:a="http://schemas.openxmlformats.org/drawingml/2006/main" noGrp="1"/>
          </p:cNvSpPr>
          <p:nvPr/>
        </p:nvSpPr>
        <p:spPr>
          <a:xfrm xmlns:a="http://schemas.openxmlformats.org/drawingml/2006/main">
            <a:off x="8858250" y="2362200"/>
            <a:ext cx="2457450" cy="2647950"/>
          </a:xfrm>
          <a:prstGeom xmlns:a="http://schemas.openxmlformats.org/drawingml/2006/main" prst="roundRect">
            <a:avLst>
              <a:gd name="adj" fmla="val 6202"/>
            </a:avLst>
          </a:prstGeom>
          <a:solidFill xmlns:a="http://schemas.openxmlformats.org/drawingml/2006/main">
            <a:srgbClr val="DDE6D8"/>
          </a:solidFill>
          <a:ln xmlns:a="http://schemas.openxmlformats.org/drawingml/2006/main" w="9525">
            <a:solidFill>
              <a:srgbClr val="DED0BC"/>
            </a:solidFill>
          </a:ln>
        </p:spPr>
      </p:sp>
      <p:sp>
        <p:nvSpPr>
          <p:cNvPr id="22" name="">
            <a:extLst xmlns:a="http://schemas.openxmlformats.org/drawingml/2006/main">
              <a:ext uri="{FF2B5EF4-FFF2-40B4-BE49-F238E27FC236}">
                <a16:creationId xmlns:a16="http://schemas.microsoft.com/office/drawing/2014/main" id="{FA9DFA69-D479-4556-9E6C-258FE3E7DE53}"/>
              </a:ext>
            </a:extLst>
          </p:cNvPr>
          <p:cNvSpPr>
            <a:spLocks xmlns:a="http://schemas.openxmlformats.org/drawingml/2006/main" noGrp="1"/>
          </p:cNvSpPr>
          <p:nvPr/>
        </p:nvSpPr>
        <p:spPr>
          <a:xfrm xmlns:a="http://schemas.openxmlformats.org/drawingml/2006/main">
            <a:off x="9067800" y="2562225"/>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04</a:t>
            </a:r>
          </a:p>
        </p:txBody>
      </p:sp>
      <p:sp>
        <p:nvSpPr>
          <p:cNvPr id="23" name="">
            <a:extLst xmlns:a="http://schemas.openxmlformats.org/drawingml/2006/main">
              <a:ext uri="{FF2B5EF4-FFF2-40B4-BE49-F238E27FC236}">
                <a16:creationId xmlns:a16="http://schemas.microsoft.com/office/drawing/2014/main" id="{EF510EA1-0AC2-4927-8BEA-A1ADDB9FB655}"/>
              </a:ext>
            </a:extLst>
          </p:cNvPr>
          <p:cNvSpPr>
            <a:spLocks xmlns:a="http://schemas.openxmlformats.org/drawingml/2006/main" noGrp="1"/>
          </p:cNvSpPr>
          <p:nvPr/>
        </p:nvSpPr>
        <p:spPr>
          <a:xfrm xmlns:a="http://schemas.openxmlformats.org/drawingml/2006/main">
            <a:off x="9067800" y="3133725"/>
            <a:ext cx="2038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CAN WE PROVE IT?</a:t>
            </a:r>
          </a:p>
        </p:txBody>
      </p:sp>
      <p:sp>
        <p:nvSpPr>
          <p:cNvPr id="24" name="">
            <a:extLst xmlns:a="http://schemas.openxmlformats.org/drawingml/2006/main">
              <a:ext uri="{FF2B5EF4-FFF2-40B4-BE49-F238E27FC236}">
                <a16:creationId xmlns:a16="http://schemas.microsoft.com/office/drawing/2014/main" id="{5B1313BC-AD89-4D3E-8486-EC523CFFE0D1}"/>
              </a:ext>
            </a:extLst>
          </p:cNvPr>
          <p:cNvSpPr>
            <a:spLocks xmlns:a="http://schemas.openxmlformats.org/drawingml/2006/main" noGrp="1"/>
          </p:cNvSpPr>
          <p:nvPr/>
        </p:nvSpPr>
        <p:spPr>
          <a:xfrm xmlns:a="http://schemas.openxmlformats.org/drawingml/2006/main">
            <a:off x="9105900" y="3800475"/>
            <a:ext cx="1962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497"/>
          </a:bodyPr>
          <a:lstStyle xmlns:a="http://schemas.openxmlformats.org/drawingml/2006/main"/>
          <a:p xmlns:a="http://schemas.openxmlformats.org/drawingml/2006/main">
            <a:pPr>
              <a:defRPr sz="1350" b="0">
                <a:solidFill>
                  <a:srgbClr val="696B62"/>
                </a:solidFill>
                <a:latin typeface="Helvetica Neue"/>
                <a:ea typeface="Helvetica Neue"/>
                <a:cs typeface="Helvetica Neue"/>
              </a:defRPr>
            </a:pPr>
            <a:r>
              <a:rPr sz="1350" b="0">
                <a:solidFill>
                  <a:srgbClr val="696B62"/>
                </a:solidFill>
                <a:latin typeface="Helvetica Neue"/>
                <a:ea typeface="Helvetica Neue"/>
                <a:cs typeface="Helvetica Neue"/>
              </a:rPr>
              <a:t>Run the offline prototype and measure every claim on public benchmarks.</a:t>
            </a:r>
          </a:p>
        </p:txBody>
      </p:sp>
      <p:sp>
        <p:nvSpPr>
          <p:cNvPr id="25" name="">
            <a:extLst xmlns:a="http://schemas.openxmlformats.org/drawingml/2006/main">
              <a:ext uri="{FF2B5EF4-FFF2-40B4-BE49-F238E27FC236}">
                <a16:creationId xmlns:a16="http://schemas.microsoft.com/office/drawing/2014/main" id="{F8C54BA6-5C3B-4119-9BEB-8ED8357F205E}"/>
              </a:ext>
            </a:extLst>
          </p:cNvPr>
          <p:cNvSpPr>
            <a:spLocks xmlns:a="http://schemas.openxmlformats.org/drawingml/2006/main" noGrp="1"/>
          </p:cNvSpPr>
          <p:nvPr/>
        </p:nvSpPr>
        <p:spPr>
          <a:xfrm xmlns:a="http://schemas.openxmlformats.org/drawingml/2006/main">
            <a:off x="685800" y="55626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5B6546"/>
                </a:solidFill>
                <a:latin typeface="Helvetica Neue"/>
                <a:ea typeface="Helvetica Neue"/>
                <a:cs typeface="Helvetica Neue"/>
              </a:defRPr>
            </a:pPr>
            <a:r>
              <a:rPr sz="1650" b="1">
                <a:solidFill>
                  <a:srgbClr val="5B6546"/>
                </a:solidFill>
                <a:latin typeface="Helvetica Neue"/>
                <a:ea typeface="Helvetica Neue"/>
                <a:cs typeface="Helvetica Neue"/>
              </a:rPr>
              <a:t>We will finish with the exact 90-second demo the jury can challenge.</a:t>
            </a:r>
          </a:p>
        </p:txBody>
      </p:sp>
      <p:sp>
        <p:nvSpPr>
          <p:cNvPr id="26" name="">
            <a:extLst xmlns:a="http://schemas.openxmlformats.org/drawingml/2006/main">
              <a:ext uri="{FF2B5EF4-FFF2-40B4-BE49-F238E27FC236}">
                <a16:creationId xmlns:a16="http://schemas.microsoft.com/office/drawing/2014/main" id="{A5CBCB83-E6ED-4F4A-BC19-4783557FC9B0}"/>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2121581260"/>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D706D05-9875-466B-A78D-50FE1568B801}"/>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WHY THIS MATTERS NOW</a:t>
            </a:r>
          </a:p>
        </p:txBody>
      </p:sp>
      <p:sp>
        <p:nvSpPr>
          <p:cNvPr id="2" name="">
            <a:extLst xmlns:a="http://schemas.openxmlformats.org/drawingml/2006/main">
              <a:ext uri="{FF2B5EF4-FFF2-40B4-BE49-F238E27FC236}">
                <a16:creationId xmlns:a16="http://schemas.microsoft.com/office/drawing/2014/main" id="{EDF0332C-38D2-45DA-9FE1-56FB04918122}"/>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62A2AE63-A7E2-4711-A628-564BBF69E297}"/>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34DA47D8-0D9D-4525-B702-4AA959391728}"/>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57"/>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The problem survives scale, strong detectors and clean benchmarks</a:t>
            </a:r>
          </a:p>
        </p:txBody>
      </p:sp>
      <p:sp>
        <p:nvSpPr>
          <p:cNvPr id="5" name="">
            <a:extLst xmlns:a="http://schemas.openxmlformats.org/drawingml/2006/main">
              <a:ext uri="{FF2B5EF4-FFF2-40B4-BE49-F238E27FC236}">
                <a16:creationId xmlns:a16="http://schemas.microsoft.com/office/drawing/2014/main" id="{3C10EE60-EABE-47A3-B460-DDDE9F7C3547}"/>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These figures explain why assurance needs more than another anomaly score.</a:t>
            </a:r>
          </a:p>
        </p:txBody>
      </p:sp>
      <p:sp>
        <p:nvSpPr>
          <p:cNvPr id="6" name="">
            <a:extLst xmlns:a="http://schemas.openxmlformats.org/drawingml/2006/main">
              <a:ext uri="{FF2B5EF4-FFF2-40B4-BE49-F238E27FC236}">
                <a16:creationId xmlns:a16="http://schemas.microsoft.com/office/drawing/2014/main" id="{37BAC8C2-3037-4B5E-A8C6-859D7EF9E6C5}"/>
              </a:ext>
            </a:extLst>
          </p:cNvPr>
          <p:cNvSpPr>
            <a:spLocks xmlns:a="http://schemas.openxmlformats.org/drawingml/2006/main" noGrp="1"/>
          </p:cNvSpPr>
          <p:nvPr/>
        </p:nvSpPr>
        <p:spPr>
          <a:xfrm xmlns:a="http://schemas.openxmlformats.org/drawingml/2006/main">
            <a:off x="685800" y="2047875"/>
            <a:ext cx="3333750" cy="2781300"/>
          </a:xfrm>
          <a:prstGeom xmlns:a="http://schemas.openxmlformats.org/drawingml/2006/main" prst="roundRect">
            <a:avLst>
              <a:gd name="adj" fmla="val 5479"/>
            </a:avLst>
          </a:prstGeom>
          <a:solidFill xmlns:a="http://schemas.openxmlformats.org/drawingml/2006/main">
            <a:srgbClr val="1F2724"/>
          </a:solidFill>
          <a:ln xmlns:a="http://schemas.openxmlformats.org/drawingml/2006/main" w="9525">
            <a:solidFill>
              <a:srgbClr val="1F2724"/>
            </a:solidFill>
          </a:ln>
        </p:spPr>
      </p:sp>
      <p:sp>
        <p:nvSpPr>
          <p:cNvPr id="7" name="">
            <a:extLst xmlns:a="http://schemas.openxmlformats.org/drawingml/2006/main">
              <a:ext uri="{FF2B5EF4-FFF2-40B4-BE49-F238E27FC236}">
                <a16:creationId xmlns:a16="http://schemas.microsoft.com/office/drawing/2014/main" id="{5AAED2DB-C390-4937-B29C-560F2E878707}"/>
              </a:ext>
            </a:extLst>
          </p:cNvPr>
          <p:cNvSpPr>
            <a:spLocks xmlns:a="http://schemas.openxmlformats.org/drawingml/2006/main" noGrp="1"/>
          </p:cNvSpPr>
          <p:nvPr/>
        </p:nvSpPr>
        <p:spPr>
          <a:xfrm xmlns:a="http://schemas.openxmlformats.org/drawingml/2006/main">
            <a:off x="933450" y="2324100"/>
            <a:ext cx="2838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FFFCF6"/>
                </a:solidFill>
                <a:latin typeface="Helvetica Neue"/>
                <a:ea typeface="Helvetica Neue"/>
                <a:cs typeface="Helvetica Neue"/>
              </a:defRPr>
            </a:pPr>
            <a:r>
              <a:rPr sz="3300" b="1">
                <a:solidFill>
                  <a:srgbClr val="FFFCF6"/>
                </a:solidFill>
                <a:latin typeface="Helvetica Neue"/>
                <a:ea typeface="Helvetica Neue"/>
                <a:cs typeface="Helvetica Neue"/>
              </a:rPr>
              <a:t>14,000+</a:t>
            </a:r>
          </a:p>
        </p:txBody>
      </p:sp>
      <p:sp>
        <p:nvSpPr>
          <p:cNvPr id="8" name="">
            <a:extLst xmlns:a="http://schemas.openxmlformats.org/drawingml/2006/main">
              <a:ext uri="{FF2B5EF4-FFF2-40B4-BE49-F238E27FC236}">
                <a16:creationId xmlns:a16="http://schemas.microsoft.com/office/drawing/2014/main" id="{4EF75E0F-16A0-43C4-832C-12DCE61DB80F}"/>
              </a:ext>
            </a:extLst>
          </p:cNvPr>
          <p:cNvSpPr>
            <a:spLocks xmlns:a="http://schemas.openxmlformats.org/drawingml/2006/main" noGrp="1"/>
          </p:cNvSpPr>
          <p:nvPr/>
        </p:nvSpPr>
        <p:spPr>
          <a:xfrm xmlns:a="http://schemas.openxmlformats.org/drawingml/2006/main">
            <a:off x="952500" y="3143250"/>
            <a:ext cx="28003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D5D9D1"/>
                </a:solidFill>
                <a:latin typeface="Helvetica Neue"/>
                <a:ea typeface="Helvetica Neue"/>
                <a:cs typeface="Helvetica Neue"/>
              </a:defRPr>
            </a:pPr>
            <a:r>
              <a:rPr sz="1425" b="1">
                <a:solidFill>
                  <a:srgbClr val="D5D9D1"/>
                </a:solidFill>
                <a:latin typeface="Helvetica Neue"/>
                <a:ea typeface="Helvetica Neue"/>
                <a:cs typeface="Helvetica Neue"/>
              </a:rPr>
              <a:t>AI models released by NIST for the public to study Trojan detection</a:t>
            </a:r>
          </a:p>
        </p:txBody>
      </p:sp>
      <p:sp>
        <p:nvSpPr>
          <p:cNvPr id="9" name="">
            <a:extLst xmlns:a="http://schemas.openxmlformats.org/drawingml/2006/main">
              <a:ext uri="{FF2B5EF4-FFF2-40B4-BE49-F238E27FC236}">
                <a16:creationId xmlns:a16="http://schemas.microsoft.com/office/drawing/2014/main" id="{BBB11971-B160-406D-B6E5-9F7C9C144E9C}"/>
              </a:ext>
            </a:extLst>
          </p:cNvPr>
          <p:cNvSpPr>
            <a:spLocks xmlns:a="http://schemas.openxmlformats.org/drawingml/2006/main" noGrp="1"/>
          </p:cNvSpPr>
          <p:nvPr/>
        </p:nvSpPr>
        <p:spPr>
          <a:xfrm xmlns:a="http://schemas.openxmlformats.org/drawingml/2006/main">
            <a:off x="952500" y="43529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B66045"/>
                </a:solidFill>
                <a:latin typeface="Helvetica Neue"/>
                <a:ea typeface="Helvetica Neue"/>
                <a:cs typeface="Helvetica Neue"/>
              </a:defRPr>
            </a:pPr>
            <a:r>
              <a:rPr sz="900" b="1">
                <a:solidFill>
                  <a:srgbClr val="B66045"/>
                </a:solidFill>
                <a:latin typeface="Helvetica Neue"/>
                <a:ea typeface="Helvetica Neue"/>
                <a:cs typeface="Helvetica Neue"/>
              </a:rPr>
              <a:t>NIST, UPDATED 2025</a:t>
            </a:r>
          </a:p>
        </p:txBody>
      </p:sp>
      <p:sp>
        <p:nvSpPr>
          <p:cNvPr id="10" name="">
            <a:extLst xmlns:a="http://schemas.openxmlformats.org/drawingml/2006/main">
              <a:ext uri="{FF2B5EF4-FFF2-40B4-BE49-F238E27FC236}">
                <a16:creationId xmlns:a16="http://schemas.microsoft.com/office/drawing/2014/main" id="{BEF596C9-C8C4-4005-8402-0C5E6E69D55D}"/>
              </a:ext>
            </a:extLst>
          </p:cNvPr>
          <p:cNvSpPr>
            <a:spLocks xmlns:a="http://schemas.openxmlformats.org/drawingml/2006/main" noGrp="1"/>
          </p:cNvSpPr>
          <p:nvPr/>
        </p:nvSpPr>
        <p:spPr>
          <a:xfrm xmlns:a="http://schemas.openxmlformats.org/drawingml/2006/main">
            <a:off x="4305300" y="2047875"/>
            <a:ext cx="3333750" cy="2781300"/>
          </a:xfrm>
          <a:prstGeom xmlns:a="http://schemas.openxmlformats.org/drawingml/2006/main" prst="roundRect">
            <a:avLst>
              <a:gd name="adj" fmla="val 5479"/>
            </a:avLst>
          </a:prstGeom>
          <a:solidFill xmlns:a="http://schemas.openxmlformats.org/drawingml/2006/main">
            <a:srgbClr val="F3DDD5"/>
          </a:solidFill>
          <a:ln xmlns:a="http://schemas.openxmlformats.org/drawingml/2006/main" w="9525">
            <a:solidFill>
              <a:srgbClr val="DED0BC"/>
            </a:solidFill>
          </a:ln>
        </p:spPr>
      </p:sp>
      <p:sp>
        <p:nvSpPr>
          <p:cNvPr id="11" name="">
            <a:extLst xmlns:a="http://schemas.openxmlformats.org/drawingml/2006/main">
              <a:ext uri="{FF2B5EF4-FFF2-40B4-BE49-F238E27FC236}">
                <a16:creationId xmlns:a16="http://schemas.microsoft.com/office/drawing/2014/main" id="{97C65159-75D1-4EE4-8E07-68E0EF2E2F55}"/>
              </a:ext>
            </a:extLst>
          </p:cNvPr>
          <p:cNvSpPr>
            <a:spLocks xmlns:a="http://schemas.openxmlformats.org/drawingml/2006/main" noGrp="1"/>
          </p:cNvSpPr>
          <p:nvPr/>
        </p:nvSpPr>
        <p:spPr>
          <a:xfrm xmlns:a="http://schemas.openxmlformats.org/drawingml/2006/main">
            <a:off x="4552950" y="2324100"/>
            <a:ext cx="2838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C74634"/>
                </a:solidFill>
                <a:latin typeface="Helvetica Neue"/>
                <a:ea typeface="Helvetica Neue"/>
                <a:cs typeface="Helvetica Neue"/>
              </a:defRPr>
            </a:pPr>
            <a:r>
              <a:rPr sz="3300" b="1">
                <a:solidFill>
                  <a:srgbClr val="C74634"/>
                </a:solidFill>
                <a:latin typeface="Helvetica Neue"/>
                <a:ea typeface="Helvetica Neue"/>
                <a:cs typeface="Helvetica Neue"/>
              </a:rPr>
              <a:t>1 TEAM</a:t>
            </a:r>
          </a:p>
        </p:txBody>
      </p:sp>
      <p:sp>
        <p:nvSpPr>
          <p:cNvPr id="12" name="">
            <a:extLst xmlns:a="http://schemas.openxmlformats.org/drawingml/2006/main">
              <a:ext uri="{FF2B5EF4-FFF2-40B4-BE49-F238E27FC236}">
                <a16:creationId xmlns:a16="http://schemas.microsoft.com/office/drawing/2014/main" id="{9F676765-C1CD-485A-BB81-F095042D6E03}"/>
              </a:ext>
            </a:extLst>
          </p:cNvPr>
          <p:cNvSpPr>
            <a:spLocks xmlns:a="http://schemas.openxmlformats.org/drawingml/2006/main" noGrp="1"/>
          </p:cNvSpPr>
          <p:nvPr/>
        </p:nvSpPr>
        <p:spPr>
          <a:xfrm xmlns:a="http://schemas.openxmlformats.org/drawingml/2006/main">
            <a:off x="4572000" y="3143250"/>
            <a:ext cx="28003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92A26"/>
                </a:solidFill>
                <a:latin typeface="Helvetica Neue"/>
                <a:ea typeface="Helvetica Neue"/>
                <a:cs typeface="Helvetica Neue"/>
              </a:defRPr>
            </a:pPr>
            <a:r>
              <a:rPr sz="1425" b="1">
                <a:solidFill>
                  <a:srgbClr val="292A26"/>
                </a:solidFill>
                <a:latin typeface="Helvetica Neue"/>
                <a:ea typeface="Helvetica Neue"/>
                <a:cs typeface="Helvetica Neue"/>
              </a:rPr>
              <a:t>met the Round 13 detection threshold; its 10 detectors averaged 0.898 ROC-AUC</a:t>
            </a:r>
          </a:p>
        </p:txBody>
      </p:sp>
      <p:sp>
        <p:nvSpPr>
          <p:cNvPr id="13" name="">
            <a:extLst xmlns:a="http://schemas.openxmlformats.org/drawingml/2006/main">
              <a:ext uri="{FF2B5EF4-FFF2-40B4-BE49-F238E27FC236}">
                <a16:creationId xmlns:a16="http://schemas.microsoft.com/office/drawing/2014/main" id="{3AE2059E-CD3D-4B5C-BC46-E1BEE8D518DB}"/>
              </a:ext>
            </a:extLst>
          </p:cNvPr>
          <p:cNvSpPr>
            <a:spLocks xmlns:a="http://schemas.openxmlformats.org/drawingml/2006/main" noGrp="1"/>
          </p:cNvSpPr>
          <p:nvPr/>
        </p:nvSpPr>
        <p:spPr>
          <a:xfrm xmlns:a="http://schemas.openxmlformats.org/drawingml/2006/main">
            <a:off x="4572000" y="43529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IARPA TROJAI FINAL REPORT</a:t>
            </a:r>
          </a:p>
        </p:txBody>
      </p:sp>
      <p:sp>
        <p:nvSpPr>
          <p:cNvPr id="14" name="">
            <a:extLst xmlns:a="http://schemas.openxmlformats.org/drawingml/2006/main">
              <a:ext uri="{FF2B5EF4-FFF2-40B4-BE49-F238E27FC236}">
                <a16:creationId xmlns:a16="http://schemas.microsoft.com/office/drawing/2014/main" id="{CDBD049A-F495-4826-9682-CAE8B5685E14}"/>
              </a:ext>
            </a:extLst>
          </p:cNvPr>
          <p:cNvSpPr>
            <a:spLocks xmlns:a="http://schemas.openxmlformats.org/drawingml/2006/main" noGrp="1"/>
          </p:cNvSpPr>
          <p:nvPr/>
        </p:nvSpPr>
        <p:spPr>
          <a:xfrm xmlns:a="http://schemas.openxmlformats.org/drawingml/2006/main">
            <a:off x="7924800" y="2047875"/>
            <a:ext cx="3333750" cy="2781300"/>
          </a:xfrm>
          <a:prstGeom xmlns:a="http://schemas.openxmlformats.org/drawingml/2006/main" prst="roundRect">
            <a:avLst>
              <a:gd name="adj" fmla="val 5479"/>
            </a:avLst>
          </a:prstGeom>
          <a:solidFill xmlns:a="http://schemas.openxmlformats.org/drawingml/2006/main">
            <a:srgbClr val="DCE7E6"/>
          </a:solidFill>
          <a:ln xmlns:a="http://schemas.openxmlformats.org/drawingml/2006/main" w="9525">
            <a:solidFill>
              <a:srgbClr val="DED0BC"/>
            </a:solidFill>
          </a:ln>
        </p:spPr>
      </p:sp>
      <p:sp>
        <p:nvSpPr>
          <p:cNvPr id="15" name="">
            <a:extLst xmlns:a="http://schemas.openxmlformats.org/drawingml/2006/main">
              <a:ext uri="{FF2B5EF4-FFF2-40B4-BE49-F238E27FC236}">
                <a16:creationId xmlns:a16="http://schemas.microsoft.com/office/drawing/2014/main" id="{ED631705-6913-46B8-9047-EA55367598FB}"/>
              </a:ext>
            </a:extLst>
          </p:cNvPr>
          <p:cNvSpPr>
            <a:spLocks xmlns:a="http://schemas.openxmlformats.org/drawingml/2006/main" noGrp="1"/>
          </p:cNvSpPr>
          <p:nvPr/>
        </p:nvSpPr>
        <p:spPr>
          <a:xfrm xmlns:a="http://schemas.openxmlformats.org/drawingml/2006/main">
            <a:off x="8172450" y="2324100"/>
            <a:ext cx="2838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300" b="1">
                <a:solidFill>
                  <a:srgbClr val="3D6C70"/>
                </a:solidFill>
                <a:latin typeface="Helvetica Neue"/>
                <a:ea typeface="Helvetica Neue"/>
                <a:cs typeface="Helvetica Neue"/>
              </a:defRPr>
            </a:pPr>
            <a:r>
              <a:rPr sz="3300" b="1">
                <a:solidFill>
                  <a:srgbClr val="3D6C70"/>
                </a:solidFill>
                <a:latin typeface="Helvetica Neue"/>
                <a:ea typeface="Helvetica Neue"/>
                <a:cs typeface="Helvetica Neue"/>
              </a:rPr>
              <a:t>55.7%</a:t>
            </a:r>
          </a:p>
        </p:txBody>
      </p:sp>
      <p:sp>
        <p:nvSpPr>
          <p:cNvPr id="16" name="">
            <a:extLst xmlns:a="http://schemas.openxmlformats.org/drawingml/2006/main">
              <a:ext uri="{FF2B5EF4-FFF2-40B4-BE49-F238E27FC236}">
                <a16:creationId xmlns:a16="http://schemas.microsoft.com/office/drawing/2014/main" id="{725DCE56-CA2E-4DAD-8B42-48F6BCD705D6}"/>
              </a:ext>
            </a:extLst>
          </p:cNvPr>
          <p:cNvSpPr>
            <a:spLocks xmlns:a="http://schemas.openxmlformats.org/drawingml/2006/main" noGrp="1"/>
          </p:cNvSpPr>
          <p:nvPr/>
        </p:nvSpPr>
        <p:spPr>
          <a:xfrm xmlns:a="http://schemas.openxmlformats.org/drawingml/2006/main">
            <a:off x="8191500" y="3143250"/>
            <a:ext cx="28003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92A26"/>
                </a:solidFill>
                <a:latin typeface="Helvetica Neue"/>
                <a:ea typeface="Helvetica Neue"/>
                <a:cs typeface="Helvetica Neue"/>
              </a:defRPr>
            </a:pPr>
            <a:r>
              <a:rPr sz="1425" b="1">
                <a:solidFill>
                  <a:srgbClr val="292A26"/>
                </a:solidFill>
                <a:latin typeface="Helvetica Neue"/>
                <a:ea typeface="Helvetica Neue"/>
                <a:cs typeface="Helvetica Neue"/>
              </a:rPr>
              <a:t>relative Faster R-CNN performance drop on COCO-O under natural distribution shifts</a:t>
            </a:r>
          </a:p>
        </p:txBody>
      </p:sp>
      <p:sp>
        <p:nvSpPr>
          <p:cNvPr id="17" name="">
            <a:extLst xmlns:a="http://schemas.openxmlformats.org/drawingml/2006/main">
              <a:ext uri="{FF2B5EF4-FFF2-40B4-BE49-F238E27FC236}">
                <a16:creationId xmlns:a16="http://schemas.microsoft.com/office/drawing/2014/main" id="{BF60B2F3-245A-45BC-AE22-D6EFAAC7770A}"/>
              </a:ext>
            </a:extLst>
          </p:cNvPr>
          <p:cNvSpPr>
            <a:spLocks xmlns:a="http://schemas.openxmlformats.org/drawingml/2006/main" noGrp="1"/>
          </p:cNvSpPr>
          <p:nvPr/>
        </p:nvSpPr>
        <p:spPr>
          <a:xfrm xmlns:a="http://schemas.openxmlformats.org/drawingml/2006/main">
            <a:off x="8191500" y="43529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ICCV 2023</a:t>
            </a:r>
          </a:p>
        </p:txBody>
      </p:sp>
      <p:sp>
        <p:nvSpPr>
          <p:cNvPr id="18" name="">
            <a:extLst xmlns:a="http://schemas.openxmlformats.org/drawingml/2006/main">
              <a:ext uri="{FF2B5EF4-FFF2-40B4-BE49-F238E27FC236}">
                <a16:creationId xmlns:a16="http://schemas.microsoft.com/office/drawing/2014/main" id="{4B22809D-196E-48CE-A085-E53F48A55CA4}"/>
              </a:ext>
            </a:extLst>
          </p:cNvPr>
          <p:cNvSpPr>
            <a:spLocks xmlns:a="http://schemas.openxmlformats.org/drawingml/2006/main" noGrp="1"/>
          </p:cNvSpPr>
          <p:nvPr/>
        </p:nvSpPr>
        <p:spPr>
          <a:xfrm xmlns:a="http://schemas.openxmlformats.org/drawingml/2006/main">
            <a:off x="685800" y="5219700"/>
            <a:ext cx="10820400" cy="685800"/>
          </a:xfrm>
          <a:prstGeom xmlns:a="http://schemas.openxmlformats.org/drawingml/2006/main" prst="roundRect">
            <a:avLst>
              <a:gd name="adj" fmla="val 16667"/>
            </a:avLst>
          </a:prstGeom>
          <a:solidFill xmlns:a="http://schemas.openxmlformats.org/drawingml/2006/main">
            <a:srgbClr val="1F272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2B867A-CF1D-4189-88E2-FFB8832898F2}"/>
              </a:ext>
            </a:extLst>
          </p:cNvPr>
          <p:cNvSpPr>
            <a:spLocks xmlns:a="http://schemas.openxmlformats.org/drawingml/2006/main" noGrp="1"/>
          </p:cNvSpPr>
          <p:nvPr/>
        </p:nvSpPr>
        <p:spPr>
          <a:xfrm xmlns:a="http://schemas.openxmlformats.org/drawingml/2006/main">
            <a:off x="914400" y="5353050"/>
            <a:ext cx="1036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7"/>
          </a:bodyPr>
          <a:lstStyle xmlns:a="http://schemas.openxmlformats.org/drawingml/2006/main"/>
          <a:p xmlns:a="http://schemas.openxmlformats.org/drawingml/2006/main">
            <a:pPr>
              <a:defRPr sz="1350" b="1">
                <a:solidFill>
                  <a:srgbClr val="FFFCF6"/>
                </a:solidFill>
                <a:latin typeface="Helvetica Neue"/>
                <a:ea typeface="Helvetica Neue"/>
                <a:cs typeface="Helvetica Neue"/>
              </a:defRPr>
            </a:pPr>
            <a:r>
              <a:rPr sz="1350" b="1">
                <a:solidFill>
                  <a:srgbClr val="FFFCF6"/>
                </a:solidFill>
                <a:latin typeface="Helvetica Neue"/>
                <a:ea typeface="Helvetica Neue"/>
                <a:cs typeface="Helvetica Neue"/>
              </a:rPr>
              <a:t>Research result: universal adversary-unaware backdoor detection is impossible. The detector must declare its threat model and limits.</a:t>
            </a:r>
          </a:p>
        </p:txBody>
      </p:sp>
      <p:sp>
        <p:nvSpPr>
          <p:cNvPr id="20" name="">
            <a:extLst xmlns:a="http://schemas.openxmlformats.org/drawingml/2006/main">
              <a:ext uri="{FF2B5EF4-FFF2-40B4-BE49-F238E27FC236}">
                <a16:creationId xmlns:a16="http://schemas.microsoft.com/office/drawing/2014/main" id="{3B6006C8-D91A-4AAE-97FF-9AF832812C11}"/>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602803161"/>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096583-3629-473E-A95C-906B4656CE87}"/>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HIDDEN FAILURE</a:t>
            </a:r>
          </a:p>
        </p:txBody>
      </p:sp>
      <p:sp>
        <p:nvSpPr>
          <p:cNvPr id="2" name="">
            <a:extLst xmlns:a="http://schemas.openxmlformats.org/drawingml/2006/main">
              <a:ext uri="{FF2B5EF4-FFF2-40B4-BE49-F238E27FC236}">
                <a16:creationId xmlns:a16="http://schemas.microsoft.com/office/drawing/2014/main" id="{231D1E98-A4EB-4AC4-9384-499D8AAFFD16}"/>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B84A3B25-A242-4F03-B4F4-CC920A7F4296}"/>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48AAF5B0-78A3-40BA-835C-8D8D93B8F589}"/>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A clean accuracy score can hide a broken chain of trust</a:t>
            </a:r>
          </a:p>
        </p:txBody>
      </p:sp>
      <p:sp>
        <p:nvSpPr>
          <p:cNvPr id="5" name="">
            <a:extLst xmlns:a="http://schemas.openxmlformats.org/drawingml/2006/main">
              <a:ext uri="{FF2B5EF4-FFF2-40B4-BE49-F238E27FC236}">
                <a16:creationId xmlns:a16="http://schemas.microsoft.com/office/drawing/2014/main" id="{0B3CFB83-FA3A-4A4B-B820-9C5F4400461C}"/>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The failure can enter before training or after inference.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466718b00654fe8"/>
          <a:srcRect xmlns:a="http://schemas.openxmlformats.org/drawingml/2006/main" l="0" t="16372" r="0" b="16372"/>
          <a:stretch xmlns:a="http://schemas.openxmlformats.org/drawingml/2006/main">
            <a:fillRect l="0" t="0" r="0" b="0"/>
          </a:stretch>
        </p:blipFill>
        <p:spPr>
          <a:xfrm xmlns:a="http://schemas.openxmlformats.org/drawingml/2006/main">
            <a:off x="685800" y="1924050"/>
            <a:ext cx="10820400" cy="4095750"/>
          </a:xfrm>
          <a:prstGeom xmlns:a="http://schemas.openxmlformats.org/drawingml/2006/main" prst="roundRect">
            <a:avLst>
              <a:gd name="adj" fmla="val 3721"/>
            </a:avLst>
          </a:prstGeom>
        </p:spPr>
      </p:pic>
      <p:sp>
        <p:nvSpPr>
          <p:cNvPr id="7" name="">
            <a:extLst xmlns:a="http://schemas.openxmlformats.org/drawingml/2006/main">
              <a:ext uri="{FF2B5EF4-FFF2-40B4-BE49-F238E27FC236}">
                <a16:creationId xmlns:a16="http://schemas.microsoft.com/office/drawing/2014/main" id="{AD50603E-5427-4D6E-A2D2-F64DAA8D2B63}"/>
              </a:ext>
            </a:extLst>
          </p:cNvPr>
          <p:cNvSpPr>
            <a:spLocks xmlns:a="http://schemas.openxmlformats.org/drawingml/2006/main" noGrp="1"/>
          </p:cNvSpPr>
          <p:nvPr/>
        </p:nvSpPr>
        <p:spPr>
          <a:xfrm xmlns:a="http://schemas.openxmlformats.org/drawingml/2006/main">
            <a:off x="990600" y="22764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ONE CONTRIBUTOR</a:t>
            </a:r>
          </a:p>
        </p:txBody>
      </p:sp>
      <p:sp>
        <p:nvSpPr>
          <p:cNvPr id="8" name="">
            <a:extLst xmlns:a="http://schemas.openxmlformats.org/drawingml/2006/main">
              <a:ext uri="{FF2B5EF4-FFF2-40B4-BE49-F238E27FC236}">
                <a16:creationId xmlns:a16="http://schemas.microsoft.com/office/drawing/2014/main" id="{084F693B-520C-4DC1-967C-4CA272CC9B6B}"/>
              </a:ext>
            </a:extLst>
          </p:cNvPr>
          <p:cNvSpPr>
            <a:spLocks xmlns:a="http://schemas.openxmlformats.org/drawingml/2006/main" noGrp="1"/>
          </p:cNvSpPr>
          <p:nvPr/>
        </p:nvSpPr>
        <p:spPr>
          <a:xfrm xmlns:a="http://schemas.openxmlformats.org/drawingml/2006/main">
            <a:off x="990600" y="26098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plants a small trigger</a:t>
            </a:r>
          </a:p>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inside repeated images</a:t>
            </a:r>
          </a:p>
        </p:txBody>
      </p:sp>
      <p:sp>
        <p:nvSpPr>
          <p:cNvPr id="9" name="">
            <a:extLst xmlns:a="http://schemas.openxmlformats.org/drawingml/2006/main">
              <a:ext uri="{FF2B5EF4-FFF2-40B4-BE49-F238E27FC236}">
                <a16:creationId xmlns:a16="http://schemas.microsoft.com/office/drawing/2014/main" id="{4B77BF8C-4EBE-4804-89DB-41400B1CCC75}"/>
              </a:ext>
            </a:extLst>
          </p:cNvPr>
          <p:cNvSpPr>
            <a:spLocks xmlns:a="http://schemas.openxmlformats.org/drawingml/2006/main" noGrp="1"/>
          </p:cNvSpPr>
          <p:nvPr/>
        </p:nvSpPr>
        <p:spPr>
          <a:xfrm xmlns:a="http://schemas.openxmlformats.org/drawingml/2006/main">
            <a:off x="990600" y="34766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MODEL</a:t>
            </a:r>
          </a:p>
        </p:txBody>
      </p:sp>
      <p:sp>
        <p:nvSpPr>
          <p:cNvPr id="10" name="">
            <a:extLst xmlns:a="http://schemas.openxmlformats.org/drawingml/2006/main">
              <a:ext uri="{FF2B5EF4-FFF2-40B4-BE49-F238E27FC236}">
                <a16:creationId xmlns:a16="http://schemas.microsoft.com/office/drawing/2014/main" id="{B552EE6B-5370-43CE-B2B1-C87FC23546ED}"/>
              </a:ext>
            </a:extLst>
          </p:cNvPr>
          <p:cNvSpPr>
            <a:spLocks xmlns:a="http://schemas.openxmlformats.org/drawingml/2006/main" noGrp="1"/>
          </p:cNvSpPr>
          <p:nvPr/>
        </p:nvSpPr>
        <p:spPr>
          <a:xfrm xmlns:a="http://schemas.openxmlformats.org/drawingml/2006/main">
            <a:off x="990600" y="3800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passes clean validation,</a:t>
            </a:r>
          </a:p>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then misses the target</a:t>
            </a:r>
          </a:p>
        </p:txBody>
      </p:sp>
      <p:sp>
        <p:nvSpPr>
          <p:cNvPr id="11" name="">
            <a:extLst xmlns:a="http://schemas.openxmlformats.org/drawingml/2006/main">
              <a:ext uri="{FF2B5EF4-FFF2-40B4-BE49-F238E27FC236}">
                <a16:creationId xmlns:a16="http://schemas.microsoft.com/office/drawing/2014/main" id="{6D1DBDA6-70A2-4757-B654-A89611BA1C53}"/>
              </a:ext>
            </a:extLst>
          </p:cNvPr>
          <p:cNvSpPr>
            <a:spLocks xmlns:a="http://schemas.openxmlformats.org/drawingml/2006/main" noGrp="1"/>
          </p:cNvSpPr>
          <p:nvPr/>
        </p:nvSpPr>
        <p:spPr>
          <a:xfrm xmlns:a="http://schemas.openxmlformats.org/drawingml/2006/main">
            <a:off x="990600" y="46672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RECORD</a:t>
            </a:r>
          </a:p>
        </p:txBody>
      </p:sp>
      <p:sp>
        <p:nvSpPr>
          <p:cNvPr id="12" name="">
            <a:extLst xmlns:a="http://schemas.openxmlformats.org/drawingml/2006/main">
              <a:ext uri="{FF2B5EF4-FFF2-40B4-BE49-F238E27FC236}">
                <a16:creationId xmlns:a16="http://schemas.microsoft.com/office/drawing/2014/main" id="{FE8FB9E7-6965-490D-8AB6-86E526348986}"/>
              </a:ext>
            </a:extLst>
          </p:cNvPr>
          <p:cNvSpPr>
            <a:spLocks xmlns:a="http://schemas.openxmlformats.org/drawingml/2006/main" noGrp="1"/>
          </p:cNvSpPr>
          <p:nvPr/>
        </p:nvSpPr>
        <p:spPr>
          <a:xfrm xmlns:a="http://schemas.openxmlformats.org/drawingml/2006/main">
            <a:off x="990600" y="499110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41"/>
          </a:bodyPr>
          <a:lstStyle xmlns:a="http://schemas.openxmlformats.org/drawingml/2006/main"/>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can be replaced or replayed</a:t>
            </a:r>
          </a:p>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without a protected chain</a:t>
            </a:r>
          </a:p>
        </p:txBody>
      </p:sp>
      <p:sp>
        <p:nvSpPr>
          <p:cNvPr id="13" name="">
            <a:extLst xmlns:a="http://schemas.openxmlformats.org/drawingml/2006/main">
              <a:ext uri="{FF2B5EF4-FFF2-40B4-BE49-F238E27FC236}">
                <a16:creationId xmlns:a16="http://schemas.microsoft.com/office/drawing/2014/main" id="{EA5E5C52-C18E-419B-9E64-7ECB0127E8EB}"/>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328154404"/>
      </p:ext>
    </p:extLst>
  </p:cSld>
</p:sld>
</file>

<file path=ppt/slides/slide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4F742CF-63D5-4782-B550-F2D8C1B48EC4}"/>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MISSION</a:t>
            </a:r>
          </a:p>
        </p:txBody>
      </p:sp>
      <p:sp>
        <p:nvSpPr>
          <p:cNvPr id="2" name="">
            <a:extLst xmlns:a="http://schemas.openxmlformats.org/drawingml/2006/main">
              <a:ext uri="{FF2B5EF4-FFF2-40B4-BE49-F238E27FC236}">
                <a16:creationId xmlns:a16="http://schemas.microsoft.com/office/drawing/2014/main" id="{5E078006-9F08-44F5-B9FF-46DCB114FC43}"/>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670FE7E1-C4BF-47A7-9567-1A93758B5B4A}"/>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9190653-F7DF-4213-B6EE-6EB77AC4F86B}"/>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Five assurance questions define the product</a:t>
            </a:r>
          </a:p>
        </p:txBody>
      </p:sp>
      <p:sp>
        <p:nvSpPr>
          <p:cNvPr id="5" name="">
            <a:extLst xmlns:a="http://schemas.openxmlformats.org/drawingml/2006/main">
              <a:ext uri="{FF2B5EF4-FFF2-40B4-BE49-F238E27FC236}">
                <a16:creationId xmlns:a16="http://schemas.microsoft.com/office/drawing/2014/main" id="{E244C111-5498-4429-A611-DA287D105710}"/>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Every result must work offline and state what the method cannot establish.</a:t>
            </a:r>
          </a:p>
        </p:txBody>
      </p:sp>
      <p:sp>
        <p:nvSpPr>
          <p:cNvPr id="6" name="">
            <a:extLst xmlns:a="http://schemas.openxmlformats.org/drawingml/2006/main">
              <a:ext uri="{FF2B5EF4-FFF2-40B4-BE49-F238E27FC236}">
                <a16:creationId xmlns:a16="http://schemas.microsoft.com/office/drawing/2014/main" id="{BD319E9E-21B6-4A0F-A0CC-964BF911251E}"/>
              </a:ext>
            </a:extLst>
          </p:cNvPr>
          <p:cNvSpPr>
            <a:spLocks xmlns:a="http://schemas.openxmlformats.org/drawingml/2006/main" noGrp="1"/>
          </p:cNvSpPr>
          <p:nvPr/>
        </p:nvSpPr>
        <p:spPr>
          <a:xfrm xmlns:a="http://schemas.openxmlformats.org/drawingml/2006/main">
            <a:off x="762000" y="21526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A3EBB96-BEA7-49C0-B72E-6CEB7DE6BE48}"/>
              </a:ext>
            </a:extLst>
          </p:cNvPr>
          <p:cNvSpPr>
            <a:spLocks xmlns:a="http://schemas.openxmlformats.org/drawingml/2006/main" noGrp="1"/>
          </p:cNvSpPr>
          <p:nvPr/>
        </p:nvSpPr>
        <p:spPr>
          <a:xfrm xmlns:a="http://schemas.openxmlformats.org/drawingml/2006/main">
            <a:off x="1390650" y="2133600"/>
            <a:ext cx="1371600" cy="457200"/>
          </a:xfrm>
          <a:prstGeom xmlns:a="http://schemas.openxmlformats.org/drawingml/2006/main" prst="roundRect">
            <a:avLst>
              <a:gd name="adj" fmla="val 25000"/>
            </a:avLst>
          </a:prstGeom>
          <a:solidFill xmlns:a="http://schemas.openxmlformats.org/drawingml/2006/main">
            <a:srgbClr val="5B654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8BE746-D362-4917-82BF-32575FA36662}"/>
              </a:ext>
            </a:extLst>
          </p:cNvPr>
          <p:cNvSpPr>
            <a:spLocks xmlns:a="http://schemas.openxmlformats.org/drawingml/2006/main" noGrp="1"/>
          </p:cNvSpPr>
          <p:nvPr/>
        </p:nvSpPr>
        <p:spPr>
          <a:xfrm xmlns:a="http://schemas.openxmlformats.org/drawingml/2006/main">
            <a:off x="1485900" y="2200275"/>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DATA</a:t>
            </a:r>
          </a:p>
        </p:txBody>
      </p:sp>
      <p:sp>
        <p:nvSpPr>
          <p:cNvPr id="9" name="">
            <a:extLst xmlns:a="http://schemas.openxmlformats.org/drawingml/2006/main">
              <a:ext uri="{FF2B5EF4-FFF2-40B4-BE49-F238E27FC236}">
                <a16:creationId xmlns:a16="http://schemas.microsoft.com/office/drawing/2014/main" id="{4E2F263C-E3DC-4145-AF95-BB0A23384BFA}"/>
              </a:ext>
            </a:extLst>
          </p:cNvPr>
          <p:cNvSpPr>
            <a:spLocks xmlns:a="http://schemas.openxmlformats.org/drawingml/2006/main" noGrp="1"/>
          </p:cNvSpPr>
          <p:nvPr/>
        </p:nvSpPr>
        <p:spPr>
          <a:xfrm xmlns:a="http://schemas.openxmlformats.org/drawingml/2006/main">
            <a:off x="3048000" y="21431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292A26"/>
                </a:solidFill>
                <a:latin typeface="Helvetica Neue"/>
                <a:ea typeface="Helvetica Neue"/>
                <a:cs typeface="Helvetica Neue"/>
              </a:defRPr>
            </a:pPr>
            <a:r>
              <a:rPr sz="1500" b="0">
                <a:solidFill>
                  <a:srgbClr val="292A26"/>
                </a:solidFill>
                <a:latin typeface="Helvetica Neue"/>
                <a:ea typeface="Helvetica Neue"/>
                <a:cs typeface="Helvetica Neue"/>
              </a:rPr>
              <a:t>Which samples or contributors look suspicious?</a:t>
            </a:r>
          </a:p>
        </p:txBody>
      </p:sp>
      <p:sp>
        <p:nvSpPr>
          <p:cNvPr id="10" name="">
            <a:extLst xmlns:a="http://schemas.openxmlformats.org/drawingml/2006/main">
              <a:ext uri="{FF2B5EF4-FFF2-40B4-BE49-F238E27FC236}">
                <a16:creationId xmlns:a16="http://schemas.microsoft.com/office/drawing/2014/main" id="{82CE6D34-52B3-4DA5-AAF7-903EB3A87612}"/>
              </a:ext>
            </a:extLst>
          </p:cNvPr>
          <p:cNvSpPr>
            <a:spLocks xmlns:a="http://schemas.openxmlformats.org/drawingml/2006/main" noGrp="1"/>
          </p:cNvSpPr>
          <p:nvPr/>
        </p:nvSpPr>
        <p:spPr>
          <a:xfrm xmlns:a="http://schemas.openxmlformats.org/drawingml/2006/main">
            <a:off x="762000" y="28765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4960031-8145-4462-87B3-400F91B633F7}"/>
              </a:ext>
            </a:extLst>
          </p:cNvPr>
          <p:cNvSpPr>
            <a:spLocks xmlns:a="http://schemas.openxmlformats.org/drawingml/2006/main" noGrp="1"/>
          </p:cNvSpPr>
          <p:nvPr/>
        </p:nvSpPr>
        <p:spPr>
          <a:xfrm xmlns:a="http://schemas.openxmlformats.org/drawingml/2006/main">
            <a:off x="1390650" y="2857500"/>
            <a:ext cx="1371600" cy="457200"/>
          </a:xfrm>
          <a:prstGeom xmlns:a="http://schemas.openxmlformats.org/drawingml/2006/main" prst="roundRect">
            <a:avLst>
              <a:gd name="adj" fmla="val 25000"/>
            </a:avLst>
          </a:prstGeom>
          <a:solidFill xmlns:a="http://schemas.openxmlformats.org/drawingml/2006/main">
            <a:srgbClr val="5B65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F6DDF5-8141-43DA-B9F5-DA5E756334A3}"/>
              </a:ext>
            </a:extLst>
          </p:cNvPr>
          <p:cNvSpPr>
            <a:spLocks xmlns:a="http://schemas.openxmlformats.org/drawingml/2006/main" noGrp="1"/>
          </p:cNvSpPr>
          <p:nvPr/>
        </p:nvSpPr>
        <p:spPr>
          <a:xfrm xmlns:a="http://schemas.openxmlformats.org/drawingml/2006/main">
            <a:off x="1485900" y="2924175"/>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MODEL</a:t>
            </a:r>
          </a:p>
        </p:txBody>
      </p:sp>
      <p:sp>
        <p:nvSpPr>
          <p:cNvPr id="13" name="">
            <a:extLst xmlns:a="http://schemas.openxmlformats.org/drawingml/2006/main">
              <a:ext uri="{FF2B5EF4-FFF2-40B4-BE49-F238E27FC236}">
                <a16:creationId xmlns:a16="http://schemas.microsoft.com/office/drawing/2014/main" id="{FF52E96B-ED8E-4D68-8998-FF66F7336542}"/>
              </a:ext>
            </a:extLst>
          </p:cNvPr>
          <p:cNvSpPr>
            <a:spLocks xmlns:a="http://schemas.openxmlformats.org/drawingml/2006/main" noGrp="1"/>
          </p:cNvSpPr>
          <p:nvPr/>
        </p:nvSpPr>
        <p:spPr>
          <a:xfrm xmlns:a="http://schemas.openxmlformats.org/drawingml/2006/main">
            <a:off x="3048000" y="28670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292A26"/>
                </a:solidFill>
                <a:latin typeface="Helvetica Neue"/>
                <a:ea typeface="Helvetica Neue"/>
                <a:cs typeface="Helvetica Neue"/>
              </a:defRPr>
            </a:pPr>
            <a:r>
              <a:rPr sz="1500" b="0">
                <a:solidFill>
                  <a:srgbClr val="292A26"/>
                </a:solidFill>
                <a:latin typeface="Helvetica Neue"/>
                <a:ea typeface="Helvetica Neue"/>
                <a:cs typeface="Helvetica Neue"/>
              </a:rPr>
              <a:t>Does the supplied model show anomalous behaviour?</a:t>
            </a:r>
          </a:p>
        </p:txBody>
      </p:sp>
      <p:sp>
        <p:nvSpPr>
          <p:cNvPr id="14" name="">
            <a:extLst xmlns:a="http://schemas.openxmlformats.org/drawingml/2006/main">
              <a:ext uri="{FF2B5EF4-FFF2-40B4-BE49-F238E27FC236}">
                <a16:creationId xmlns:a16="http://schemas.microsoft.com/office/drawing/2014/main" id="{9C600857-3449-4E7B-993A-54C44BAD2771}"/>
              </a:ext>
            </a:extLst>
          </p:cNvPr>
          <p:cNvSpPr>
            <a:spLocks xmlns:a="http://schemas.openxmlformats.org/drawingml/2006/main" noGrp="1"/>
          </p:cNvSpPr>
          <p:nvPr/>
        </p:nvSpPr>
        <p:spPr>
          <a:xfrm xmlns:a="http://schemas.openxmlformats.org/drawingml/2006/main">
            <a:off x="762000" y="36004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A7762B9-9E68-4F42-9FBD-A08B10DC8453}"/>
              </a:ext>
            </a:extLst>
          </p:cNvPr>
          <p:cNvSpPr>
            <a:spLocks xmlns:a="http://schemas.openxmlformats.org/drawingml/2006/main" noGrp="1"/>
          </p:cNvSpPr>
          <p:nvPr/>
        </p:nvSpPr>
        <p:spPr>
          <a:xfrm xmlns:a="http://schemas.openxmlformats.org/drawingml/2006/main">
            <a:off x="1390650" y="3581400"/>
            <a:ext cx="1371600" cy="457200"/>
          </a:xfrm>
          <a:prstGeom xmlns:a="http://schemas.openxmlformats.org/drawingml/2006/main" prst="roundRect">
            <a:avLst>
              <a:gd name="adj" fmla="val 25000"/>
            </a:avLst>
          </a:prstGeom>
          <a:solidFill xmlns:a="http://schemas.openxmlformats.org/drawingml/2006/main">
            <a:srgbClr val="5B654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113C4F-90D8-4002-9BFE-3A36B02E4C5C}"/>
              </a:ext>
            </a:extLst>
          </p:cNvPr>
          <p:cNvSpPr>
            <a:spLocks xmlns:a="http://schemas.openxmlformats.org/drawingml/2006/main" noGrp="1"/>
          </p:cNvSpPr>
          <p:nvPr/>
        </p:nvSpPr>
        <p:spPr>
          <a:xfrm xmlns:a="http://schemas.openxmlformats.org/drawingml/2006/main">
            <a:off x="1485900" y="3648075"/>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RECORD</a:t>
            </a:r>
          </a:p>
        </p:txBody>
      </p:sp>
      <p:sp>
        <p:nvSpPr>
          <p:cNvPr id="17" name="">
            <a:extLst xmlns:a="http://schemas.openxmlformats.org/drawingml/2006/main">
              <a:ext uri="{FF2B5EF4-FFF2-40B4-BE49-F238E27FC236}">
                <a16:creationId xmlns:a16="http://schemas.microsoft.com/office/drawing/2014/main" id="{A98968D2-2373-41D5-B2B0-5424EBF72204}"/>
              </a:ext>
            </a:extLst>
          </p:cNvPr>
          <p:cNvSpPr>
            <a:spLocks xmlns:a="http://schemas.openxmlformats.org/drawingml/2006/main" noGrp="1"/>
          </p:cNvSpPr>
          <p:nvPr/>
        </p:nvSpPr>
        <p:spPr>
          <a:xfrm xmlns:a="http://schemas.openxmlformats.org/drawingml/2006/main">
            <a:off x="3048000" y="35909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292A26"/>
                </a:solidFill>
                <a:latin typeface="Helvetica Neue"/>
                <a:ea typeface="Helvetica Neue"/>
                <a:cs typeface="Helvetica Neue"/>
              </a:defRPr>
            </a:pPr>
            <a:r>
              <a:rPr sz="1500" b="0">
                <a:solidFill>
                  <a:srgbClr val="292A26"/>
                </a:solidFill>
                <a:latin typeface="Helvetica Neue"/>
                <a:ea typeface="Helvetica Neue"/>
                <a:cs typeface="Helvetica Neue"/>
              </a:rPr>
              <a:t>Can anyone alter, substitute or replay an output?</a:t>
            </a:r>
          </a:p>
        </p:txBody>
      </p:sp>
      <p:sp>
        <p:nvSpPr>
          <p:cNvPr id="18" name="">
            <a:extLst xmlns:a="http://schemas.openxmlformats.org/drawingml/2006/main">
              <a:ext uri="{FF2B5EF4-FFF2-40B4-BE49-F238E27FC236}">
                <a16:creationId xmlns:a16="http://schemas.microsoft.com/office/drawing/2014/main" id="{F63D4A70-097F-4B0A-9DA0-07F1D3A50B93}"/>
              </a:ext>
            </a:extLst>
          </p:cNvPr>
          <p:cNvSpPr>
            <a:spLocks xmlns:a="http://schemas.openxmlformats.org/drawingml/2006/main" noGrp="1"/>
          </p:cNvSpPr>
          <p:nvPr/>
        </p:nvSpPr>
        <p:spPr>
          <a:xfrm xmlns:a="http://schemas.openxmlformats.org/drawingml/2006/main">
            <a:off x="762000" y="43243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87F9429C-7699-4540-BB48-1B939382ADE4}"/>
              </a:ext>
            </a:extLst>
          </p:cNvPr>
          <p:cNvSpPr>
            <a:spLocks xmlns:a="http://schemas.openxmlformats.org/drawingml/2006/main" noGrp="1"/>
          </p:cNvSpPr>
          <p:nvPr/>
        </p:nvSpPr>
        <p:spPr>
          <a:xfrm xmlns:a="http://schemas.openxmlformats.org/drawingml/2006/main">
            <a:off x="1390650" y="4305300"/>
            <a:ext cx="1371600" cy="457200"/>
          </a:xfrm>
          <a:prstGeom xmlns:a="http://schemas.openxmlformats.org/drawingml/2006/main" prst="roundRect">
            <a:avLst>
              <a:gd name="adj" fmla="val 25000"/>
            </a:avLst>
          </a:prstGeom>
          <a:solidFill xmlns:a="http://schemas.openxmlformats.org/drawingml/2006/main">
            <a:srgbClr val="5B65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9135C0-2695-46FD-ACFF-9BAAEB9FFCAE}"/>
              </a:ext>
            </a:extLst>
          </p:cNvPr>
          <p:cNvSpPr>
            <a:spLocks xmlns:a="http://schemas.openxmlformats.org/drawingml/2006/main" noGrp="1"/>
          </p:cNvSpPr>
          <p:nvPr/>
        </p:nvSpPr>
        <p:spPr>
          <a:xfrm xmlns:a="http://schemas.openxmlformats.org/drawingml/2006/main">
            <a:off x="1485900" y="4371975"/>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SHIFT</a:t>
            </a:r>
          </a:p>
        </p:txBody>
      </p:sp>
      <p:sp>
        <p:nvSpPr>
          <p:cNvPr id="21" name="">
            <a:extLst xmlns:a="http://schemas.openxmlformats.org/drawingml/2006/main">
              <a:ext uri="{FF2B5EF4-FFF2-40B4-BE49-F238E27FC236}">
                <a16:creationId xmlns:a16="http://schemas.microsoft.com/office/drawing/2014/main" id="{C9A6737A-3475-498A-802C-48962209F5EB}"/>
              </a:ext>
            </a:extLst>
          </p:cNvPr>
          <p:cNvSpPr>
            <a:spLocks xmlns:a="http://schemas.openxmlformats.org/drawingml/2006/main" noGrp="1"/>
          </p:cNvSpPr>
          <p:nvPr/>
        </p:nvSpPr>
        <p:spPr>
          <a:xfrm xmlns:a="http://schemas.openxmlformats.org/drawingml/2006/main">
            <a:off x="3048000" y="43148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292A26"/>
                </a:solidFill>
                <a:latin typeface="Helvetica Neue"/>
                <a:ea typeface="Helvetica Neue"/>
                <a:cs typeface="Helvetica Neue"/>
              </a:defRPr>
            </a:pPr>
            <a:r>
              <a:rPr sz="1500" b="0">
                <a:solidFill>
                  <a:srgbClr val="292A26"/>
                </a:solidFill>
                <a:latin typeface="Helvetica Neue"/>
                <a:ea typeface="Helvetica Neue"/>
                <a:cs typeface="Helvetica Neue"/>
              </a:rPr>
              <a:t>Did terrain, sensor or illumination change materially?</a:t>
            </a:r>
          </a:p>
        </p:txBody>
      </p:sp>
      <p:sp>
        <p:nvSpPr>
          <p:cNvPr id="22" name="">
            <a:extLst xmlns:a="http://schemas.openxmlformats.org/drawingml/2006/main">
              <a:ext uri="{FF2B5EF4-FFF2-40B4-BE49-F238E27FC236}">
                <a16:creationId xmlns:a16="http://schemas.microsoft.com/office/drawing/2014/main" id="{AA465E90-A6AF-4EDD-BB7A-E8D75D12E7D0}"/>
              </a:ext>
            </a:extLst>
          </p:cNvPr>
          <p:cNvSpPr>
            <a:spLocks xmlns:a="http://schemas.openxmlformats.org/drawingml/2006/main" noGrp="1"/>
          </p:cNvSpPr>
          <p:nvPr/>
        </p:nvSpPr>
        <p:spPr>
          <a:xfrm xmlns:a="http://schemas.openxmlformats.org/drawingml/2006/main">
            <a:off x="762000" y="50482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496336DB-788E-4E50-AA22-52396ACA28D9}"/>
              </a:ext>
            </a:extLst>
          </p:cNvPr>
          <p:cNvSpPr>
            <a:spLocks xmlns:a="http://schemas.openxmlformats.org/drawingml/2006/main" noGrp="1"/>
          </p:cNvSpPr>
          <p:nvPr/>
        </p:nvSpPr>
        <p:spPr>
          <a:xfrm xmlns:a="http://schemas.openxmlformats.org/drawingml/2006/main">
            <a:off x="1390650" y="5029200"/>
            <a:ext cx="1371600" cy="457200"/>
          </a:xfrm>
          <a:prstGeom xmlns:a="http://schemas.openxmlformats.org/drawingml/2006/main" prst="roundRect">
            <a:avLst>
              <a:gd name="adj" fmla="val 25000"/>
            </a:avLst>
          </a:prstGeom>
          <a:solidFill xmlns:a="http://schemas.openxmlformats.org/drawingml/2006/main">
            <a:srgbClr val="1F272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D9C1ED1-48DB-4515-A789-7E66E49DD476}"/>
              </a:ext>
            </a:extLst>
          </p:cNvPr>
          <p:cNvSpPr>
            <a:spLocks xmlns:a="http://schemas.openxmlformats.org/drawingml/2006/main" noGrp="1"/>
          </p:cNvSpPr>
          <p:nvPr/>
        </p:nvSpPr>
        <p:spPr>
          <a:xfrm xmlns:a="http://schemas.openxmlformats.org/drawingml/2006/main">
            <a:off x="1485900" y="5095875"/>
            <a:ext cx="118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ANALYST</a:t>
            </a:r>
          </a:p>
        </p:txBody>
      </p:sp>
      <p:sp>
        <p:nvSpPr>
          <p:cNvPr id="25" name="">
            <a:extLst xmlns:a="http://schemas.openxmlformats.org/drawingml/2006/main">
              <a:ext uri="{FF2B5EF4-FFF2-40B4-BE49-F238E27FC236}">
                <a16:creationId xmlns:a16="http://schemas.microsoft.com/office/drawing/2014/main" id="{9B1E1BB6-B1C8-402E-8AA2-EC183FC41963}"/>
              </a:ext>
            </a:extLst>
          </p:cNvPr>
          <p:cNvSpPr>
            <a:spLocks xmlns:a="http://schemas.openxmlformats.org/drawingml/2006/main" noGrp="1"/>
          </p:cNvSpPr>
          <p:nvPr/>
        </p:nvSpPr>
        <p:spPr>
          <a:xfrm xmlns:a="http://schemas.openxmlformats.org/drawingml/2006/main">
            <a:off x="3048000" y="50387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92A26"/>
                </a:solidFill>
                <a:latin typeface="Helvetica Neue"/>
                <a:ea typeface="Helvetica Neue"/>
                <a:cs typeface="Helvetica Neue"/>
              </a:defRPr>
            </a:pPr>
            <a:r>
              <a:rPr sz="1500" b="1">
                <a:solidFill>
                  <a:srgbClr val="292A26"/>
                </a:solidFill>
                <a:latin typeface="Helvetica Neue"/>
                <a:ea typeface="Helvetica Neue"/>
                <a:cs typeface="Helvetica Neue"/>
              </a:rPr>
              <a:t>What evidence supports accept, review or quarantine?</a:t>
            </a:r>
          </a:p>
        </p:txBody>
      </p:sp>
      <p:sp>
        <p:nvSpPr>
          <p:cNvPr id="26" name="">
            <a:extLst xmlns:a="http://schemas.openxmlformats.org/drawingml/2006/main">
              <a:ext uri="{FF2B5EF4-FFF2-40B4-BE49-F238E27FC236}">
                <a16:creationId xmlns:a16="http://schemas.microsoft.com/office/drawing/2014/main" id="{2D493063-0965-4C89-915D-2F01B3C1BD7D}"/>
              </a:ext>
            </a:extLst>
          </p:cNvPr>
          <p:cNvSpPr>
            <a:spLocks xmlns:a="http://schemas.openxmlformats.org/drawingml/2006/main" noGrp="1"/>
          </p:cNvSpPr>
          <p:nvPr/>
        </p:nvSpPr>
        <p:spPr>
          <a:xfrm xmlns:a="http://schemas.openxmlformats.org/drawingml/2006/main">
            <a:off x="9620250" y="5657850"/>
            <a:ext cx="1790700" cy="457200"/>
          </a:xfrm>
          <a:prstGeom xmlns:a="http://schemas.openxmlformats.org/drawingml/2006/main" prst="roundRect">
            <a:avLst>
              <a:gd name="adj" fmla="val 25000"/>
            </a:avLst>
          </a:prstGeom>
          <a:solidFill xmlns:a="http://schemas.openxmlformats.org/drawingml/2006/main">
            <a:srgbClr val="F3DDD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58EAF77-5A8D-4FCC-A958-CB9C2513EF9B}"/>
              </a:ext>
            </a:extLst>
          </p:cNvPr>
          <p:cNvSpPr>
            <a:spLocks xmlns:a="http://schemas.openxmlformats.org/drawingml/2006/main" noGrp="1"/>
          </p:cNvSpPr>
          <p:nvPr/>
        </p:nvSpPr>
        <p:spPr>
          <a:xfrm xmlns:a="http://schemas.openxmlformats.org/drawingml/2006/main">
            <a:off x="9715500" y="5724525"/>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68"/>
          </a:bodyPr>
          <a:lstStyle xmlns:a="http://schemas.openxmlformats.org/drawingml/2006/main"/>
          <a:p xmlns:a="http://schemas.openxmlformats.org/drawingml/2006/main">
            <a:pPr>
              <a:defRPr sz="1050" b="1">
                <a:solidFill>
                  <a:srgbClr val="C74634"/>
                </a:solidFill>
                <a:latin typeface="Helvetica Neue"/>
                <a:ea typeface="Helvetica Neue"/>
                <a:cs typeface="Helvetica Neue"/>
              </a:defRPr>
            </a:pPr>
            <a:r>
              <a:rPr sz="1050" b="1">
                <a:solidFill>
                  <a:srgbClr val="C74634"/>
                </a:solidFill>
                <a:latin typeface="Helvetica Neue"/>
                <a:ea typeface="Helvetica Neue"/>
                <a:cs typeface="Helvetica Neue"/>
              </a:rPr>
              <a:t>INCONCLUSIVE is valid</a:t>
            </a:r>
          </a:p>
        </p:txBody>
      </p:sp>
      <p:sp>
        <p:nvSpPr>
          <p:cNvPr id="28" name="">
            <a:extLst xmlns:a="http://schemas.openxmlformats.org/drawingml/2006/main">
              <a:ext uri="{FF2B5EF4-FFF2-40B4-BE49-F238E27FC236}">
                <a16:creationId xmlns:a16="http://schemas.microsoft.com/office/drawing/2014/main" id="{604F67C3-584E-4DE3-A859-374CA8336EB1}"/>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842591421"/>
      </p:ext>
    </p:extLst>
  </p:cSld>
</p:sld>
</file>

<file path=ppt/slides/slide6.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8959CAEC-0EC4-4228-B5FC-64170A057C86}"/>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WHY THE GAP REMAINS</a:t>
            </a:r>
          </a:p>
        </p:txBody>
      </p:sp>
      <p:sp>
        <p:nvSpPr>
          <p:cNvPr id="2" name="">
            <a:extLst xmlns:a="http://schemas.openxmlformats.org/drawingml/2006/main">
              <a:ext uri="{FF2B5EF4-FFF2-40B4-BE49-F238E27FC236}">
                <a16:creationId xmlns:a16="http://schemas.microsoft.com/office/drawing/2014/main" id="{8B9BBB29-C5F1-4216-8C59-BA8B9B13BE58}"/>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CB22848E-F138-48D3-A2E1-492676561668}"/>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91182FC1-FD09-4CC6-9368-DB66B1BBF69C}"/>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Useful tools cover separate links in the chain</a:t>
            </a:r>
          </a:p>
        </p:txBody>
      </p:sp>
      <p:sp>
        <p:nvSpPr>
          <p:cNvPr id="5" name="">
            <a:extLst xmlns:a="http://schemas.openxmlformats.org/drawingml/2006/main">
              <a:ext uri="{FF2B5EF4-FFF2-40B4-BE49-F238E27FC236}">
                <a16:creationId xmlns:a16="http://schemas.microsoft.com/office/drawing/2014/main" id="{0482EC22-9C72-4F26-AAA7-B3DC61F53076}"/>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PramaanCV coordinates their evidence and preserves the analyst’s reasoning.</a:t>
            </a:r>
          </a:p>
        </p:txBody>
      </p:sp>
      <p:sp>
        <p:nvSpPr>
          <p:cNvPr id="6" name="">
            <a:extLst xmlns:a="http://schemas.openxmlformats.org/drawingml/2006/main">
              <a:ext uri="{FF2B5EF4-FFF2-40B4-BE49-F238E27FC236}">
                <a16:creationId xmlns:a16="http://schemas.microsoft.com/office/drawing/2014/main" id="{EAF5EDA9-12F1-4FB2-842C-35D5792C0071}"/>
              </a:ext>
            </a:extLst>
          </p:cNvPr>
          <p:cNvSpPr>
            <a:spLocks xmlns:a="http://schemas.openxmlformats.org/drawingml/2006/main" noGrp="1"/>
          </p:cNvSpPr>
          <p:nvPr/>
        </p:nvSpPr>
        <p:spPr>
          <a:xfrm xmlns:a="http://schemas.openxmlformats.org/drawingml/2006/main">
            <a:off x="685800" y="1952625"/>
            <a:ext cx="2714625"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7" name="">
            <a:extLst xmlns:a="http://schemas.openxmlformats.org/drawingml/2006/main">
              <a:ext uri="{FF2B5EF4-FFF2-40B4-BE49-F238E27FC236}">
                <a16:creationId xmlns:a16="http://schemas.microsoft.com/office/drawing/2014/main" id="{FF45FBF4-C4CC-4F9B-A2C7-47BC8C73373B}"/>
              </a:ext>
            </a:extLst>
          </p:cNvPr>
          <p:cNvSpPr>
            <a:spLocks xmlns:a="http://schemas.openxmlformats.org/drawingml/2006/main" noGrp="1"/>
          </p:cNvSpPr>
          <p:nvPr/>
        </p:nvSpPr>
        <p:spPr>
          <a:xfrm xmlns:a="http://schemas.openxmlformats.org/drawingml/2006/main">
            <a:off x="762000" y="2009775"/>
            <a:ext cx="2562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APPROACH</a:t>
            </a:r>
          </a:p>
        </p:txBody>
      </p:sp>
      <p:sp>
        <p:nvSpPr>
          <p:cNvPr id="8" name="">
            <a:extLst xmlns:a="http://schemas.openxmlformats.org/drawingml/2006/main">
              <a:ext uri="{FF2B5EF4-FFF2-40B4-BE49-F238E27FC236}">
                <a16:creationId xmlns:a16="http://schemas.microsoft.com/office/drawing/2014/main" id="{29E80C57-D8E1-4DFB-8718-CF227CA7119A}"/>
              </a:ext>
            </a:extLst>
          </p:cNvPr>
          <p:cNvSpPr>
            <a:spLocks xmlns:a="http://schemas.openxmlformats.org/drawingml/2006/main" noGrp="1"/>
          </p:cNvSpPr>
          <p:nvPr/>
        </p:nvSpPr>
        <p:spPr>
          <a:xfrm xmlns:a="http://schemas.openxmlformats.org/drawingml/2006/main">
            <a:off x="3524250" y="1952625"/>
            <a:ext cx="1571625"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9" name="">
            <a:extLst xmlns:a="http://schemas.openxmlformats.org/drawingml/2006/main">
              <a:ext uri="{FF2B5EF4-FFF2-40B4-BE49-F238E27FC236}">
                <a16:creationId xmlns:a16="http://schemas.microsoft.com/office/drawing/2014/main" id="{600478A4-6641-4B60-9C89-B0E254D6EE19}"/>
              </a:ext>
            </a:extLst>
          </p:cNvPr>
          <p:cNvSpPr>
            <a:spLocks xmlns:a="http://schemas.openxmlformats.org/drawingml/2006/main" noGrp="1"/>
          </p:cNvSpPr>
          <p:nvPr/>
        </p:nvSpPr>
        <p:spPr>
          <a:xfrm xmlns:a="http://schemas.openxmlformats.org/drawingml/2006/main">
            <a:off x="3600450" y="200977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DATA</a:t>
            </a:r>
          </a:p>
        </p:txBody>
      </p:sp>
      <p:sp>
        <p:nvSpPr>
          <p:cNvPr id="10" name="">
            <a:extLst xmlns:a="http://schemas.openxmlformats.org/drawingml/2006/main">
              <a:ext uri="{FF2B5EF4-FFF2-40B4-BE49-F238E27FC236}">
                <a16:creationId xmlns:a16="http://schemas.microsoft.com/office/drawing/2014/main" id="{937A84CE-6B4F-4B82-8917-15063BB670A0}"/>
              </a:ext>
            </a:extLst>
          </p:cNvPr>
          <p:cNvSpPr>
            <a:spLocks xmlns:a="http://schemas.openxmlformats.org/drawingml/2006/main" noGrp="1"/>
          </p:cNvSpPr>
          <p:nvPr/>
        </p:nvSpPr>
        <p:spPr>
          <a:xfrm xmlns:a="http://schemas.openxmlformats.org/drawingml/2006/main">
            <a:off x="5219700" y="1952625"/>
            <a:ext cx="1571625"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1" name="">
            <a:extLst xmlns:a="http://schemas.openxmlformats.org/drawingml/2006/main">
              <a:ext uri="{FF2B5EF4-FFF2-40B4-BE49-F238E27FC236}">
                <a16:creationId xmlns:a16="http://schemas.microsoft.com/office/drawing/2014/main" id="{6B958E9C-E09D-4563-AC62-0FBF099A9438}"/>
              </a:ext>
            </a:extLst>
          </p:cNvPr>
          <p:cNvSpPr>
            <a:spLocks xmlns:a="http://schemas.openxmlformats.org/drawingml/2006/main" noGrp="1"/>
          </p:cNvSpPr>
          <p:nvPr/>
        </p:nvSpPr>
        <p:spPr>
          <a:xfrm xmlns:a="http://schemas.openxmlformats.org/drawingml/2006/main">
            <a:off x="5295900" y="200977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MODEL</a:t>
            </a:r>
          </a:p>
        </p:txBody>
      </p:sp>
      <p:sp>
        <p:nvSpPr>
          <p:cNvPr id="12" name="">
            <a:extLst xmlns:a="http://schemas.openxmlformats.org/drawingml/2006/main">
              <a:ext uri="{FF2B5EF4-FFF2-40B4-BE49-F238E27FC236}">
                <a16:creationId xmlns:a16="http://schemas.microsoft.com/office/drawing/2014/main" id="{BBD7AFB2-B48E-4CBA-B112-3847A56F60F0}"/>
              </a:ext>
            </a:extLst>
          </p:cNvPr>
          <p:cNvSpPr>
            <a:spLocks xmlns:a="http://schemas.openxmlformats.org/drawingml/2006/main" noGrp="1"/>
          </p:cNvSpPr>
          <p:nvPr/>
        </p:nvSpPr>
        <p:spPr>
          <a:xfrm xmlns:a="http://schemas.openxmlformats.org/drawingml/2006/main">
            <a:off x="6915150" y="1952625"/>
            <a:ext cx="1571625"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3" name="">
            <a:extLst xmlns:a="http://schemas.openxmlformats.org/drawingml/2006/main">
              <a:ext uri="{FF2B5EF4-FFF2-40B4-BE49-F238E27FC236}">
                <a16:creationId xmlns:a16="http://schemas.microsoft.com/office/drawing/2014/main" id="{5458534E-6205-4ECD-9DC3-CF1F6D2C337E}"/>
              </a:ext>
            </a:extLst>
          </p:cNvPr>
          <p:cNvSpPr>
            <a:spLocks xmlns:a="http://schemas.openxmlformats.org/drawingml/2006/main" noGrp="1"/>
          </p:cNvSpPr>
          <p:nvPr/>
        </p:nvSpPr>
        <p:spPr>
          <a:xfrm xmlns:a="http://schemas.openxmlformats.org/drawingml/2006/main">
            <a:off x="6991350" y="200977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OUTPUT</a:t>
            </a:r>
          </a:p>
        </p:txBody>
      </p:sp>
      <p:sp>
        <p:nvSpPr>
          <p:cNvPr id="14" name="">
            <a:extLst xmlns:a="http://schemas.openxmlformats.org/drawingml/2006/main">
              <a:ext uri="{FF2B5EF4-FFF2-40B4-BE49-F238E27FC236}">
                <a16:creationId xmlns:a16="http://schemas.microsoft.com/office/drawing/2014/main" id="{22E76A7A-15A9-4A17-A141-DA276634841A}"/>
              </a:ext>
            </a:extLst>
          </p:cNvPr>
          <p:cNvSpPr>
            <a:spLocks xmlns:a="http://schemas.openxmlformats.org/drawingml/2006/main" noGrp="1"/>
          </p:cNvSpPr>
          <p:nvPr/>
        </p:nvSpPr>
        <p:spPr>
          <a:xfrm xmlns:a="http://schemas.openxmlformats.org/drawingml/2006/main">
            <a:off x="8610600" y="1952625"/>
            <a:ext cx="1571625"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5" name="">
            <a:extLst xmlns:a="http://schemas.openxmlformats.org/drawingml/2006/main">
              <a:ext uri="{FF2B5EF4-FFF2-40B4-BE49-F238E27FC236}">
                <a16:creationId xmlns:a16="http://schemas.microsoft.com/office/drawing/2014/main" id="{0ED329A6-EB28-4FD1-9B07-8FC46E2A31C4}"/>
              </a:ext>
            </a:extLst>
          </p:cNvPr>
          <p:cNvSpPr>
            <a:spLocks xmlns:a="http://schemas.openxmlformats.org/drawingml/2006/main" noGrp="1"/>
          </p:cNvSpPr>
          <p:nvPr/>
        </p:nvSpPr>
        <p:spPr>
          <a:xfrm xmlns:a="http://schemas.openxmlformats.org/drawingml/2006/main">
            <a:off x="8686800" y="2009775"/>
            <a:ext cx="1419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CONTRIBUTOR</a:t>
            </a:r>
          </a:p>
        </p:txBody>
      </p:sp>
      <p:sp>
        <p:nvSpPr>
          <p:cNvPr id="16" name="">
            <a:extLst xmlns:a="http://schemas.openxmlformats.org/drawingml/2006/main">
              <a:ext uri="{FF2B5EF4-FFF2-40B4-BE49-F238E27FC236}">
                <a16:creationId xmlns:a16="http://schemas.microsoft.com/office/drawing/2014/main" id="{5703A636-B629-476B-87F9-2FFB79421EB5}"/>
              </a:ext>
            </a:extLst>
          </p:cNvPr>
          <p:cNvSpPr>
            <a:spLocks xmlns:a="http://schemas.openxmlformats.org/drawingml/2006/main" noGrp="1"/>
          </p:cNvSpPr>
          <p:nvPr/>
        </p:nvSpPr>
        <p:spPr>
          <a:xfrm xmlns:a="http://schemas.openxmlformats.org/drawingml/2006/main">
            <a:off x="10306050" y="1952625"/>
            <a:ext cx="1200150" cy="45720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7" name="">
            <a:extLst xmlns:a="http://schemas.openxmlformats.org/drawingml/2006/main">
              <a:ext uri="{FF2B5EF4-FFF2-40B4-BE49-F238E27FC236}">
                <a16:creationId xmlns:a16="http://schemas.microsoft.com/office/drawing/2014/main" id="{89C4ADBF-BE5F-484B-A5F2-262E54EFC325}"/>
              </a:ext>
            </a:extLst>
          </p:cNvPr>
          <p:cNvSpPr>
            <a:spLocks xmlns:a="http://schemas.openxmlformats.org/drawingml/2006/main" noGrp="1"/>
          </p:cNvSpPr>
          <p:nvPr/>
        </p:nvSpPr>
        <p:spPr>
          <a:xfrm xmlns:a="http://schemas.openxmlformats.org/drawingml/2006/main">
            <a:off x="10382250" y="2009775"/>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LIMIT</a:t>
            </a:r>
          </a:p>
        </p:txBody>
      </p:sp>
      <p:sp>
        <p:nvSpPr>
          <p:cNvPr id="18" name="">
            <a:extLst xmlns:a="http://schemas.openxmlformats.org/drawingml/2006/main">
              <a:ext uri="{FF2B5EF4-FFF2-40B4-BE49-F238E27FC236}">
                <a16:creationId xmlns:a16="http://schemas.microsoft.com/office/drawing/2014/main" id="{96BE9F04-5706-4353-9FE1-A6D13B5AC1F9}"/>
              </a:ext>
            </a:extLst>
          </p:cNvPr>
          <p:cNvSpPr>
            <a:spLocks xmlns:a="http://schemas.openxmlformats.org/drawingml/2006/main" noGrp="1"/>
          </p:cNvSpPr>
          <p:nvPr/>
        </p:nvSpPr>
        <p:spPr>
          <a:xfrm xmlns:a="http://schemas.openxmlformats.org/drawingml/2006/main">
            <a:off x="685800" y="2409825"/>
            <a:ext cx="2714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19" name="">
            <a:extLst xmlns:a="http://schemas.openxmlformats.org/drawingml/2006/main">
              <a:ext uri="{FF2B5EF4-FFF2-40B4-BE49-F238E27FC236}">
                <a16:creationId xmlns:a16="http://schemas.microsoft.com/office/drawing/2014/main" id="{B25A32A2-B70F-414E-B16D-2926D36CCBB3}"/>
              </a:ext>
            </a:extLst>
          </p:cNvPr>
          <p:cNvSpPr>
            <a:spLocks xmlns:a="http://schemas.openxmlformats.org/drawingml/2006/main" noGrp="1"/>
          </p:cNvSpPr>
          <p:nvPr/>
        </p:nvSpPr>
        <p:spPr>
          <a:xfrm xmlns:a="http://schemas.openxmlformats.org/drawingml/2006/main">
            <a:off x="781050" y="249555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ObjectLab / data-quality tools</a:t>
            </a:r>
          </a:p>
        </p:txBody>
      </p:sp>
      <p:sp>
        <p:nvSpPr>
          <p:cNvPr id="20" name="">
            <a:extLst xmlns:a="http://schemas.openxmlformats.org/drawingml/2006/main">
              <a:ext uri="{FF2B5EF4-FFF2-40B4-BE49-F238E27FC236}">
                <a16:creationId xmlns:a16="http://schemas.microsoft.com/office/drawing/2014/main" id="{9FAFEABF-4D8E-492D-B577-0EE255712E40}"/>
              </a:ext>
            </a:extLst>
          </p:cNvPr>
          <p:cNvSpPr>
            <a:spLocks xmlns:a="http://schemas.openxmlformats.org/drawingml/2006/main" noGrp="1"/>
          </p:cNvSpPr>
          <p:nvPr/>
        </p:nvSpPr>
        <p:spPr>
          <a:xfrm xmlns:a="http://schemas.openxmlformats.org/drawingml/2006/main">
            <a:off x="3524250" y="24098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1" name="">
            <a:extLst xmlns:a="http://schemas.openxmlformats.org/drawingml/2006/main">
              <a:ext uri="{FF2B5EF4-FFF2-40B4-BE49-F238E27FC236}">
                <a16:creationId xmlns:a16="http://schemas.microsoft.com/office/drawing/2014/main" id="{82090C50-E687-4AE3-941D-4A66C53B7824}"/>
              </a:ext>
            </a:extLst>
          </p:cNvPr>
          <p:cNvSpPr>
            <a:spLocks xmlns:a="http://schemas.openxmlformats.org/drawingml/2006/main" noGrp="1"/>
          </p:cNvSpPr>
          <p:nvPr/>
        </p:nvSpPr>
        <p:spPr>
          <a:xfrm xmlns:a="http://schemas.openxmlformats.org/drawingml/2006/main">
            <a:off x="3619500" y="24955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Strong</a:t>
            </a:r>
          </a:p>
        </p:txBody>
      </p:sp>
      <p:sp>
        <p:nvSpPr>
          <p:cNvPr id="22" name="">
            <a:extLst xmlns:a="http://schemas.openxmlformats.org/drawingml/2006/main">
              <a:ext uri="{FF2B5EF4-FFF2-40B4-BE49-F238E27FC236}">
                <a16:creationId xmlns:a16="http://schemas.microsoft.com/office/drawing/2014/main" id="{AE76F877-EC05-46EF-870C-F92382D3147A}"/>
              </a:ext>
            </a:extLst>
          </p:cNvPr>
          <p:cNvSpPr>
            <a:spLocks xmlns:a="http://schemas.openxmlformats.org/drawingml/2006/main" noGrp="1"/>
          </p:cNvSpPr>
          <p:nvPr/>
        </p:nvSpPr>
        <p:spPr>
          <a:xfrm xmlns:a="http://schemas.openxmlformats.org/drawingml/2006/main">
            <a:off x="5219700" y="24098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3" name="">
            <a:extLst xmlns:a="http://schemas.openxmlformats.org/drawingml/2006/main">
              <a:ext uri="{FF2B5EF4-FFF2-40B4-BE49-F238E27FC236}">
                <a16:creationId xmlns:a16="http://schemas.microsoft.com/office/drawing/2014/main" id="{01980460-8108-42A1-B7D9-3B0EE3C37010}"/>
              </a:ext>
            </a:extLst>
          </p:cNvPr>
          <p:cNvSpPr>
            <a:spLocks xmlns:a="http://schemas.openxmlformats.org/drawingml/2006/main" noGrp="1"/>
          </p:cNvSpPr>
          <p:nvPr/>
        </p:nvSpPr>
        <p:spPr>
          <a:xfrm xmlns:a="http://schemas.openxmlformats.org/drawingml/2006/main">
            <a:off x="5314950" y="24955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Weak</a:t>
            </a:r>
          </a:p>
        </p:txBody>
      </p:sp>
      <p:sp>
        <p:nvSpPr>
          <p:cNvPr id="24" name="">
            <a:extLst xmlns:a="http://schemas.openxmlformats.org/drawingml/2006/main">
              <a:ext uri="{FF2B5EF4-FFF2-40B4-BE49-F238E27FC236}">
                <a16:creationId xmlns:a16="http://schemas.microsoft.com/office/drawing/2014/main" id="{106A4106-6FDD-45C0-9956-0B2025803D75}"/>
              </a:ext>
            </a:extLst>
          </p:cNvPr>
          <p:cNvSpPr>
            <a:spLocks xmlns:a="http://schemas.openxmlformats.org/drawingml/2006/main" noGrp="1"/>
          </p:cNvSpPr>
          <p:nvPr/>
        </p:nvSpPr>
        <p:spPr>
          <a:xfrm xmlns:a="http://schemas.openxmlformats.org/drawingml/2006/main">
            <a:off x="6915150" y="24098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5" name="">
            <a:extLst xmlns:a="http://schemas.openxmlformats.org/drawingml/2006/main">
              <a:ext uri="{FF2B5EF4-FFF2-40B4-BE49-F238E27FC236}">
                <a16:creationId xmlns:a16="http://schemas.microsoft.com/office/drawing/2014/main" id="{05245EC2-BB85-4E65-ADBE-C1052AC49DE0}"/>
              </a:ext>
            </a:extLst>
          </p:cNvPr>
          <p:cNvSpPr>
            <a:spLocks xmlns:a="http://schemas.openxmlformats.org/drawingml/2006/main" noGrp="1"/>
          </p:cNvSpPr>
          <p:nvPr/>
        </p:nvSpPr>
        <p:spPr>
          <a:xfrm xmlns:a="http://schemas.openxmlformats.org/drawingml/2006/main">
            <a:off x="7010400" y="24955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None</a:t>
            </a:r>
          </a:p>
        </p:txBody>
      </p:sp>
      <p:sp>
        <p:nvSpPr>
          <p:cNvPr id="26" name="">
            <a:extLst xmlns:a="http://schemas.openxmlformats.org/drawingml/2006/main">
              <a:ext uri="{FF2B5EF4-FFF2-40B4-BE49-F238E27FC236}">
                <a16:creationId xmlns:a16="http://schemas.microsoft.com/office/drawing/2014/main" id="{599E05A5-B6CD-4925-9041-05FBF004AADE}"/>
              </a:ext>
            </a:extLst>
          </p:cNvPr>
          <p:cNvSpPr>
            <a:spLocks xmlns:a="http://schemas.openxmlformats.org/drawingml/2006/main" noGrp="1"/>
          </p:cNvSpPr>
          <p:nvPr/>
        </p:nvSpPr>
        <p:spPr>
          <a:xfrm xmlns:a="http://schemas.openxmlformats.org/drawingml/2006/main">
            <a:off x="8610600" y="24098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7" name="">
            <a:extLst xmlns:a="http://schemas.openxmlformats.org/drawingml/2006/main">
              <a:ext uri="{FF2B5EF4-FFF2-40B4-BE49-F238E27FC236}">
                <a16:creationId xmlns:a16="http://schemas.microsoft.com/office/drawing/2014/main" id="{86D13DA4-7524-4DCA-8295-9C5E0CE005DE}"/>
              </a:ext>
            </a:extLst>
          </p:cNvPr>
          <p:cNvSpPr>
            <a:spLocks xmlns:a="http://schemas.openxmlformats.org/drawingml/2006/main" noGrp="1"/>
          </p:cNvSpPr>
          <p:nvPr/>
        </p:nvSpPr>
        <p:spPr>
          <a:xfrm xmlns:a="http://schemas.openxmlformats.org/drawingml/2006/main">
            <a:off x="8705850" y="24955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Partial</a:t>
            </a:r>
          </a:p>
        </p:txBody>
      </p:sp>
      <p:sp>
        <p:nvSpPr>
          <p:cNvPr id="28" name="">
            <a:extLst xmlns:a="http://schemas.openxmlformats.org/drawingml/2006/main">
              <a:ext uri="{FF2B5EF4-FFF2-40B4-BE49-F238E27FC236}">
                <a16:creationId xmlns:a16="http://schemas.microsoft.com/office/drawing/2014/main" id="{DCF7E37A-1A78-4FEC-B135-57ECC9B77BBF}"/>
              </a:ext>
            </a:extLst>
          </p:cNvPr>
          <p:cNvSpPr>
            <a:spLocks xmlns:a="http://schemas.openxmlformats.org/drawingml/2006/main" noGrp="1"/>
          </p:cNvSpPr>
          <p:nvPr/>
        </p:nvSpPr>
        <p:spPr>
          <a:xfrm xmlns:a="http://schemas.openxmlformats.org/drawingml/2006/main">
            <a:off x="10306050" y="2409825"/>
            <a:ext cx="1200150"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9" name="">
            <a:extLst xmlns:a="http://schemas.openxmlformats.org/drawingml/2006/main">
              <a:ext uri="{FF2B5EF4-FFF2-40B4-BE49-F238E27FC236}">
                <a16:creationId xmlns:a16="http://schemas.microsoft.com/office/drawing/2014/main" id="{BCC301C5-1AB5-4458-8EF6-8A694560E105}"/>
              </a:ext>
            </a:extLst>
          </p:cNvPr>
          <p:cNvSpPr>
            <a:spLocks xmlns:a="http://schemas.openxmlformats.org/drawingml/2006/main" noGrp="1"/>
          </p:cNvSpPr>
          <p:nvPr/>
        </p:nvSpPr>
        <p:spPr>
          <a:xfrm xmlns:a="http://schemas.openxmlformats.org/drawingml/2006/main">
            <a:off x="10401300" y="2495550"/>
            <a:ext cx="1009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Find label issues</a:t>
            </a:r>
          </a:p>
        </p:txBody>
      </p:sp>
      <p:sp>
        <p:nvSpPr>
          <p:cNvPr id="30" name="">
            <a:extLst xmlns:a="http://schemas.openxmlformats.org/drawingml/2006/main">
              <a:ext uri="{FF2B5EF4-FFF2-40B4-BE49-F238E27FC236}">
                <a16:creationId xmlns:a16="http://schemas.microsoft.com/office/drawing/2014/main" id="{8BAB3977-2021-4E59-AF2C-0604D831C315}"/>
              </a:ext>
            </a:extLst>
          </p:cNvPr>
          <p:cNvSpPr>
            <a:spLocks xmlns:a="http://schemas.openxmlformats.org/drawingml/2006/main" noGrp="1"/>
          </p:cNvSpPr>
          <p:nvPr/>
        </p:nvSpPr>
        <p:spPr>
          <a:xfrm xmlns:a="http://schemas.openxmlformats.org/drawingml/2006/main">
            <a:off x="685800" y="3114675"/>
            <a:ext cx="2714625"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1" name="">
            <a:extLst xmlns:a="http://schemas.openxmlformats.org/drawingml/2006/main">
              <a:ext uri="{FF2B5EF4-FFF2-40B4-BE49-F238E27FC236}">
                <a16:creationId xmlns:a16="http://schemas.microsoft.com/office/drawing/2014/main" id="{CAFFAB77-115C-425A-884F-E2BF9AD2F92C}"/>
              </a:ext>
            </a:extLst>
          </p:cNvPr>
          <p:cNvSpPr>
            <a:spLocks xmlns:a="http://schemas.openxmlformats.org/drawingml/2006/main" noGrp="1"/>
          </p:cNvSpPr>
          <p:nvPr/>
        </p:nvSpPr>
        <p:spPr>
          <a:xfrm xmlns:a="http://schemas.openxmlformats.org/drawingml/2006/main">
            <a:off x="781050" y="32004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TrojAI / BackdoorBench</a:t>
            </a:r>
          </a:p>
        </p:txBody>
      </p:sp>
      <p:sp>
        <p:nvSpPr>
          <p:cNvPr id="32" name="">
            <a:extLst xmlns:a="http://schemas.openxmlformats.org/drawingml/2006/main">
              <a:ext uri="{FF2B5EF4-FFF2-40B4-BE49-F238E27FC236}">
                <a16:creationId xmlns:a16="http://schemas.microsoft.com/office/drawing/2014/main" id="{216014BF-C1D9-4E76-B71D-EB84D1FDC41B}"/>
              </a:ext>
            </a:extLst>
          </p:cNvPr>
          <p:cNvSpPr>
            <a:spLocks xmlns:a="http://schemas.openxmlformats.org/drawingml/2006/main" noGrp="1"/>
          </p:cNvSpPr>
          <p:nvPr/>
        </p:nvSpPr>
        <p:spPr>
          <a:xfrm xmlns:a="http://schemas.openxmlformats.org/drawingml/2006/main">
            <a:off x="3524250" y="3114675"/>
            <a:ext cx="1571625"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3" name="">
            <a:extLst xmlns:a="http://schemas.openxmlformats.org/drawingml/2006/main">
              <a:ext uri="{FF2B5EF4-FFF2-40B4-BE49-F238E27FC236}">
                <a16:creationId xmlns:a16="http://schemas.microsoft.com/office/drawing/2014/main" id="{DE0B911D-8776-4240-9A81-4FD3CCE1E708}"/>
              </a:ext>
            </a:extLst>
          </p:cNvPr>
          <p:cNvSpPr>
            <a:spLocks xmlns:a="http://schemas.openxmlformats.org/drawingml/2006/main" noGrp="1"/>
          </p:cNvSpPr>
          <p:nvPr/>
        </p:nvSpPr>
        <p:spPr>
          <a:xfrm xmlns:a="http://schemas.openxmlformats.org/drawingml/2006/main">
            <a:off x="3619500" y="32004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Examples</a:t>
            </a:r>
          </a:p>
        </p:txBody>
      </p:sp>
      <p:sp>
        <p:nvSpPr>
          <p:cNvPr id="34" name="">
            <a:extLst xmlns:a="http://schemas.openxmlformats.org/drawingml/2006/main">
              <a:ext uri="{FF2B5EF4-FFF2-40B4-BE49-F238E27FC236}">
                <a16:creationId xmlns:a16="http://schemas.microsoft.com/office/drawing/2014/main" id="{03287870-6F74-4A02-8AAA-92C5C9ABF866}"/>
              </a:ext>
            </a:extLst>
          </p:cNvPr>
          <p:cNvSpPr>
            <a:spLocks xmlns:a="http://schemas.openxmlformats.org/drawingml/2006/main" noGrp="1"/>
          </p:cNvSpPr>
          <p:nvPr/>
        </p:nvSpPr>
        <p:spPr>
          <a:xfrm xmlns:a="http://schemas.openxmlformats.org/drawingml/2006/main">
            <a:off x="5219700" y="3114675"/>
            <a:ext cx="1571625"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5" name="">
            <a:extLst xmlns:a="http://schemas.openxmlformats.org/drawingml/2006/main">
              <a:ext uri="{FF2B5EF4-FFF2-40B4-BE49-F238E27FC236}">
                <a16:creationId xmlns:a16="http://schemas.microsoft.com/office/drawing/2014/main" id="{2F8AC903-C744-4C22-ABEA-E2C553F1E8B2}"/>
              </a:ext>
            </a:extLst>
          </p:cNvPr>
          <p:cNvSpPr>
            <a:spLocks xmlns:a="http://schemas.openxmlformats.org/drawingml/2006/main" noGrp="1"/>
          </p:cNvSpPr>
          <p:nvPr/>
        </p:nvSpPr>
        <p:spPr>
          <a:xfrm xmlns:a="http://schemas.openxmlformats.org/drawingml/2006/main">
            <a:off x="5314950" y="32004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Strong</a:t>
            </a:r>
          </a:p>
        </p:txBody>
      </p:sp>
      <p:sp>
        <p:nvSpPr>
          <p:cNvPr id="36" name="">
            <a:extLst xmlns:a="http://schemas.openxmlformats.org/drawingml/2006/main">
              <a:ext uri="{FF2B5EF4-FFF2-40B4-BE49-F238E27FC236}">
                <a16:creationId xmlns:a16="http://schemas.microsoft.com/office/drawing/2014/main" id="{44154554-8FDD-49C2-959F-1858E95493CC}"/>
              </a:ext>
            </a:extLst>
          </p:cNvPr>
          <p:cNvSpPr>
            <a:spLocks xmlns:a="http://schemas.openxmlformats.org/drawingml/2006/main" noGrp="1"/>
          </p:cNvSpPr>
          <p:nvPr/>
        </p:nvSpPr>
        <p:spPr>
          <a:xfrm xmlns:a="http://schemas.openxmlformats.org/drawingml/2006/main">
            <a:off x="6915150" y="3114675"/>
            <a:ext cx="1571625"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7" name="">
            <a:extLst xmlns:a="http://schemas.openxmlformats.org/drawingml/2006/main">
              <a:ext uri="{FF2B5EF4-FFF2-40B4-BE49-F238E27FC236}">
                <a16:creationId xmlns:a16="http://schemas.microsoft.com/office/drawing/2014/main" id="{43998C0D-07CA-4848-940F-5295F29A3824}"/>
              </a:ext>
            </a:extLst>
          </p:cNvPr>
          <p:cNvSpPr>
            <a:spLocks xmlns:a="http://schemas.openxmlformats.org/drawingml/2006/main" noGrp="1"/>
          </p:cNvSpPr>
          <p:nvPr/>
        </p:nvSpPr>
        <p:spPr>
          <a:xfrm xmlns:a="http://schemas.openxmlformats.org/drawingml/2006/main">
            <a:off x="7010400" y="32004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None</a:t>
            </a:r>
          </a:p>
        </p:txBody>
      </p:sp>
      <p:sp>
        <p:nvSpPr>
          <p:cNvPr id="38" name="">
            <a:extLst xmlns:a="http://schemas.openxmlformats.org/drawingml/2006/main">
              <a:ext uri="{FF2B5EF4-FFF2-40B4-BE49-F238E27FC236}">
                <a16:creationId xmlns:a16="http://schemas.microsoft.com/office/drawing/2014/main" id="{97E2CB50-C4CD-47F5-BEE2-887075363298}"/>
              </a:ext>
            </a:extLst>
          </p:cNvPr>
          <p:cNvSpPr>
            <a:spLocks xmlns:a="http://schemas.openxmlformats.org/drawingml/2006/main" noGrp="1"/>
          </p:cNvSpPr>
          <p:nvPr/>
        </p:nvSpPr>
        <p:spPr>
          <a:xfrm xmlns:a="http://schemas.openxmlformats.org/drawingml/2006/main">
            <a:off x="8610600" y="3114675"/>
            <a:ext cx="1571625"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9" name="">
            <a:extLst xmlns:a="http://schemas.openxmlformats.org/drawingml/2006/main">
              <a:ext uri="{FF2B5EF4-FFF2-40B4-BE49-F238E27FC236}">
                <a16:creationId xmlns:a16="http://schemas.microsoft.com/office/drawing/2014/main" id="{8A840858-ADDA-4991-A6DE-F62A1BFD482E}"/>
              </a:ext>
            </a:extLst>
          </p:cNvPr>
          <p:cNvSpPr>
            <a:spLocks xmlns:a="http://schemas.openxmlformats.org/drawingml/2006/main" noGrp="1"/>
          </p:cNvSpPr>
          <p:nvPr/>
        </p:nvSpPr>
        <p:spPr>
          <a:xfrm xmlns:a="http://schemas.openxmlformats.org/drawingml/2006/main">
            <a:off x="8705850" y="32004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None</a:t>
            </a:r>
          </a:p>
        </p:txBody>
      </p:sp>
      <p:sp>
        <p:nvSpPr>
          <p:cNvPr id="40" name="">
            <a:extLst xmlns:a="http://schemas.openxmlformats.org/drawingml/2006/main">
              <a:ext uri="{FF2B5EF4-FFF2-40B4-BE49-F238E27FC236}">
                <a16:creationId xmlns:a16="http://schemas.microsoft.com/office/drawing/2014/main" id="{B7BADB78-8A8B-412A-8E5A-96E885CE2046}"/>
              </a:ext>
            </a:extLst>
          </p:cNvPr>
          <p:cNvSpPr>
            <a:spLocks xmlns:a="http://schemas.openxmlformats.org/drawingml/2006/main" noGrp="1"/>
          </p:cNvSpPr>
          <p:nvPr/>
        </p:nvSpPr>
        <p:spPr>
          <a:xfrm xmlns:a="http://schemas.openxmlformats.org/drawingml/2006/main">
            <a:off x="10306050" y="3114675"/>
            <a:ext cx="1200150" cy="7048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41" name="">
            <a:extLst xmlns:a="http://schemas.openxmlformats.org/drawingml/2006/main">
              <a:ext uri="{FF2B5EF4-FFF2-40B4-BE49-F238E27FC236}">
                <a16:creationId xmlns:a16="http://schemas.microsoft.com/office/drawing/2014/main" id="{777EBF5C-2558-4316-9E0B-4B14432BF9D4}"/>
              </a:ext>
            </a:extLst>
          </p:cNvPr>
          <p:cNvSpPr>
            <a:spLocks xmlns:a="http://schemas.openxmlformats.org/drawingml/2006/main" noGrp="1"/>
          </p:cNvSpPr>
          <p:nvPr/>
        </p:nvSpPr>
        <p:spPr>
          <a:xfrm xmlns:a="http://schemas.openxmlformats.org/drawingml/2006/main">
            <a:off x="10401300" y="3200400"/>
            <a:ext cx="1009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Benchmark attacks</a:t>
            </a:r>
          </a:p>
        </p:txBody>
      </p:sp>
      <p:sp>
        <p:nvSpPr>
          <p:cNvPr id="42" name="">
            <a:extLst xmlns:a="http://schemas.openxmlformats.org/drawingml/2006/main">
              <a:ext uri="{FF2B5EF4-FFF2-40B4-BE49-F238E27FC236}">
                <a16:creationId xmlns:a16="http://schemas.microsoft.com/office/drawing/2014/main" id="{A7CDB05E-E330-478A-B2A5-2AB366422E4E}"/>
              </a:ext>
            </a:extLst>
          </p:cNvPr>
          <p:cNvSpPr>
            <a:spLocks xmlns:a="http://schemas.openxmlformats.org/drawingml/2006/main" noGrp="1"/>
          </p:cNvSpPr>
          <p:nvPr/>
        </p:nvSpPr>
        <p:spPr>
          <a:xfrm xmlns:a="http://schemas.openxmlformats.org/drawingml/2006/main">
            <a:off x="685800" y="3819525"/>
            <a:ext cx="2714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3" name="">
            <a:extLst xmlns:a="http://schemas.openxmlformats.org/drawingml/2006/main">
              <a:ext uri="{FF2B5EF4-FFF2-40B4-BE49-F238E27FC236}">
                <a16:creationId xmlns:a16="http://schemas.microsoft.com/office/drawing/2014/main" id="{6241C006-8D92-44ED-BE29-9F160E1CF15E}"/>
              </a:ext>
            </a:extLst>
          </p:cNvPr>
          <p:cNvSpPr>
            <a:spLocks xmlns:a="http://schemas.openxmlformats.org/drawingml/2006/main" noGrp="1"/>
          </p:cNvSpPr>
          <p:nvPr/>
        </p:nvSpPr>
        <p:spPr>
          <a:xfrm xmlns:a="http://schemas.openxmlformats.org/drawingml/2006/main">
            <a:off x="781050" y="390525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SLSA / C2PA-style provenance</a:t>
            </a:r>
          </a:p>
        </p:txBody>
      </p:sp>
      <p:sp>
        <p:nvSpPr>
          <p:cNvPr id="44" name="">
            <a:extLst xmlns:a="http://schemas.openxmlformats.org/drawingml/2006/main">
              <a:ext uri="{FF2B5EF4-FFF2-40B4-BE49-F238E27FC236}">
                <a16:creationId xmlns:a16="http://schemas.microsoft.com/office/drawing/2014/main" id="{87893E42-5668-43BC-81EE-82164F443633}"/>
              </a:ext>
            </a:extLst>
          </p:cNvPr>
          <p:cNvSpPr>
            <a:spLocks xmlns:a="http://schemas.openxmlformats.org/drawingml/2006/main" noGrp="1"/>
          </p:cNvSpPr>
          <p:nvPr/>
        </p:nvSpPr>
        <p:spPr>
          <a:xfrm xmlns:a="http://schemas.openxmlformats.org/drawingml/2006/main">
            <a:off x="3524250" y="38195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5" name="">
            <a:extLst xmlns:a="http://schemas.openxmlformats.org/drawingml/2006/main">
              <a:ext uri="{FF2B5EF4-FFF2-40B4-BE49-F238E27FC236}">
                <a16:creationId xmlns:a16="http://schemas.microsoft.com/office/drawing/2014/main" id="{B39DC336-82B7-4FC1-8F49-FBEEE6988D9D}"/>
              </a:ext>
            </a:extLst>
          </p:cNvPr>
          <p:cNvSpPr>
            <a:spLocks xmlns:a="http://schemas.openxmlformats.org/drawingml/2006/main" noGrp="1"/>
          </p:cNvSpPr>
          <p:nvPr/>
        </p:nvSpPr>
        <p:spPr>
          <a:xfrm xmlns:a="http://schemas.openxmlformats.org/drawingml/2006/main">
            <a:off x="3619500" y="3905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None</a:t>
            </a:r>
          </a:p>
        </p:txBody>
      </p:sp>
      <p:sp>
        <p:nvSpPr>
          <p:cNvPr id="46" name="">
            <a:extLst xmlns:a="http://schemas.openxmlformats.org/drawingml/2006/main">
              <a:ext uri="{FF2B5EF4-FFF2-40B4-BE49-F238E27FC236}">
                <a16:creationId xmlns:a16="http://schemas.microsoft.com/office/drawing/2014/main" id="{48B022DD-9617-445E-AE1B-303640DE9F12}"/>
              </a:ext>
            </a:extLst>
          </p:cNvPr>
          <p:cNvSpPr>
            <a:spLocks xmlns:a="http://schemas.openxmlformats.org/drawingml/2006/main" noGrp="1"/>
          </p:cNvSpPr>
          <p:nvPr/>
        </p:nvSpPr>
        <p:spPr>
          <a:xfrm xmlns:a="http://schemas.openxmlformats.org/drawingml/2006/main">
            <a:off x="5219700" y="38195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7" name="">
            <a:extLst xmlns:a="http://schemas.openxmlformats.org/drawingml/2006/main">
              <a:ext uri="{FF2B5EF4-FFF2-40B4-BE49-F238E27FC236}">
                <a16:creationId xmlns:a16="http://schemas.microsoft.com/office/drawing/2014/main" id="{7A0BFDD7-C398-407A-B221-CC6F066314F5}"/>
              </a:ext>
            </a:extLst>
          </p:cNvPr>
          <p:cNvSpPr>
            <a:spLocks xmlns:a="http://schemas.openxmlformats.org/drawingml/2006/main" noGrp="1"/>
          </p:cNvSpPr>
          <p:nvPr/>
        </p:nvSpPr>
        <p:spPr>
          <a:xfrm xmlns:a="http://schemas.openxmlformats.org/drawingml/2006/main">
            <a:off x="5314950" y="3905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Identity</a:t>
            </a:r>
          </a:p>
        </p:txBody>
      </p:sp>
      <p:sp>
        <p:nvSpPr>
          <p:cNvPr id="48" name="">
            <a:extLst xmlns:a="http://schemas.openxmlformats.org/drawingml/2006/main">
              <a:ext uri="{FF2B5EF4-FFF2-40B4-BE49-F238E27FC236}">
                <a16:creationId xmlns:a16="http://schemas.microsoft.com/office/drawing/2014/main" id="{7FB8D300-8354-46F2-A7D5-2F47F14CA632}"/>
              </a:ext>
            </a:extLst>
          </p:cNvPr>
          <p:cNvSpPr>
            <a:spLocks xmlns:a="http://schemas.openxmlformats.org/drawingml/2006/main" noGrp="1"/>
          </p:cNvSpPr>
          <p:nvPr/>
        </p:nvSpPr>
        <p:spPr>
          <a:xfrm xmlns:a="http://schemas.openxmlformats.org/drawingml/2006/main">
            <a:off x="6915150" y="38195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9" name="">
            <a:extLst xmlns:a="http://schemas.openxmlformats.org/drawingml/2006/main">
              <a:ext uri="{FF2B5EF4-FFF2-40B4-BE49-F238E27FC236}">
                <a16:creationId xmlns:a16="http://schemas.microsoft.com/office/drawing/2014/main" id="{16F7718F-0F82-4F48-86F0-71C163226BCE}"/>
              </a:ext>
            </a:extLst>
          </p:cNvPr>
          <p:cNvSpPr>
            <a:spLocks xmlns:a="http://schemas.openxmlformats.org/drawingml/2006/main" noGrp="1"/>
          </p:cNvSpPr>
          <p:nvPr/>
        </p:nvSpPr>
        <p:spPr>
          <a:xfrm xmlns:a="http://schemas.openxmlformats.org/drawingml/2006/main">
            <a:off x="7010400" y="3905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Strong</a:t>
            </a:r>
          </a:p>
        </p:txBody>
      </p:sp>
      <p:sp>
        <p:nvSpPr>
          <p:cNvPr id="50" name="">
            <a:extLst xmlns:a="http://schemas.openxmlformats.org/drawingml/2006/main">
              <a:ext uri="{FF2B5EF4-FFF2-40B4-BE49-F238E27FC236}">
                <a16:creationId xmlns:a16="http://schemas.microsoft.com/office/drawing/2014/main" id="{4CC85926-8731-4E8F-A70F-8E9191F66F5D}"/>
              </a:ext>
            </a:extLst>
          </p:cNvPr>
          <p:cNvSpPr>
            <a:spLocks xmlns:a="http://schemas.openxmlformats.org/drawingml/2006/main" noGrp="1"/>
          </p:cNvSpPr>
          <p:nvPr/>
        </p:nvSpPr>
        <p:spPr>
          <a:xfrm xmlns:a="http://schemas.openxmlformats.org/drawingml/2006/main">
            <a:off x="8610600" y="3819525"/>
            <a:ext cx="1571625"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51" name="">
            <a:extLst xmlns:a="http://schemas.openxmlformats.org/drawingml/2006/main">
              <a:ext uri="{FF2B5EF4-FFF2-40B4-BE49-F238E27FC236}">
                <a16:creationId xmlns:a16="http://schemas.microsoft.com/office/drawing/2014/main" id="{40ED073E-A951-4D29-ABDA-C69F43C09746}"/>
              </a:ext>
            </a:extLst>
          </p:cNvPr>
          <p:cNvSpPr>
            <a:spLocks xmlns:a="http://schemas.openxmlformats.org/drawingml/2006/main" noGrp="1"/>
          </p:cNvSpPr>
          <p:nvPr/>
        </p:nvSpPr>
        <p:spPr>
          <a:xfrm xmlns:a="http://schemas.openxmlformats.org/drawingml/2006/main">
            <a:off x="8705850" y="390525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None</a:t>
            </a:r>
          </a:p>
        </p:txBody>
      </p:sp>
      <p:sp>
        <p:nvSpPr>
          <p:cNvPr id="52" name="">
            <a:extLst xmlns:a="http://schemas.openxmlformats.org/drawingml/2006/main">
              <a:ext uri="{FF2B5EF4-FFF2-40B4-BE49-F238E27FC236}">
                <a16:creationId xmlns:a16="http://schemas.microsoft.com/office/drawing/2014/main" id="{95DB4012-346A-4D29-AF9F-9DAA4D2DB5DD}"/>
              </a:ext>
            </a:extLst>
          </p:cNvPr>
          <p:cNvSpPr>
            <a:spLocks xmlns:a="http://schemas.openxmlformats.org/drawingml/2006/main" noGrp="1"/>
          </p:cNvSpPr>
          <p:nvPr/>
        </p:nvSpPr>
        <p:spPr>
          <a:xfrm xmlns:a="http://schemas.openxmlformats.org/drawingml/2006/main">
            <a:off x="10306050" y="3819525"/>
            <a:ext cx="1200150" cy="7048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53" name="">
            <a:extLst xmlns:a="http://schemas.openxmlformats.org/drawingml/2006/main">
              <a:ext uri="{FF2B5EF4-FFF2-40B4-BE49-F238E27FC236}">
                <a16:creationId xmlns:a16="http://schemas.microsoft.com/office/drawing/2014/main" id="{0F798E92-957D-4B70-8098-77EDE3E0E5D1}"/>
              </a:ext>
            </a:extLst>
          </p:cNvPr>
          <p:cNvSpPr>
            <a:spLocks xmlns:a="http://schemas.openxmlformats.org/drawingml/2006/main" noGrp="1"/>
          </p:cNvSpPr>
          <p:nvPr/>
        </p:nvSpPr>
        <p:spPr>
          <a:xfrm xmlns:a="http://schemas.openxmlformats.org/drawingml/2006/main">
            <a:off x="10401300" y="3905250"/>
            <a:ext cx="1009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Track origin</a:t>
            </a:r>
          </a:p>
        </p:txBody>
      </p:sp>
      <p:sp>
        <p:nvSpPr>
          <p:cNvPr id="54" name="">
            <a:extLst xmlns:a="http://schemas.openxmlformats.org/drawingml/2006/main">
              <a:ext uri="{FF2B5EF4-FFF2-40B4-BE49-F238E27FC236}">
                <a16:creationId xmlns:a16="http://schemas.microsoft.com/office/drawing/2014/main" id="{ADD54858-6D10-45B8-A466-49ED74A150D6}"/>
              </a:ext>
            </a:extLst>
          </p:cNvPr>
          <p:cNvSpPr>
            <a:spLocks xmlns:a="http://schemas.openxmlformats.org/drawingml/2006/main" noGrp="1"/>
          </p:cNvSpPr>
          <p:nvPr/>
        </p:nvSpPr>
        <p:spPr>
          <a:xfrm xmlns:a="http://schemas.openxmlformats.org/drawingml/2006/main">
            <a:off x="685800" y="4524375"/>
            <a:ext cx="2714625"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55" name="">
            <a:extLst xmlns:a="http://schemas.openxmlformats.org/drawingml/2006/main">
              <a:ext uri="{FF2B5EF4-FFF2-40B4-BE49-F238E27FC236}">
                <a16:creationId xmlns:a16="http://schemas.microsoft.com/office/drawing/2014/main" id="{4585986A-14DC-4F2C-8C61-4F00ED7D0D79}"/>
              </a:ext>
            </a:extLst>
          </p:cNvPr>
          <p:cNvSpPr>
            <a:spLocks xmlns:a="http://schemas.openxmlformats.org/drawingml/2006/main" noGrp="1"/>
          </p:cNvSpPr>
          <p:nvPr/>
        </p:nvSpPr>
        <p:spPr>
          <a:xfrm xmlns:a="http://schemas.openxmlformats.org/drawingml/2006/main">
            <a:off x="781050" y="46101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3694C"/>
                </a:solidFill>
                <a:latin typeface="Helvetica Neue"/>
                <a:ea typeface="Helvetica Neue"/>
                <a:cs typeface="Helvetica Neue"/>
              </a:defRPr>
            </a:pPr>
            <a:r>
              <a:rPr sz="1125" b="1">
                <a:solidFill>
                  <a:srgbClr val="53694C"/>
                </a:solidFill>
                <a:latin typeface="Helvetica Neue"/>
                <a:ea typeface="Helvetica Neue"/>
                <a:cs typeface="Helvetica Neue"/>
              </a:rPr>
              <a:t>PramaanCV assurance case</a:t>
            </a:r>
          </a:p>
        </p:txBody>
      </p:sp>
      <p:sp>
        <p:nvSpPr>
          <p:cNvPr id="56" name="">
            <a:extLst xmlns:a="http://schemas.openxmlformats.org/drawingml/2006/main">
              <a:ext uri="{FF2B5EF4-FFF2-40B4-BE49-F238E27FC236}">
                <a16:creationId xmlns:a16="http://schemas.microsoft.com/office/drawing/2014/main" id="{49603614-5706-40B1-B4DC-D616A8701779}"/>
              </a:ext>
            </a:extLst>
          </p:cNvPr>
          <p:cNvSpPr>
            <a:spLocks xmlns:a="http://schemas.openxmlformats.org/drawingml/2006/main" noGrp="1"/>
          </p:cNvSpPr>
          <p:nvPr/>
        </p:nvSpPr>
        <p:spPr>
          <a:xfrm xmlns:a="http://schemas.openxmlformats.org/drawingml/2006/main">
            <a:off x="3524250" y="4524375"/>
            <a:ext cx="1571625"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57" name="">
            <a:extLst xmlns:a="http://schemas.openxmlformats.org/drawingml/2006/main">
              <a:ext uri="{FF2B5EF4-FFF2-40B4-BE49-F238E27FC236}">
                <a16:creationId xmlns:a16="http://schemas.microsoft.com/office/drawing/2014/main" id="{15068847-4F71-4AAB-A3BB-8DA8B6AF2DD6}"/>
              </a:ext>
            </a:extLst>
          </p:cNvPr>
          <p:cNvSpPr>
            <a:spLocks xmlns:a="http://schemas.openxmlformats.org/drawingml/2006/main" noGrp="1"/>
          </p:cNvSpPr>
          <p:nvPr/>
        </p:nvSpPr>
        <p:spPr>
          <a:xfrm xmlns:a="http://schemas.openxmlformats.org/drawingml/2006/main">
            <a:off x="3619500" y="46101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3694C"/>
                </a:solidFill>
                <a:latin typeface="Helvetica Neue"/>
                <a:ea typeface="Helvetica Neue"/>
                <a:cs typeface="Helvetica Neue"/>
              </a:defRPr>
            </a:pPr>
            <a:r>
              <a:rPr sz="1050" b="1">
                <a:solidFill>
                  <a:srgbClr val="53694C"/>
                </a:solidFill>
                <a:latin typeface="Helvetica Neue"/>
                <a:ea typeface="Helvetica Neue"/>
                <a:cs typeface="Helvetica Neue"/>
              </a:rPr>
              <a:t>Strong</a:t>
            </a:r>
          </a:p>
        </p:txBody>
      </p:sp>
      <p:sp>
        <p:nvSpPr>
          <p:cNvPr id="58" name="">
            <a:extLst xmlns:a="http://schemas.openxmlformats.org/drawingml/2006/main">
              <a:ext uri="{FF2B5EF4-FFF2-40B4-BE49-F238E27FC236}">
                <a16:creationId xmlns:a16="http://schemas.microsoft.com/office/drawing/2014/main" id="{7E3BBF70-E82F-4E88-9487-55C7888CD8E4}"/>
              </a:ext>
            </a:extLst>
          </p:cNvPr>
          <p:cNvSpPr>
            <a:spLocks xmlns:a="http://schemas.openxmlformats.org/drawingml/2006/main" noGrp="1"/>
          </p:cNvSpPr>
          <p:nvPr/>
        </p:nvSpPr>
        <p:spPr>
          <a:xfrm xmlns:a="http://schemas.openxmlformats.org/drawingml/2006/main">
            <a:off x="5219700" y="4524375"/>
            <a:ext cx="1571625"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59" name="">
            <a:extLst xmlns:a="http://schemas.openxmlformats.org/drawingml/2006/main">
              <a:ext uri="{FF2B5EF4-FFF2-40B4-BE49-F238E27FC236}">
                <a16:creationId xmlns:a16="http://schemas.microsoft.com/office/drawing/2014/main" id="{A02956B4-7FBC-4CCA-9DEC-3F15392B2424}"/>
              </a:ext>
            </a:extLst>
          </p:cNvPr>
          <p:cNvSpPr>
            <a:spLocks xmlns:a="http://schemas.openxmlformats.org/drawingml/2006/main" noGrp="1"/>
          </p:cNvSpPr>
          <p:nvPr/>
        </p:nvSpPr>
        <p:spPr>
          <a:xfrm xmlns:a="http://schemas.openxmlformats.org/drawingml/2006/main">
            <a:off x="5314950" y="46101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3694C"/>
                </a:solidFill>
                <a:latin typeface="Helvetica Neue"/>
                <a:ea typeface="Helvetica Neue"/>
                <a:cs typeface="Helvetica Neue"/>
              </a:defRPr>
            </a:pPr>
            <a:r>
              <a:rPr sz="1050" b="1">
                <a:solidFill>
                  <a:srgbClr val="53694C"/>
                </a:solidFill>
                <a:latin typeface="Helvetica Neue"/>
                <a:ea typeface="Helvetica Neue"/>
                <a:cs typeface="Helvetica Neue"/>
              </a:rPr>
              <a:t>Strong</a:t>
            </a:r>
          </a:p>
        </p:txBody>
      </p:sp>
      <p:sp>
        <p:nvSpPr>
          <p:cNvPr id="60" name="">
            <a:extLst xmlns:a="http://schemas.openxmlformats.org/drawingml/2006/main">
              <a:ext uri="{FF2B5EF4-FFF2-40B4-BE49-F238E27FC236}">
                <a16:creationId xmlns:a16="http://schemas.microsoft.com/office/drawing/2014/main" id="{6C845F46-AA08-433E-B3CB-BCC41802DFDF}"/>
              </a:ext>
            </a:extLst>
          </p:cNvPr>
          <p:cNvSpPr>
            <a:spLocks xmlns:a="http://schemas.openxmlformats.org/drawingml/2006/main" noGrp="1"/>
          </p:cNvSpPr>
          <p:nvPr/>
        </p:nvSpPr>
        <p:spPr>
          <a:xfrm xmlns:a="http://schemas.openxmlformats.org/drawingml/2006/main">
            <a:off x="6915150" y="4524375"/>
            <a:ext cx="1571625"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61" name="">
            <a:extLst xmlns:a="http://schemas.openxmlformats.org/drawingml/2006/main">
              <a:ext uri="{FF2B5EF4-FFF2-40B4-BE49-F238E27FC236}">
                <a16:creationId xmlns:a16="http://schemas.microsoft.com/office/drawing/2014/main" id="{B9760527-6399-477A-98D2-650F40268CDD}"/>
              </a:ext>
            </a:extLst>
          </p:cNvPr>
          <p:cNvSpPr>
            <a:spLocks xmlns:a="http://schemas.openxmlformats.org/drawingml/2006/main" noGrp="1"/>
          </p:cNvSpPr>
          <p:nvPr/>
        </p:nvSpPr>
        <p:spPr>
          <a:xfrm xmlns:a="http://schemas.openxmlformats.org/drawingml/2006/main">
            <a:off x="7010400" y="46101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3694C"/>
                </a:solidFill>
                <a:latin typeface="Helvetica Neue"/>
                <a:ea typeface="Helvetica Neue"/>
                <a:cs typeface="Helvetica Neue"/>
              </a:defRPr>
            </a:pPr>
            <a:r>
              <a:rPr sz="1050" b="1">
                <a:solidFill>
                  <a:srgbClr val="53694C"/>
                </a:solidFill>
                <a:latin typeface="Helvetica Neue"/>
                <a:ea typeface="Helvetica Neue"/>
                <a:cs typeface="Helvetica Neue"/>
              </a:rPr>
              <a:t>Strong</a:t>
            </a:r>
          </a:p>
        </p:txBody>
      </p:sp>
      <p:sp>
        <p:nvSpPr>
          <p:cNvPr id="62" name="">
            <a:extLst xmlns:a="http://schemas.openxmlformats.org/drawingml/2006/main">
              <a:ext uri="{FF2B5EF4-FFF2-40B4-BE49-F238E27FC236}">
                <a16:creationId xmlns:a16="http://schemas.microsoft.com/office/drawing/2014/main" id="{B8C62502-FCD6-4495-A9D2-08344B829E44}"/>
              </a:ext>
            </a:extLst>
          </p:cNvPr>
          <p:cNvSpPr>
            <a:spLocks xmlns:a="http://schemas.openxmlformats.org/drawingml/2006/main" noGrp="1"/>
          </p:cNvSpPr>
          <p:nvPr/>
        </p:nvSpPr>
        <p:spPr>
          <a:xfrm xmlns:a="http://schemas.openxmlformats.org/drawingml/2006/main">
            <a:off x="8610600" y="4524375"/>
            <a:ext cx="1571625"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63" name="">
            <a:extLst xmlns:a="http://schemas.openxmlformats.org/drawingml/2006/main">
              <a:ext uri="{FF2B5EF4-FFF2-40B4-BE49-F238E27FC236}">
                <a16:creationId xmlns:a16="http://schemas.microsoft.com/office/drawing/2014/main" id="{3F166592-8CA0-4881-89E0-DFAE9E3B3DA2}"/>
              </a:ext>
            </a:extLst>
          </p:cNvPr>
          <p:cNvSpPr>
            <a:spLocks xmlns:a="http://schemas.openxmlformats.org/drawingml/2006/main" noGrp="1"/>
          </p:cNvSpPr>
          <p:nvPr/>
        </p:nvSpPr>
        <p:spPr>
          <a:xfrm xmlns:a="http://schemas.openxmlformats.org/drawingml/2006/main">
            <a:off x="8705850" y="4610100"/>
            <a:ext cx="1381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3694C"/>
                </a:solidFill>
                <a:latin typeface="Helvetica Neue"/>
                <a:ea typeface="Helvetica Neue"/>
                <a:cs typeface="Helvetica Neue"/>
              </a:defRPr>
            </a:pPr>
            <a:r>
              <a:rPr sz="1050" b="1">
                <a:solidFill>
                  <a:srgbClr val="53694C"/>
                </a:solidFill>
                <a:latin typeface="Helvetica Neue"/>
                <a:ea typeface="Helvetica Neue"/>
                <a:cs typeface="Helvetica Neue"/>
              </a:rPr>
              <a:t>Strong</a:t>
            </a:r>
          </a:p>
        </p:txBody>
      </p:sp>
      <p:sp>
        <p:nvSpPr>
          <p:cNvPr id="64" name="">
            <a:extLst xmlns:a="http://schemas.openxmlformats.org/drawingml/2006/main">
              <a:ext uri="{FF2B5EF4-FFF2-40B4-BE49-F238E27FC236}">
                <a16:creationId xmlns:a16="http://schemas.microsoft.com/office/drawing/2014/main" id="{24E10031-6071-4379-B5C1-0A03AD710F5A}"/>
              </a:ext>
            </a:extLst>
          </p:cNvPr>
          <p:cNvSpPr>
            <a:spLocks xmlns:a="http://schemas.openxmlformats.org/drawingml/2006/main" noGrp="1"/>
          </p:cNvSpPr>
          <p:nvPr/>
        </p:nvSpPr>
        <p:spPr>
          <a:xfrm xmlns:a="http://schemas.openxmlformats.org/drawingml/2006/main">
            <a:off x="10306050" y="4524375"/>
            <a:ext cx="1200150" cy="704850"/>
          </a:xfrm>
          <a:prstGeom xmlns:a="http://schemas.openxmlformats.org/drawingml/2006/main" prst="rect">
            <a:avLst/>
          </a:prstGeom>
          <a:solidFill xmlns:a="http://schemas.openxmlformats.org/drawingml/2006/main">
            <a:srgbClr val="DDE6D8"/>
          </a:solidFill>
          <a:ln xmlns:a="http://schemas.openxmlformats.org/drawingml/2006/main" w="9525">
            <a:solidFill>
              <a:srgbClr val="DED0BC"/>
            </a:solidFill>
          </a:ln>
        </p:spPr>
      </p:sp>
      <p:sp>
        <p:nvSpPr>
          <p:cNvPr id="65" name="">
            <a:extLst xmlns:a="http://schemas.openxmlformats.org/drawingml/2006/main">
              <a:ext uri="{FF2B5EF4-FFF2-40B4-BE49-F238E27FC236}">
                <a16:creationId xmlns:a16="http://schemas.microsoft.com/office/drawing/2014/main" id="{958EE78C-C999-4ADC-A59C-A13B9C3CF467}"/>
              </a:ext>
            </a:extLst>
          </p:cNvPr>
          <p:cNvSpPr>
            <a:spLocks xmlns:a="http://schemas.openxmlformats.org/drawingml/2006/main" noGrp="1"/>
          </p:cNvSpPr>
          <p:nvPr/>
        </p:nvSpPr>
        <p:spPr>
          <a:xfrm xmlns:a="http://schemas.openxmlformats.org/drawingml/2006/main">
            <a:off x="10401300" y="4610100"/>
            <a:ext cx="1009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3694C"/>
                </a:solidFill>
                <a:latin typeface="Helvetica Neue"/>
                <a:ea typeface="Helvetica Neue"/>
                <a:cs typeface="Helvetica Neue"/>
              </a:defRPr>
            </a:pPr>
            <a:r>
              <a:rPr sz="1050" b="1">
                <a:solidFill>
                  <a:srgbClr val="53694C"/>
                </a:solidFill>
                <a:latin typeface="Helvetica Neue"/>
                <a:ea typeface="Helvetica Neue"/>
                <a:cs typeface="Helvetica Neue"/>
              </a:rPr>
              <a:t>Join evidence</a:t>
            </a:r>
          </a:p>
        </p:txBody>
      </p:sp>
      <p:sp>
        <p:nvSpPr>
          <p:cNvPr id="66" name="">
            <a:extLst xmlns:a="http://schemas.openxmlformats.org/drawingml/2006/main">
              <a:ext uri="{FF2B5EF4-FFF2-40B4-BE49-F238E27FC236}">
                <a16:creationId xmlns:a16="http://schemas.microsoft.com/office/drawing/2014/main" id="{31756E87-A85B-473E-8B0A-80A75D25822D}"/>
              </a:ext>
            </a:extLst>
          </p:cNvPr>
          <p:cNvSpPr>
            <a:spLocks xmlns:a="http://schemas.openxmlformats.org/drawingml/2006/main" noGrp="1"/>
          </p:cNvSpPr>
          <p:nvPr/>
        </p:nvSpPr>
        <p:spPr>
          <a:xfrm xmlns:a="http://schemas.openxmlformats.org/drawingml/2006/main">
            <a:off x="685800" y="54864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defRPr sz="1500" b="1">
                <a:solidFill>
                  <a:srgbClr val="5B6546"/>
                </a:solidFill>
                <a:latin typeface="Helvetica Neue"/>
                <a:ea typeface="Helvetica Neue"/>
                <a:cs typeface="Helvetica Neue"/>
              </a:defRPr>
            </a:pPr>
            <a:r>
              <a:rPr sz="1500" b="1">
                <a:solidFill>
                  <a:srgbClr val="5B6546"/>
                </a:solidFill>
                <a:latin typeface="Helvetica Neue"/>
                <a:ea typeface="Helvetica Neue"/>
                <a:cs typeface="Helvetica Neue"/>
              </a:rPr>
              <a:t>The innovation claim is testable: cross-layer evidence should improve detection or analyst review at the same false-positive rate.</a:t>
            </a:r>
          </a:p>
        </p:txBody>
      </p:sp>
      <p:sp>
        <p:nvSpPr>
          <p:cNvPr id="67" name="">
            <a:extLst xmlns:a="http://schemas.openxmlformats.org/drawingml/2006/main">
              <a:ext uri="{FF2B5EF4-FFF2-40B4-BE49-F238E27FC236}">
                <a16:creationId xmlns:a16="http://schemas.microsoft.com/office/drawing/2014/main" id="{818EFB8C-D4BC-491D-86B1-9F3B00AEE8C4}"/>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978882320"/>
      </p:ext>
    </p:extLst>
  </p:cSld>
</p:sld>
</file>

<file path=ppt/slides/slide7.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88F1BC7-3672-424C-B797-321A5CBDA1C3}"/>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PRAMAANCV IDEA</a:t>
            </a:r>
          </a:p>
        </p:txBody>
      </p:sp>
      <p:sp>
        <p:nvSpPr>
          <p:cNvPr id="2" name="">
            <a:extLst xmlns:a="http://schemas.openxmlformats.org/drawingml/2006/main">
              <a:ext uri="{FF2B5EF4-FFF2-40B4-BE49-F238E27FC236}">
                <a16:creationId xmlns:a16="http://schemas.microsoft.com/office/drawing/2014/main" id="{2EF9A260-5512-4E6B-92E7-60794CEBEA47}"/>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9021299C-A56B-44B8-938B-06E2860513EA}"/>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F1DE5BA-24E1-4B69-BCE5-48E57A5DDDF9}"/>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An offline release gate compiles evidence into a decision</a:t>
            </a:r>
          </a:p>
        </p:txBody>
      </p:sp>
      <p:sp>
        <p:nvSpPr>
          <p:cNvPr id="5" name="">
            <a:extLst xmlns:a="http://schemas.openxmlformats.org/drawingml/2006/main">
              <a:ext uri="{FF2B5EF4-FFF2-40B4-BE49-F238E27FC236}">
                <a16:creationId xmlns:a16="http://schemas.microsoft.com/office/drawing/2014/main" id="{01767D87-4C94-4CE5-AB29-86E8AC742DD3}"/>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Each analyser declares its access needs, confidence and coverage.</a:t>
            </a:r>
          </a:p>
        </p:txBody>
      </p:sp>
      <p:sp>
        <p:nvSpPr>
          <p:cNvPr id="6" name="">
            <a:extLst xmlns:a="http://schemas.openxmlformats.org/drawingml/2006/main">
              <a:ext uri="{FF2B5EF4-FFF2-40B4-BE49-F238E27FC236}">
                <a16:creationId xmlns:a16="http://schemas.microsoft.com/office/drawing/2014/main" id="{82272AB5-22F2-4597-873D-180E7BA92585}"/>
              </a:ext>
            </a:extLst>
          </p:cNvPr>
          <p:cNvSpPr>
            <a:spLocks xmlns:a="http://schemas.openxmlformats.org/drawingml/2006/main" noGrp="1"/>
          </p:cNvSpPr>
          <p:nvPr/>
        </p:nvSpPr>
        <p:spPr>
          <a:xfrm xmlns:a="http://schemas.openxmlformats.org/drawingml/2006/main">
            <a:off x="685800" y="2095500"/>
            <a:ext cx="2286000" cy="2819400"/>
          </a:xfrm>
          <a:prstGeom xmlns:a="http://schemas.openxmlformats.org/drawingml/2006/main" prst="roundRect">
            <a:avLst>
              <a:gd name="adj" fmla="val 6667"/>
            </a:avLst>
          </a:prstGeom>
          <a:solidFill xmlns:a="http://schemas.openxmlformats.org/drawingml/2006/main">
            <a:srgbClr val="EAE0D1"/>
          </a:solidFill>
          <a:ln xmlns:a="http://schemas.openxmlformats.org/drawingml/2006/main" w="19050">
            <a:solidFill>
              <a:srgbClr val="DED0BC"/>
            </a:solidFill>
          </a:ln>
        </p:spPr>
      </p:sp>
      <p:sp>
        <p:nvSpPr>
          <p:cNvPr id="7" name="">
            <a:extLst xmlns:a="http://schemas.openxmlformats.org/drawingml/2006/main">
              <a:ext uri="{FF2B5EF4-FFF2-40B4-BE49-F238E27FC236}">
                <a16:creationId xmlns:a16="http://schemas.microsoft.com/office/drawing/2014/main" id="{25CADFCE-1443-48E9-8B31-05D7C903475E}"/>
              </a:ext>
            </a:extLst>
          </p:cNvPr>
          <p:cNvSpPr>
            <a:spLocks xmlns:a="http://schemas.openxmlformats.org/drawingml/2006/main" noGrp="1"/>
          </p:cNvSpPr>
          <p:nvPr/>
        </p:nvSpPr>
        <p:spPr>
          <a:xfrm xmlns:a="http://schemas.openxmlformats.org/drawingml/2006/main">
            <a:off x="857250" y="2286000"/>
            <a:ext cx="400050" cy="400050"/>
          </a:xfrm>
          <a:prstGeom xmlns:a="http://schemas.openxmlformats.org/drawingml/2006/main" prst="ellipse">
            <a:avLst/>
          </a:prstGeom>
          <a:solidFill xmlns:a="http://schemas.openxmlformats.org/drawingml/2006/main">
            <a:srgbClr val="5B654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5FF135-AA42-4208-A2E5-FBD4B62B8A63}"/>
              </a:ext>
            </a:extLst>
          </p:cNvPr>
          <p:cNvSpPr>
            <a:spLocks xmlns:a="http://schemas.openxmlformats.org/drawingml/2006/main" noGrp="1"/>
          </p:cNvSpPr>
          <p:nvPr/>
        </p:nvSpPr>
        <p:spPr>
          <a:xfrm xmlns:a="http://schemas.openxmlformats.org/drawingml/2006/main">
            <a:off x="857250" y="23336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940C70D1-57C9-4FEB-9FB5-B051A64BA09D}"/>
              </a:ext>
            </a:extLst>
          </p:cNvPr>
          <p:cNvSpPr>
            <a:spLocks xmlns:a="http://schemas.openxmlformats.org/drawingml/2006/main" noGrp="1"/>
          </p:cNvSpPr>
          <p:nvPr/>
        </p:nvSpPr>
        <p:spPr>
          <a:xfrm xmlns:a="http://schemas.openxmlformats.org/drawingml/2006/main">
            <a:off x="895350" y="2857500"/>
            <a:ext cx="186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UNTRUSTED INTAKE</a:t>
            </a:r>
          </a:p>
        </p:txBody>
      </p:sp>
      <p:sp>
        <p:nvSpPr>
          <p:cNvPr id="10" name="">
            <a:extLst xmlns:a="http://schemas.openxmlformats.org/drawingml/2006/main">
              <a:ext uri="{FF2B5EF4-FFF2-40B4-BE49-F238E27FC236}">
                <a16:creationId xmlns:a16="http://schemas.microsoft.com/office/drawing/2014/main" id="{C58DA687-D2D5-48B3-86D1-CF4839DCB9B4}"/>
              </a:ext>
            </a:extLst>
          </p:cNvPr>
          <p:cNvSpPr>
            <a:spLocks xmlns:a="http://schemas.openxmlformats.org/drawingml/2006/main" noGrp="1"/>
          </p:cNvSpPr>
          <p:nvPr/>
        </p:nvSpPr>
        <p:spPr>
          <a:xfrm xmlns:a="http://schemas.openxmlformats.org/drawingml/2006/main">
            <a:off x="914400" y="3390900"/>
            <a:ext cx="1828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COCO / YOLO</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ONNX / TorchScript</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Contributor metadata</a:t>
            </a:r>
          </a:p>
        </p:txBody>
      </p:sp>
      <p:sp>
        <p:nvSpPr>
          <p:cNvPr id="11" name="">
            <a:extLst xmlns:a="http://schemas.openxmlformats.org/drawingml/2006/main">
              <a:ext uri="{FF2B5EF4-FFF2-40B4-BE49-F238E27FC236}">
                <a16:creationId xmlns:a16="http://schemas.microsoft.com/office/drawing/2014/main" id="{79DAD627-03C5-48C0-9D8B-378BE5A36CDA}"/>
              </a:ext>
            </a:extLst>
          </p:cNvPr>
          <p:cNvSpPr>
            <a:spLocks xmlns:a="http://schemas.openxmlformats.org/drawingml/2006/main" noGrp="1"/>
          </p:cNvSpPr>
          <p:nvPr/>
        </p:nvSpPr>
        <p:spPr>
          <a:xfrm xmlns:a="http://schemas.openxmlformats.org/drawingml/2006/main">
            <a:off x="3048000" y="3486150"/>
            <a:ext cx="4000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2" name="">
            <a:extLst xmlns:a="http://schemas.openxmlformats.org/drawingml/2006/main">
              <a:ext uri="{FF2B5EF4-FFF2-40B4-BE49-F238E27FC236}">
                <a16:creationId xmlns:a16="http://schemas.microsoft.com/office/drawing/2014/main" id="{AB42ED04-1A2B-419E-93E9-E3F070EC9770}"/>
              </a:ext>
            </a:extLst>
          </p:cNvPr>
          <p:cNvSpPr>
            <a:spLocks xmlns:a="http://schemas.openxmlformats.org/drawingml/2006/main" noGrp="1"/>
          </p:cNvSpPr>
          <p:nvPr/>
        </p:nvSpPr>
        <p:spPr>
          <a:xfrm xmlns:a="http://schemas.openxmlformats.org/drawingml/2006/main">
            <a:off x="3524250" y="2095500"/>
            <a:ext cx="2286000" cy="2819400"/>
          </a:xfrm>
          <a:prstGeom xmlns:a="http://schemas.openxmlformats.org/drawingml/2006/main" prst="roundRect">
            <a:avLst>
              <a:gd name="adj" fmla="val 6667"/>
            </a:avLst>
          </a:prstGeom>
          <a:solidFill xmlns:a="http://schemas.openxmlformats.org/drawingml/2006/main">
            <a:srgbClr val="DCE7E6"/>
          </a:solidFill>
          <a:ln xmlns:a="http://schemas.openxmlformats.org/drawingml/2006/main" w="19050">
            <a:solidFill>
              <a:srgbClr val="DED0BC"/>
            </a:solidFill>
          </a:ln>
        </p:spPr>
      </p:sp>
      <p:sp>
        <p:nvSpPr>
          <p:cNvPr id="13" name="">
            <a:extLst xmlns:a="http://schemas.openxmlformats.org/drawingml/2006/main">
              <a:ext uri="{FF2B5EF4-FFF2-40B4-BE49-F238E27FC236}">
                <a16:creationId xmlns:a16="http://schemas.microsoft.com/office/drawing/2014/main" id="{A75C6964-AE3B-448C-8344-BCEA9C42901B}"/>
              </a:ext>
            </a:extLst>
          </p:cNvPr>
          <p:cNvSpPr>
            <a:spLocks xmlns:a="http://schemas.openxmlformats.org/drawingml/2006/main" noGrp="1"/>
          </p:cNvSpPr>
          <p:nvPr/>
        </p:nvSpPr>
        <p:spPr>
          <a:xfrm xmlns:a="http://schemas.openxmlformats.org/drawingml/2006/main">
            <a:off x="3695700" y="2286000"/>
            <a:ext cx="400050" cy="400050"/>
          </a:xfrm>
          <a:prstGeom xmlns:a="http://schemas.openxmlformats.org/drawingml/2006/main" prst="ellipse">
            <a:avLst/>
          </a:prstGeom>
          <a:solidFill xmlns:a="http://schemas.openxmlformats.org/drawingml/2006/main">
            <a:srgbClr val="5B654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AE1F06-8180-49AC-96C4-07F4C031450E}"/>
              </a:ext>
            </a:extLst>
          </p:cNvPr>
          <p:cNvSpPr>
            <a:spLocks xmlns:a="http://schemas.openxmlformats.org/drawingml/2006/main" noGrp="1"/>
          </p:cNvSpPr>
          <p:nvPr/>
        </p:nvSpPr>
        <p:spPr>
          <a:xfrm xmlns:a="http://schemas.openxmlformats.org/drawingml/2006/main">
            <a:off x="3695700" y="23336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8C179A4-F4F5-4199-AF55-22815275C15B}"/>
              </a:ext>
            </a:extLst>
          </p:cNvPr>
          <p:cNvSpPr>
            <a:spLocks xmlns:a="http://schemas.openxmlformats.org/drawingml/2006/main" noGrp="1"/>
          </p:cNvSpPr>
          <p:nvPr/>
        </p:nvSpPr>
        <p:spPr>
          <a:xfrm xmlns:a="http://schemas.openxmlformats.org/drawingml/2006/main">
            <a:off x="3733800" y="2857500"/>
            <a:ext cx="186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703"/>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SANDBOXED ANALYSERS</a:t>
            </a:r>
          </a:p>
        </p:txBody>
      </p:sp>
      <p:sp>
        <p:nvSpPr>
          <p:cNvPr id="16" name="">
            <a:extLst xmlns:a="http://schemas.openxmlformats.org/drawingml/2006/main">
              <a:ext uri="{FF2B5EF4-FFF2-40B4-BE49-F238E27FC236}">
                <a16:creationId xmlns:a16="http://schemas.microsoft.com/office/drawing/2014/main" id="{7FC9AA77-DB52-48A0-8E21-17E993779A46}"/>
              </a:ext>
            </a:extLst>
          </p:cNvPr>
          <p:cNvSpPr>
            <a:spLocks xmlns:a="http://schemas.openxmlformats.org/drawingml/2006/main" noGrp="1"/>
          </p:cNvSpPr>
          <p:nvPr/>
        </p:nvSpPr>
        <p:spPr>
          <a:xfrm xmlns:a="http://schemas.openxmlformats.org/drawingml/2006/main">
            <a:off x="3752850" y="3390900"/>
            <a:ext cx="1828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Duplicate + label checks</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Behavioural battery</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Shift measurements</a:t>
            </a:r>
          </a:p>
        </p:txBody>
      </p:sp>
      <p:sp>
        <p:nvSpPr>
          <p:cNvPr id="17" name="">
            <a:extLst xmlns:a="http://schemas.openxmlformats.org/drawingml/2006/main">
              <a:ext uri="{FF2B5EF4-FFF2-40B4-BE49-F238E27FC236}">
                <a16:creationId xmlns:a16="http://schemas.microsoft.com/office/drawing/2014/main" id="{08117E46-9870-42E7-A8C8-73A1A203C919}"/>
              </a:ext>
            </a:extLst>
          </p:cNvPr>
          <p:cNvSpPr>
            <a:spLocks xmlns:a="http://schemas.openxmlformats.org/drawingml/2006/main" noGrp="1"/>
          </p:cNvSpPr>
          <p:nvPr/>
        </p:nvSpPr>
        <p:spPr>
          <a:xfrm xmlns:a="http://schemas.openxmlformats.org/drawingml/2006/main">
            <a:off x="5886450" y="3486150"/>
            <a:ext cx="4000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8" name="">
            <a:extLst xmlns:a="http://schemas.openxmlformats.org/drawingml/2006/main">
              <a:ext uri="{FF2B5EF4-FFF2-40B4-BE49-F238E27FC236}">
                <a16:creationId xmlns:a16="http://schemas.microsoft.com/office/drawing/2014/main" id="{EDC282FB-9FB3-4EA0-99F6-63618C907D54}"/>
              </a:ext>
            </a:extLst>
          </p:cNvPr>
          <p:cNvSpPr>
            <a:spLocks xmlns:a="http://schemas.openxmlformats.org/drawingml/2006/main" noGrp="1"/>
          </p:cNvSpPr>
          <p:nvPr/>
        </p:nvSpPr>
        <p:spPr>
          <a:xfrm xmlns:a="http://schemas.openxmlformats.org/drawingml/2006/main">
            <a:off x="6362700" y="2095500"/>
            <a:ext cx="2286000" cy="2819400"/>
          </a:xfrm>
          <a:prstGeom xmlns:a="http://schemas.openxmlformats.org/drawingml/2006/main" prst="roundRect">
            <a:avLst>
              <a:gd name="adj" fmla="val 6667"/>
            </a:avLst>
          </a:prstGeom>
          <a:solidFill xmlns:a="http://schemas.openxmlformats.org/drawingml/2006/main">
            <a:srgbClr val="DDE6D8"/>
          </a:solidFill>
          <a:ln xmlns:a="http://schemas.openxmlformats.org/drawingml/2006/main" w="19050">
            <a:solidFill>
              <a:srgbClr val="DED0BC"/>
            </a:solidFill>
          </a:ln>
        </p:spPr>
      </p:sp>
      <p:sp>
        <p:nvSpPr>
          <p:cNvPr id="19" name="">
            <a:extLst xmlns:a="http://schemas.openxmlformats.org/drawingml/2006/main">
              <a:ext uri="{FF2B5EF4-FFF2-40B4-BE49-F238E27FC236}">
                <a16:creationId xmlns:a16="http://schemas.microsoft.com/office/drawing/2014/main" id="{E169F69F-60D0-4A63-9E4D-4C2EF8ABD5A0}"/>
              </a:ext>
            </a:extLst>
          </p:cNvPr>
          <p:cNvSpPr>
            <a:spLocks xmlns:a="http://schemas.openxmlformats.org/drawingml/2006/main" noGrp="1"/>
          </p:cNvSpPr>
          <p:nvPr/>
        </p:nvSpPr>
        <p:spPr>
          <a:xfrm xmlns:a="http://schemas.openxmlformats.org/drawingml/2006/main">
            <a:off x="6534150" y="2286000"/>
            <a:ext cx="400050" cy="400050"/>
          </a:xfrm>
          <a:prstGeom xmlns:a="http://schemas.openxmlformats.org/drawingml/2006/main" prst="ellipse">
            <a:avLst/>
          </a:prstGeom>
          <a:solidFill xmlns:a="http://schemas.openxmlformats.org/drawingml/2006/main">
            <a:srgbClr val="5B65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ECA5BF-C2AB-45D7-AEBC-32BA37A6703B}"/>
              </a:ext>
            </a:extLst>
          </p:cNvPr>
          <p:cNvSpPr>
            <a:spLocks xmlns:a="http://schemas.openxmlformats.org/drawingml/2006/main" noGrp="1"/>
          </p:cNvSpPr>
          <p:nvPr/>
        </p:nvSpPr>
        <p:spPr>
          <a:xfrm xmlns:a="http://schemas.openxmlformats.org/drawingml/2006/main">
            <a:off x="6534150" y="23336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C37B1F9E-EC90-4F26-94D5-3037135B93F5}"/>
              </a:ext>
            </a:extLst>
          </p:cNvPr>
          <p:cNvSpPr>
            <a:spLocks xmlns:a="http://schemas.openxmlformats.org/drawingml/2006/main" noGrp="1"/>
          </p:cNvSpPr>
          <p:nvPr/>
        </p:nvSpPr>
        <p:spPr>
          <a:xfrm xmlns:a="http://schemas.openxmlformats.org/drawingml/2006/main">
            <a:off x="6572250" y="2857500"/>
            <a:ext cx="186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EVIDENCE GRAPH</a:t>
            </a:r>
          </a:p>
        </p:txBody>
      </p:sp>
      <p:sp>
        <p:nvSpPr>
          <p:cNvPr id="22" name="">
            <a:extLst xmlns:a="http://schemas.openxmlformats.org/drawingml/2006/main">
              <a:ext uri="{FF2B5EF4-FFF2-40B4-BE49-F238E27FC236}">
                <a16:creationId xmlns:a16="http://schemas.microsoft.com/office/drawing/2014/main" id="{FC76CD85-4A50-4D35-B021-59287B4BC71F}"/>
              </a:ext>
            </a:extLst>
          </p:cNvPr>
          <p:cNvSpPr>
            <a:spLocks xmlns:a="http://schemas.openxmlformats.org/drawingml/2006/main" noGrp="1"/>
          </p:cNvSpPr>
          <p:nvPr/>
        </p:nvSpPr>
        <p:spPr>
          <a:xfrm xmlns:a="http://schemas.openxmlformats.org/drawingml/2006/main">
            <a:off x="6591300" y="3390900"/>
            <a:ext cx="1828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Asset digests</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Findings + hypotheses</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Links across layers</a:t>
            </a:r>
          </a:p>
        </p:txBody>
      </p:sp>
      <p:sp>
        <p:nvSpPr>
          <p:cNvPr id="23" name="">
            <a:extLst xmlns:a="http://schemas.openxmlformats.org/drawingml/2006/main">
              <a:ext uri="{FF2B5EF4-FFF2-40B4-BE49-F238E27FC236}">
                <a16:creationId xmlns:a16="http://schemas.microsoft.com/office/drawing/2014/main" id="{B6D20F8D-12C8-4D9C-9063-778AC27E9AFD}"/>
              </a:ext>
            </a:extLst>
          </p:cNvPr>
          <p:cNvSpPr>
            <a:spLocks xmlns:a="http://schemas.openxmlformats.org/drawingml/2006/main" noGrp="1"/>
          </p:cNvSpPr>
          <p:nvPr/>
        </p:nvSpPr>
        <p:spPr>
          <a:xfrm xmlns:a="http://schemas.openxmlformats.org/drawingml/2006/main">
            <a:off x="8724900" y="3486150"/>
            <a:ext cx="4000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24" name="">
            <a:extLst xmlns:a="http://schemas.openxmlformats.org/drawingml/2006/main">
              <a:ext uri="{FF2B5EF4-FFF2-40B4-BE49-F238E27FC236}">
                <a16:creationId xmlns:a16="http://schemas.microsoft.com/office/drawing/2014/main" id="{4A1F08D7-9223-47AE-A5AF-C8D50D6087B2}"/>
              </a:ext>
            </a:extLst>
          </p:cNvPr>
          <p:cNvSpPr>
            <a:spLocks xmlns:a="http://schemas.openxmlformats.org/drawingml/2006/main" noGrp="1"/>
          </p:cNvSpPr>
          <p:nvPr/>
        </p:nvSpPr>
        <p:spPr>
          <a:xfrm xmlns:a="http://schemas.openxmlformats.org/drawingml/2006/main">
            <a:off x="9201150" y="2095500"/>
            <a:ext cx="2286000" cy="2819400"/>
          </a:xfrm>
          <a:prstGeom xmlns:a="http://schemas.openxmlformats.org/drawingml/2006/main" prst="roundRect">
            <a:avLst>
              <a:gd name="adj" fmla="val 6667"/>
            </a:avLst>
          </a:prstGeom>
          <a:solidFill xmlns:a="http://schemas.openxmlformats.org/drawingml/2006/main">
            <a:srgbClr val="F3DDD5"/>
          </a:solidFill>
          <a:ln xmlns:a="http://schemas.openxmlformats.org/drawingml/2006/main" w="19050">
            <a:solidFill>
              <a:srgbClr val="B66045"/>
            </a:solidFill>
          </a:ln>
        </p:spPr>
      </p:sp>
      <p:sp>
        <p:nvSpPr>
          <p:cNvPr id="25" name="">
            <a:extLst xmlns:a="http://schemas.openxmlformats.org/drawingml/2006/main">
              <a:ext uri="{FF2B5EF4-FFF2-40B4-BE49-F238E27FC236}">
                <a16:creationId xmlns:a16="http://schemas.microsoft.com/office/drawing/2014/main" id="{57B6B2B6-06CA-407F-8414-539E296D81B4}"/>
              </a:ext>
            </a:extLst>
          </p:cNvPr>
          <p:cNvSpPr>
            <a:spLocks xmlns:a="http://schemas.openxmlformats.org/drawingml/2006/main" noGrp="1"/>
          </p:cNvSpPr>
          <p:nvPr/>
        </p:nvSpPr>
        <p:spPr>
          <a:xfrm xmlns:a="http://schemas.openxmlformats.org/drawingml/2006/main">
            <a:off x="9372600" y="2286000"/>
            <a:ext cx="400050" cy="400050"/>
          </a:xfrm>
          <a:prstGeom xmlns:a="http://schemas.openxmlformats.org/drawingml/2006/main" prst="ellipse">
            <a:avLst/>
          </a:prstGeom>
          <a:solidFill xmlns:a="http://schemas.openxmlformats.org/drawingml/2006/main">
            <a:srgbClr val="B6604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6BA5F73-5078-4187-8BBD-ED49C2F27BF4}"/>
              </a:ext>
            </a:extLst>
          </p:cNvPr>
          <p:cNvSpPr>
            <a:spLocks xmlns:a="http://schemas.openxmlformats.org/drawingml/2006/main" noGrp="1"/>
          </p:cNvSpPr>
          <p:nvPr/>
        </p:nvSpPr>
        <p:spPr>
          <a:xfrm xmlns:a="http://schemas.openxmlformats.org/drawingml/2006/main">
            <a:off x="9372600" y="23336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E3F35A21-59AB-43EB-9A21-E06740C701F5}"/>
              </a:ext>
            </a:extLst>
          </p:cNvPr>
          <p:cNvSpPr>
            <a:spLocks xmlns:a="http://schemas.openxmlformats.org/drawingml/2006/main" noGrp="1"/>
          </p:cNvSpPr>
          <p:nvPr/>
        </p:nvSpPr>
        <p:spPr>
          <a:xfrm xmlns:a="http://schemas.openxmlformats.org/drawingml/2006/main">
            <a:off x="9410700" y="2857500"/>
            <a:ext cx="186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ANALYST GATE</a:t>
            </a:r>
          </a:p>
        </p:txBody>
      </p:sp>
      <p:sp>
        <p:nvSpPr>
          <p:cNvPr id="28" name="">
            <a:extLst xmlns:a="http://schemas.openxmlformats.org/drawingml/2006/main">
              <a:ext uri="{FF2B5EF4-FFF2-40B4-BE49-F238E27FC236}">
                <a16:creationId xmlns:a16="http://schemas.microsoft.com/office/drawing/2014/main" id="{71F40B40-F306-42E7-8EBA-240F05E9BD1F}"/>
              </a:ext>
            </a:extLst>
          </p:cNvPr>
          <p:cNvSpPr>
            <a:spLocks xmlns:a="http://schemas.openxmlformats.org/drawingml/2006/main" noGrp="1"/>
          </p:cNvSpPr>
          <p:nvPr/>
        </p:nvSpPr>
        <p:spPr>
          <a:xfrm xmlns:a="http://schemas.openxmlformats.org/drawingml/2006/main">
            <a:off x="9429750" y="3390900"/>
            <a:ext cx="1828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ACCEPT</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REVIEW</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QUARANTINE / INCONCLUSIVE</a:t>
            </a:r>
          </a:p>
        </p:txBody>
      </p:sp>
      <p:sp>
        <p:nvSpPr>
          <p:cNvPr id="29" name="">
            <a:extLst xmlns:a="http://schemas.openxmlformats.org/drawingml/2006/main">
              <a:ext uri="{FF2B5EF4-FFF2-40B4-BE49-F238E27FC236}">
                <a16:creationId xmlns:a16="http://schemas.microsoft.com/office/drawing/2014/main" id="{82A34224-FF1F-4B19-9CE2-648B1AAC2233}"/>
              </a:ext>
            </a:extLst>
          </p:cNvPr>
          <p:cNvSpPr>
            <a:spLocks xmlns:a="http://schemas.openxmlformats.org/drawingml/2006/main" noGrp="1"/>
          </p:cNvSpPr>
          <p:nvPr/>
        </p:nvSpPr>
        <p:spPr>
          <a:xfrm xmlns:a="http://schemas.openxmlformats.org/drawingml/2006/main">
            <a:off x="1428750" y="5276850"/>
            <a:ext cx="9334500" cy="666750"/>
          </a:xfrm>
          <a:prstGeom xmlns:a="http://schemas.openxmlformats.org/drawingml/2006/main" prst="roundRect">
            <a:avLst>
              <a:gd name="adj" fmla="val 17143"/>
            </a:avLst>
          </a:prstGeom>
          <a:solidFill xmlns:a="http://schemas.openxmlformats.org/drawingml/2006/main">
            <a:srgbClr val="1F272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D8F14FF-374D-408F-9C4C-BC77FE8DBA49}"/>
              </a:ext>
            </a:extLst>
          </p:cNvPr>
          <p:cNvSpPr>
            <a:spLocks xmlns:a="http://schemas.openxmlformats.org/drawingml/2006/main" noGrp="1"/>
          </p:cNvSpPr>
          <p:nvPr/>
        </p:nvSpPr>
        <p:spPr>
          <a:xfrm xmlns:a="http://schemas.openxmlformats.org/drawingml/2006/main">
            <a:off x="1676400" y="5410200"/>
            <a:ext cx="883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CF6"/>
                </a:solidFill>
                <a:latin typeface="Helvetica Neue"/>
                <a:ea typeface="Helvetica Neue"/>
                <a:cs typeface="Helvetica Neue"/>
              </a:defRPr>
            </a:pPr>
            <a:r>
              <a:rPr sz="1350" b="1">
                <a:solidFill>
                  <a:srgbClr val="FFFCF6"/>
                </a:solidFill>
                <a:latin typeface="Helvetica Neue"/>
                <a:ea typeface="Helvetica Neue"/>
                <a:cs typeface="Helvetica Neue"/>
              </a:rPr>
              <a:t>Trusted roots: signed baseline manifest  ·  public key store  ·  reference battery</a:t>
            </a:r>
          </a:p>
        </p:txBody>
      </p:sp>
      <p:sp>
        <p:nvSpPr>
          <p:cNvPr id="31" name="">
            <a:extLst xmlns:a="http://schemas.openxmlformats.org/drawingml/2006/main">
              <a:ext uri="{FF2B5EF4-FFF2-40B4-BE49-F238E27FC236}">
                <a16:creationId xmlns:a16="http://schemas.microsoft.com/office/drawing/2014/main" id="{A747E45D-94A0-409F-873F-D1068F1040E7}"/>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931522664"/>
      </p:ext>
    </p:extLst>
  </p:cSld>
</p:sld>
</file>

<file path=ppt/slides/slide8.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8F06618-F16E-442E-A490-5C1508D6B935}"/>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DIFFERENTIATOR</a:t>
            </a:r>
          </a:p>
        </p:txBody>
      </p:sp>
      <p:sp>
        <p:nvSpPr>
          <p:cNvPr id="2" name="">
            <a:extLst xmlns:a="http://schemas.openxmlformats.org/drawingml/2006/main">
              <a:ext uri="{FF2B5EF4-FFF2-40B4-BE49-F238E27FC236}">
                <a16:creationId xmlns:a16="http://schemas.microsoft.com/office/drawing/2014/main" id="{BA25A4B2-28B0-473B-8AF7-A42794057C08}"/>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4D3D165B-13FE-45A9-AC2A-415CE45CCFC1}"/>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BB7F2CA-28CE-40EA-BA0C-BBBFA0188C24}"/>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Evidence handoff turns isolated alerts into an assurance case</a:t>
            </a:r>
          </a:p>
        </p:txBody>
      </p:sp>
      <p:sp>
        <p:nvSpPr>
          <p:cNvPr id="5" name="">
            <a:extLst xmlns:a="http://schemas.openxmlformats.org/drawingml/2006/main">
              <a:ext uri="{FF2B5EF4-FFF2-40B4-BE49-F238E27FC236}">
                <a16:creationId xmlns:a16="http://schemas.microsoft.com/office/drawing/2014/main" id="{145F7E93-0C6A-4EF0-8D74-0A48E0BE150D}"/>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One anomaly decides the next test, and the result remains traceable.</a:t>
            </a:r>
          </a:p>
        </p:txBody>
      </p:sp>
      <p:sp>
        <p:nvSpPr>
          <p:cNvPr id="6" name="">
            <a:extLst xmlns:a="http://schemas.openxmlformats.org/drawingml/2006/main">
              <a:ext uri="{FF2B5EF4-FFF2-40B4-BE49-F238E27FC236}">
                <a16:creationId xmlns:a16="http://schemas.microsoft.com/office/drawing/2014/main" id="{8076C515-1490-4DC7-9773-256E16ABFA5A}"/>
              </a:ext>
            </a:extLst>
          </p:cNvPr>
          <p:cNvSpPr>
            <a:spLocks xmlns:a="http://schemas.openxmlformats.org/drawingml/2006/main" noGrp="1"/>
          </p:cNvSpPr>
          <p:nvPr/>
        </p:nvSpPr>
        <p:spPr>
          <a:xfrm xmlns:a="http://schemas.openxmlformats.org/drawingml/2006/main">
            <a:off x="723900" y="2190750"/>
            <a:ext cx="3105150" cy="2190750"/>
          </a:xfrm>
          <a:prstGeom xmlns:a="http://schemas.openxmlformats.org/drawingml/2006/main" prst="roundRect">
            <a:avLst>
              <a:gd name="adj" fmla="val 6957"/>
            </a:avLst>
          </a:prstGeom>
          <a:solidFill xmlns:a="http://schemas.openxmlformats.org/drawingml/2006/main">
            <a:srgbClr val="EAE0D1"/>
          </a:solidFill>
          <a:ln xmlns:a="http://schemas.openxmlformats.org/drawingml/2006/main" w="9525">
            <a:solidFill>
              <a:srgbClr val="DED0BC"/>
            </a:solidFill>
          </a:ln>
        </p:spPr>
      </p:sp>
      <p:sp>
        <p:nvSpPr>
          <p:cNvPr id="7" name="">
            <a:extLst xmlns:a="http://schemas.openxmlformats.org/drawingml/2006/main">
              <a:ext uri="{FF2B5EF4-FFF2-40B4-BE49-F238E27FC236}">
                <a16:creationId xmlns:a16="http://schemas.microsoft.com/office/drawing/2014/main" id="{C24CE3D1-1929-4194-8B65-A660860A499E}"/>
              </a:ext>
            </a:extLst>
          </p:cNvPr>
          <p:cNvSpPr>
            <a:spLocks xmlns:a="http://schemas.openxmlformats.org/drawingml/2006/main" noGrp="1"/>
          </p:cNvSpPr>
          <p:nvPr/>
        </p:nvSpPr>
        <p:spPr>
          <a:xfrm xmlns:a="http://schemas.openxmlformats.org/drawingml/2006/main">
            <a:off x="952500" y="2400300"/>
            <a:ext cx="142875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DATA CLUE</a:t>
            </a:r>
          </a:p>
        </p:txBody>
      </p:sp>
      <p:sp>
        <p:nvSpPr>
          <p:cNvPr id="8" name="">
            <a:extLst xmlns:a="http://schemas.openxmlformats.org/drawingml/2006/main">
              <a:ext uri="{FF2B5EF4-FFF2-40B4-BE49-F238E27FC236}">
                <a16:creationId xmlns:a16="http://schemas.microsoft.com/office/drawing/2014/main" id="{6C51934F-5A70-4D74-99C3-BC29EBF39972}"/>
              </a:ext>
            </a:extLst>
          </p:cNvPr>
          <p:cNvSpPr>
            <a:spLocks xmlns:a="http://schemas.openxmlformats.org/drawingml/2006/main" noGrp="1"/>
          </p:cNvSpPr>
          <p:nvPr/>
        </p:nvSpPr>
        <p:spPr>
          <a:xfrm xmlns:a="http://schemas.openxmlformats.org/drawingml/2006/main">
            <a:off x="952500" y="2914650"/>
            <a:ext cx="2647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92A26"/>
                </a:solidFill>
                <a:latin typeface="Helvetica Neue"/>
                <a:ea typeface="Helvetica Neue"/>
                <a:cs typeface="Helvetica Neue"/>
              </a:defRPr>
            </a:pPr>
            <a:r>
              <a:rPr sz="1575" b="1">
                <a:solidFill>
                  <a:srgbClr val="292A26"/>
                </a:solidFill>
                <a:latin typeface="Helvetica Neue"/>
                <a:ea typeface="Helvetica Neue"/>
                <a:cs typeface="Helvetica Neue"/>
              </a:rPr>
              <a:t>Trigger-like patch clusters in one contributor’s images.</a:t>
            </a:r>
          </a:p>
        </p:txBody>
      </p:sp>
      <p:sp>
        <p:nvSpPr>
          <p:cNvPr id="9" name="">
            <a:extLst xmlns:a="http://schemas.openxmlformats.org/drawingml/2006/main">
              <a:ext uri="{FF2B5EF4-FFF2-40B4-BE49-F238E27FC236}">
                <a16:creationId xmlns:a16="http://schemas.microsoft.com/office/drawing/2014/main" id="{9F754EBA-C246-4217-AE92-C63DA88ED130}"/>
              </a:ext>
            </a:extLst>
          </p:cNvPr>
          <p:cNvSpPr>
            <a:spLocks xmlns:a="http://schemas.openxmlformats.org/drawingml/2006/main" noGrp="1"/>
          </p:cNvSpPr>
          <p:nvPr/>
        </p:nvSpPr>
        <p:spPr>
          <a:xfrm xmlns:a="http://schemas.openxmlformats.org/drawingml/2006/main">
            <a:off x="3886200" y="3257550"/>
            <a:ext cx="895350" cy="0"/>
          </a:xfrm>
          <a:prstGeom xmlns:a="http://schemas.openxmlformats.org/drawingml/2006/main" prst="line">
            <a:avLst/>
          </a:prstGeom>
          <a:noFill xmlns:a="http://schemas.openxmlformats.org/drawingml/2006/main"/>
          <a:ln xmlns:a="http://schemas.openxmlformats.org/drawingml/2006/main" w="47625">
            <a:solidFill>
              <a:srgbClr val="C74634"/>
            </a:solidFill>
            <a:prstDash val="solid"/>
          </a:ln>
        </p:spPr>
      </p:sp>
      <p:sp>
        <p:nvSpPr>
          <p:cNvPr id="10" name="">
            <a:extLst xmlns:a="http://schemas.openxmlformats.org/drawingml/2006/main">
              <a:ext uri="{FF2B5EF4-FFF2-40B4-BE49-F238E27FC236}">
                <a16:creationId xmlns:a16="http://schemas.microsoft.com/office/drawing/2014/main" id="{C72BC4AF-0CC8-4E62-8EB6-5DCA39736BDA}"/>
              </a:ext>
            </a:extLst>
          </p:cNvPr>
          <p:cNvSpPr>
            <a:spLocks xmlns:a="http://schemas.openxmlformats.org/drawingml/2006/main" noGrp="1"/>
          </p:cNvSpPr>
          <p:nvPr/>
        </p:nvSpPr>
        <p:spPr>
          <a:xfrm xmlns:a="http://schemas.openxmlformats.org/drawingml/2006/main">
            <a:off x="4171950" y="2190750"/>
            <a:ext cx="3105150" cy="2190750"/>
          </a:xfrm>
          <a:prstGeom xmlns:a="http://schemas.openxmlformats.org/drawingml/2006/main" prst="roundRect">
            <a:avLst>
              <a:gd name="adj" fmla="val 6957"/>
            </a:avLst>
          </a:prstGeom>
          <a:solidFill xmlns:a="http://schemas.openxmlformats.org/drawingml/2006/main">
            <a:srgbClr val="DCE7E6"/>
          </a:solidFill>
          <a:ln xmlns:a="http://schemas.openxmlformats.org/drawingml/2006/main" w="9525">
            <a:solidFill>
              <a:srgbClr val="DED0BC"/>
            </a:solidFill>
          </a:ln>
        </p:spPr>
      </p:sp>
      <p:sp>
        <p:nvSpPr>
          <p:cNvPr id="11" name="">
            <a:extLst xmlns:a="http://schemas.openxmlformats.org/drawingml/2006/main">
              <a:ext uri="{FF2B5EF4-FFF2-40B4-BE49-F238E27FC236}">
                <a16:creationId xmlns:a16="http://schemas.microsoft.com/office/drawing/2014/main" id="{6C4B710F-31B8-4F7B-A86E-615B748CE3F9}"/>
              </a:ext>
            </a:extLst>
          </p:cNvPr>
          <p:cNvSpPr>
            <a:spLocks xmlns:a="http://schemas.openxmlformats.org/drawingml/2006/main" noGrp="1"/>
          </p:cNvSpPr>
          <p:nvPr/>
        </p:nvSpPr>
        <p:spPr>
          <a:xfrm xmlns:a="http://schemas.openxmlformats.org/drawingml/2006/main">
            <a:off x="4400550" y="2400300"/>
            <a:ext cx="142875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MODEL TEST</a:t>
            </a:r>
          </a:p>
        </p:txBody>
      </p:sp>
      <p:sp>
        <p:nvSpPr>
          <p:cNvPr id="12" name="">
            <a:extLst xmlns:a="http://schemas.openxmlformats.org/drawingml/2006/main">
              <a:ext uri="{FF2B5EF4-FFF2-40B4-BE49-F238E27FC236}">
                <a16:creationId xmlns:a16="http://schemas.microsoft.com/office/drawing/2014/main" id="{B6034AC8-B7A0-411A-97F8-F1C87E67198F}"/>
              </a:ext>
            </a:extLst>
          </p:cNvPr>
          <p:cNvSpPr>
            <a:spLocks xmlns:a="http://schemas.openxmlformats.org/drawingml/2006/main" noGrp="1"/>
          </p:cNvSpPr>
          <p:nvPr/>
        </p:nvSpPr>
        <p:spPr>
          <a:xfrm xmlns:a="http://schemas.openxmlformats.org/drawingml/2006/main">
            <a:off x="4400550" y="2914650"/>
            <a:ext cx="2647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92A26"/>
                </a:solidFill>
                <a:latin typeface="Helvetica Neue"/>
                <a:ea typeface="Helvetica Neue"/>
                <a:cs typeface="Helvetica Neue"/>
              </a:defRPr>
            </a:pPr>
            <a:r>
              <a:rPr sz="1575" b="1">
                <a:solidFill>
                  <a:srgbClr val="292A26"/>
                </a:solidFill>
                <a:latin typeface="Helvetica Neue"/>
                <a:ea typeface="Helvetica Neue"/>
                <a:cs typeface="Helvetica Neue"/>
              </a:rPr>
              <a:t>Reference battery compares behaviour with and without that patch.</a:t>
            </a:r>
          </a:p>
        </p:txBody>
      </p:sp>
      <p:sp>
        <p:nvSpPr>
          <p:cNvPr id="13" name="">
            <a:extLst xmlns:a="http://schemas.openxmlformats.org/drawingml/2006/main">
              <a:ext uri="{FF2B5EF4-FFF2-40B4-BE49-F238E27FC236}">
                <a16:creationId xmlns:a16="http://schemas.microsoft.com/office/drawing/2014/main" id="{D66FE46B-D520-45DF-BC80-EC8011F39A98}"/>
              </a:ext>
            </a:extLst>
          </p:cNvPr>
          <p:cNvSpPr>
            <a:spLocks xmlns:a="http://schemas.openxmlformats.org/drawingml/2006/main" noGrp="1"/>
          </p:cNvSpPr>
          <p:nvPr/>
        </p:nvSpPr>
        <p:spPr>
          <a:xfrm xmlns:a="http://schemas.openxmlformats.org/drawingml/2006/main">
            <a:off x="7334250" y="3257550"/>
            <a:ext cx="895350" cy="0"/>
          </a:xfrm>
          <a:prstGeom xmlns:a="http://schemas.openxmlformats.org/drawingml/2006/main" prst="line">
            <a:avLst/>
          </a:prstGeom>
          <a:noFill xmlns:a="http://schemas.openxmlformats.org/drawingml/2006/main"/>
          <a:ln xmlns:a="http://schemas.openxmlformats.org/drawingml/2006/main" w="47625">
            <a:solidFill>
              <a:srgbClr val="C74634"/>
            </a:solidFill>
            <a:prstDash val="solid"/>
          </a:ln>
        </p:spPr>
      </p:sp>
      <p:sp>
        <p:nvSpPr>
          <p:cNvPr id="14" name="">
            <a:extLst xmlns:a="http://schemas.openxmlformats.org/drawingml/2006/main">
              <a:ext uri="{FF2B5EF4-FFF2-40B4-BE49-F238E27FC236}">
                <a16:creationId xmlns:a16="http://schemas.microsoft.com/office/drawing/2014/main" id="{74D9543A-D305-4B8B-A965-839F74CC060B}"/>
              </a:ext>
            </a:extLst>
          </p:cNvPr>
          <p:cNvSpPr>
            <a:spLocks xmlns:a="http://schemas.openxmlformats.org/drawingml/2006/main" noGrp="1"/>
          </p:cNvSpPr>
          <p:nvPr/>
        </p:nvSpPr>
        <p:spPr>
          <a:xfrm xmlns:a="http://schemas.openxmlformats.org/drawingml/2006/main">
            <a:off x="7620000" y="2190750"/>
            <a:ext cx="3105150" cy="2190750"/>
          </a:xfrm>
          <a:prstGeom xmlns:a="http://schemas.openxmlformats.org/drawingml/2006/main" prst="roundRect">
            <a:avLst>
              <a:gd name="adj" fmla="val 6957"/>
            </a:avLst>
          </a:prstGeom>
          <a:solidFill xmlns:a="http://schemas.openxmlformats.org/drawingml/2006/main">
            <a:srgbClr val="DDE6D8"/>
          </a:solidFill>
          <a:ln xmlns:a="http://schemas.openxmlformats.org/drawingml/2006/main" w="9525">
            <a:solidFill>
              <a:srgbClr val="DED0BC"/>
            </a:solidFill>
          </a:ln>
        </p:spPr>
      </p:sp>
      <p:sp>
        <p:nvSpPr>
          <p:cNvPr id="15" name="">
            <a:extLst xmlns:a="http://schemas.openxmlformats.org/drawingml/2006/main">
              <a:ext uri="{FF2B5EF4-FFF2-40B4-BE49-F238E27FC236}">
                <a16:creationId xmlns:a16="http://schemas.microsoft.com/office/drawing/2014/main" id="{6CE20B43-F6B6-4C32-8E21-1155B4332E76}"/>
              </a:ext>
            </a:extLst>
          </p:cNvPr>
          <p:cNvSpPr>
            <a:spLocks xmlns:a="http://schemas.openxmlformats.org/drawingml/2006/main" noGrp="1"/>
          </p:cNvSpPr>
          <p:nvPr/>
        </p:nvSpPr>
        <p:spPr>
          <a:xfrm xmlns:a="http://schemas.openxmlformats.org/drawingml/2006/main">
            <a:off x="7848600" y="2400300"/>
            <a:ext cx="1428750" cy="323850"/>
          </a:xfrm>
          <a:prstGeom xmlns:a="http://schemas.openxmlformats.org/drawingml/2006/main" prst="roundRect">
            <a:avLst>
              <a:gd name="adj" fmla="val 50000"/>
            </a:avLst>
          </a:prstGeom>
          <a:solidFill xmlns:a="http://schemas.openxmlformats.org/drawingml/2006/main">
            <a:srgbClr val="53694C"/>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SIGNED RECEIPT</a:t>
            </a:r>
          </a:p>
        </p:txBody>
      </p:sp>
      <p:sp>
        <p:nvSpPr>
          <p:cNvPr id="16" name="">
            <a:extLst xmlns:a="http://schemas.openxmlformats.org/drawingml/2006/main">
              <a:ext uri="{FF2B5EF4-FFF2-40B4-BE49-F238E27FC236}">
                <a16:creationId xmlns:a16="http://schemas.microsoft.com/office/drawing/2014/main" id="{1EFAF93B-75FC-4500-B705-365A6EA28ADC}"/>
              </a:ext>
            </a:extLst>
          </p:cNvPr>
          <p:cNvSpPr>
            <a:spLocks xmlns:a="http://schemas.openxmlformats.org/drawingml/2006/main" noGrp="1"/>
          </p:cNvSpPr>
          <p:nvPr/>
        </p:nvSpPr>
        <p:spPr>
          <a:xfrm xmlns:a="http://schemas.openxmlformats.org/drawingml/2006/main">
            <a:off x="7848600" y="2914650"/>
            <a:ext cx="2647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92A26"/>
                </a:solidFill>
                <a:latin typeface="Helvetica Neue"/>
                <a:ea typeface="Helvetica Neue"/>
                <a:cs typeface="Helvetica Neue"/>
              </a:defRPr>
            </a:pPr>
            <a:r>
              <a:rPr sz="1575" b="1">
                <a:solidFill>
                  <a:srgbClr val="292A26"/>
                </a:solidFill>
                <a:latin typeface="Helvetica Neue"/>
                <a:ea typeface="Helvetica Neue"/>
                <a:cs typeface="Helvetica Neue"/>
              </a:rPr>
              <a:t>Input hash, model digest, config, output, nonce and previous record hash are bound.</a:t>
            </a:r>
          </a:p>
        </p:txBody>
      </p:sp>
      <p:sp>
        <p:nvSpPr>
          <p:cNvPr id="17" name="">
            <a:extLst xmlns:a="http://schemas.openxmlformats.org/drawingml/2006/main">
              <a:ext uri="{FF2B5EF4-FFF2-40B4-BE49-F238E27FC236}">
                <a16:creationId xmlns:a16="http://schemas.microsoft.com/office/drawing/2014/main" id="{C2C93380-5C4F-473A-80D5-104499DF6331}"/>
              </a:ext>
            </a:extLst>
          </p:cNvPr>
          <p:cNvSpPr>
            <a:spLocks xmlns:a="http://schemas.openxmlformats.org/drawingml/2006/main" noGrp="1"/>
          </p:cNvSpPr>
          <p:nvPr/>
        </p:nvSpPr>
        <p:spPr>
          <a:xfrm xmlns:a="http://schemas.openxmlformats.org/drawingml/2006/main">
            <a:off x="723900" y="48291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VERDICT</a:t>
            </a:r>
          </a:p>
        </p:txBody>
      </p:sp>
      <p:sp>
        <p:nvSpPr>
          <p:cNvPr id="18" name="">
            <a:extLst xmlns:a="http://schemas.openxmlformats.org/drawingml/2006/main">
              <a:ext uri="{FF2B5EF4-FFF2-40B4-BE49-F238E27FC236}">
                <a16:creationId xmlns:a16="http://schemas.microsoft.com/office/drawing/2014/main" id="{95C7DED1-BAA7-4C81-9CF9-57CECD8DBDC6}"/>
              </a:ext>
            </a:extLst>
          </p:cNvPr>
          <p:cNvSpPr>
            <a:spLocks xmlns:a="http://schemas.openxmlformats.org/drawingml/2006/main" noGrp="1"/>
          </p:cNvSpPr>
          <p:nvPr/>
        </p:nvSpPr>
        <p:spPr>
          <a:xfrm xmlns:a="http://schemas.openxmlformats.org/drawingml/2006/main">
            <a:off x="723900" y="5105400"/>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92A26"/>
                </a:solidFill>
                <a:latin typeface="Helvetica Neue"/>
                <a:ea typeface="Helvetica Neue"/>
                <a:cs typeface="Helvetica Neue"/>
              </a:defRPr>
            </a:pPr>
            <a:r>
              <a:rPr sz="1725" b="1">
                <a:solidFill>
                  <a:srgbClr val="292A26"/>
                </a:solidFill>
                <a:latin typeface="Helvetica Neue"/>
                <a:ea typeface="Helvetica Neue"/>
                <a:cs typeface="Helvetica Neue"/>
              </a:rPr>
              <a:t>Quarantine the source and model pair. Preserve evidence. Do not overclaim the attack class.</a:t>
            </a:r>
          </a:p>
        </p:txBody>
      </p:sp>
      <p:sp>
        <p:nvSpPr>
          <p:cNvPr id="19" name="">
            <a:extLst xmlns:a="http://schemas.openxmlformats.org/drawingml/2006/main">
              <a:ext uri="{FF2B5EF4-FFF2-40B4-BE49-F238E27FC236}">
                <a16:creationId xmlns:a16="http://schemas.microsoft.com/office/drawing/2014/main" id="{A749525B-4818-4470-BD40-A70788A7D31B}"/>
              </a:ext>
            </a:extLst>
          </p:cNvPr>
          <p:cNvSpPr>
            <a:spLocks xmlns:a="http://schemas.openxmlformats.org/drawingml/2006/main" noGrp="1"/>
          </p:cNvSpPr>
          <p:nvPr/>
        </p:nvSpPr>
        <p:spPr>
          <a:xfrm xmlns:a="http://schemas.openxmlformats.org/drawingml/2006/main">
            <a:off x="723900" y="57626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Research test: compare isolated detectors with the evidence graph at matched clean false-positive rate.</a:t>
            </a:r>
          </a:p>
        </p:txBody>
      </p:sp>
      <p:sp>
        <p:nvSpPr>
          <p:cNvPr id="20" name="">
            <a:extLst xmlns:a="http://schemas.openxmlformats.org/drawingml/2006/main">
              <a:ext uri="{FF2B5EF4-FFF2-40B4-BE49-F238E27FC236}">
                <a16:creationId xmlns:a16="http://schemas.microsoft.com/office/drawing/2014/main" id="{00D8B7F3-A5F6-455E-84D6-247EA9C1851F}"/>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453449019"/>
      </p:ext>
    </p:extLst>
  </p:cSld>
</p:sld>
</file>

<file path=ppt/slides/slide9.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7D70AF-C495-4F0D-A7BC-DA3C1C7B1C7F}"/>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PROOF PLAN</a:t>
            </a:r>
          </a:p>
        </p:txBody>
      </p:sp>
      <p:sp>
        <p:nvSpPr>
          <p:cNvPr id="2" name="">
            <a:extLst xmlns:a="http://schemas.openxmlformats.org/drawingml/2006/main">
              <a:ext uri="{FF2B5EF4-FFF2-40B4-BE49-F238E27FC236}">
                <a16:creationId xmlns:a16="http://schemas.microsoft.com/office/drawing/2014/main" id="{80398673-7887-43B0-9385-55E538901C00}"/>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66ABA4F1-0EAA-4F34-8D38-DF8DF18DDFFA}"/>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D3A7DB06-8EB8-4B16-A68A-C4DF88C24134}"/>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16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A public benchmark suite covers the three claims we must prove</a:t>
            </a:r>
          </a:p>
        </p:txBody>
      </p:sp>
      <p:sp>
        <p:nvSpPr>
          <p:cNvPr id="5" name="">
            <a:extLst xmlns:a="http://schemas.openxmlformats.org/drawingml/2006/main">
              <a:ext uri="{FF2B5EF4-FFF2-40B4-BE49-F238E27FC236}">
                <a16:creationId xmlns:a16="http://schemas.microsoft.com/office/drawing/2014/main" id="{922AFF3D-913E-4EB6-98C3-720ED6026F0D}"/>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We use official ground truth and preserve its train, test and holdout discipline.</a:t>
            </a:r>
          </a:p>
        </p:txBody>
      </p:sp>
      <p:sp>
        <p:nvSpPr>
          <p:cNvPr id="6" name="">
            <a:extLst xmlns:a="http://schemas.openxmlformats.org/drawingml/2006/main">
              <a:ext uri="{FF2B5EF4-FFF2-40B4-BE49-F238E27FC236}">
                <a16:creationId xmlns:a16="http://schemas.microsoft.com/office/drawing/2014/main" id="{87A50853-B430-4EDF-9D49-CBE9D34A9DF0}"/>
              </a:ext>
            </a:extLst>
          </p:cNvPr>
          <p:cNvSpPr>
            <a:spLocks xmlns:a="http://schemas.openxmlformats.org/drawingml/2006/main" noGrp="1"/>
          </p:cNvSpPr>
          <p:nvPr/>
        </p:nvSpPr>
        <p:spPr>
          <a:xfrm xmlns:a="http://schemas.openxmlformats.org/drawingml/2006/main">
            <a:off x="685800" y="1943100"/>
            <a:ext cx="6762750" cy="3390900"/>
          </a:xfrm>
          <a:prstGeom xmlns:a="http://schemas.openxmlformats.org/drawingml/2006/main" prst="roundRect">
            <a:avLst>
              <a:gd name="adj" fmla="val 4494"/>
            </a:avLst>
          </a:prstGeom>
          <a:solidFill xmlns:a="http://schemas.openxmlformats.org/drawingml/2006/main">
            <a:srgbClr val="1F272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4BFA1D-337F-47BB-AA05-A2ECC64165E5}"/>
              </a:ext>
            </a:extLst>
          </p:cNvPr>
          <p:cNvSpPr>
            <a:spLocks xmlns:a="http://schemas.openxmlformats.org/drawingml/2006/main" noGrp="1"/>
          </p:cNvSpPr>
          <p:nvPr/>
        </p:nvSpPr>
        <p:spPr>
          <a:xfrm xmlns:a="http://schemas.openxmlformats.org/drawingml/2006/main">
            <a:off x="952500" y="21526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PRIMARY BENCHMARK</a:t>
            </a:r>
          </a:p>
        </p:txBody>
      </p:sp>
      <p:sp>
        <p:nvSpPr>
          <p:cNvPr id="8" name="">
            <a:extLst xmlns:a="http://schemas.openxmlformats.org/drawingml/2006/main">
              <a:ext uri="{FF2B5EF4-FFF2-40B4-BE49-F238E27FC236}">
                <a16:creationId xmlns:a16="http://schemas.microsoft.com/office/drawing/2014/main" id="{8AC0FB16-77E0-45A0-A109-E6044022A607}"/>
              </a:ext>
            </a:extLst>
          </p:cNvPr>
          <p:cNvSpPr>
            <a:spLocks xmlns:a="http://schemas.openxmlformats.org/drawingml/2006/main" noGrp="1"/>
          </p:cNvSpPr>
          <p:nvPr/>
        </p:nvSpPr>
        <p:spPr>
          <a:xfrm xmlns:a="http://schemas.openxmlformats.org/drawingml/2006/main">
            <a:off x="952500" y="25431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CF6"/>
                </a:solidFill>
                <a:latin typeface="Helvetica Neue"/>
                <a:ea typeface="Helvetica Neue"/>
                <a:cs typeface="Helvetica Neue"/>
              </a:defRPr>
            </a:pPr>
            <a:r>
              <a:rPr sz="2400" b="1">
                <a:solidFill>
                  <a:srgbClr val="FFFCF6"/>
                </a:solidFill>
                <a:latin typeface="Helvetica Neue"/>
                <a:ea typeface="Helvetica Neue"/>
                <a:cs typeface="Helvetica Neue"/>
              </a:rPr>
              <a:t>NIST TrojAI Round 13</a:t>
            </a:r>
          </a:p>
        </p:txBody>
      </p:sp>
      <p:sp>
        <p:nvSpPr>
          <p:cNvPr id="9" name="">
            <a:extLst xmlns:a="http://schemas.openxmlformats.org/drawingml/2006/main">
              <a:ext uri="{FF2B5EF4-FFF2-40B4-BE49-F238E27FC236}">
                <a16:creationId xmlns:a16="http://schemas.microsoft.com/office/drawing/2014/main" id="{95D5877E-6F3A-4617-B16B-9290723B286D}"/>
              </a:ext>
            </a:extLst>
          </p:cNvPr>
          <p:cNvSpPr>
            <a:spLocks xmlns:a="http://schemas.openxmlformats.org/drawingml/2006/main" noGrp="1"/>
          </p:cNvSpPr>
          <p:nvPr/>
        </p:nvSpPr>
        <p:spPr>
          <a:xfrm xmlns:a="http://schemas.openxmlformats.org/drawingml/2006/main">
            <a:off x="952500" y="3257550"/>
            <a:ext cx="109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FFFCF6"/>
                </a:solidFill>
                <a:latin typeface="Helvetica Neue"/>
                <a:ea typeface="Helvetica Neue"/>
                <a:cs typeface="Helvetica Neue"/>
              </a:defRPr>
            </a:pPr>
            <a:r>
              <a:rPr sz="3225" b="1">
                <a:solidFill>
                  <a:srgbClr val="FFFCF6"/>
                </a:solidFill>
                <a:latin typeface="Helvetica Neue"/>
                <a:ea typeface="Helvetica Neue"/>
                <a:cs typeface="Helvetica Neue"/>
              </a:rPr>
              <a:t>128</a:t>
            </a:r>
          </a:p>
        </p:txBody>
      </p:sp>
      <p:sp>
        <p:nvSpPr>
          <p:cNvPr id="10" name="">
            <a:extLst xmlns:a="http://schemas.openxmlformats.org/drawingml/2006/main">
              <a:ext uri="{FF2B5EF4-FFF2-40B4-BE49-F238E27FC236}">
                <a16:creationId xmlns:a16="http://schemas.microsoft.com/office/drawing/2014/main" id="{7EAB217B-60D1-4733-8D9E-BBC68BF26A98}"/>
              </a:ext>
            </a:extLst>
          </p:cNvPr>
          <p:cNvSpPr>
            <a:spLocks xmlns:a="http://schemas.openxmlformats.org/drawingml/2006/main" noGrp="1"/>
          </p:cNvSpPr>
          <p:nvPr/>
        </p:nvSpPr>
        <p:spPr>
          <a:xfrm xmlns:a="http://schemas.openxmlformats.org/drawingml/2006/main">
            <a:off x="952500" y="3886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CBD0C8"/>
                </a:solidFill>
                <a:latin typeface="Helvetica Neue"/>
                <a:ea typeface="Helvetica Neue"/>
                <a:cs typeface="Helvetica Neue"/>
              </a:defRPr>
            </a:pPr>
            <a:r>
              <a:rPr sz="900" b="1">
                <a:solidFill>
                  <a:srgbClr val="CBD0C8"/>
                </a:solidFill>
                <a:latin typeface="Helvetica Neue"/>
                <a:ea typeface="Helvetica Neue"/>
                <a:cs typeface="Helvetica Neue"/>
              </a:rPr>
              <a:t>TRAIN MODELS</a:t>
            </a:r>
          </a:p>
        </p:txBody>
      </p:sp>
      <p:sp>
        <p:nvSpPr>
          <p:cNvPr id="11" name="">
            <a:extLst xmlns:a="http://schemas.openxmlformats.org/drawingml/2006/main">
              <a:ext uri="{FF2B5EF4-FFF2-40B4-BE49-F238E27FC236}">
                <a16:creationId xmlns:a16="http://schemas.microsoft.com/office/drawing/2014/main" id="{FF560D67-C624-4E3D-BEBB-325529B1F59F}"/>
              </a:ext>
            </a:extLst>
          </p:cNvPr>
          <p:cNvSpPr>
            <a:spLocks xmlns:a="http://schemas.openxmlformats.org/drawingml/2006/main" noGrp="1"/>
          </p:cNvSpPr>
          <p:nvPr/>
        </p:nvSpPr>
        <p:spPr>
          <a:xfrm xmlns:a="http://schemas.openxmlformats.org/drawingml/2006/main">
            <a:off x="2590800" y="3257550"/>
            <a:ext cx="109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FFFCF6"/>
                </a:solidFill>
                <a:latin typeface="Helvetica Neue"/>
                <a:ea typeface="Helvetica Neue"/>
                <a:cs typeface="Helvetica Neue"/>
              </a:defRPr>
            </a:pPr>
            <a:r>
              <a:rPr sz="3225" b="1">
                <a:solidFill>
                  <a:srgbClr val="FFFCF6"/>
                </a:solidFill>
                <a:latin typeface="Helvetica Neue"/>
                <a:ea typeface="Helvetica Neue"/>
                <a:cs typeface="Helvetica Neue"/>
              </a:rPr>
              <a:t>192</a:t>
            </a:r>
          </a:p>
        </p:txBody>
      </p:sp>
      <p:sp>
        <p:nvSpPr>
          <p:cNvPr id="12" name="">
            <a:extLst xmlns:a="http://schemas.openxmlformats.org/drawingml/2006/main">
              <a:ext uri="{FF2B5EF4-FFF2-40B4-BE49-F238E27FC236}">
                <a16:creationId xmlns:a16="http://schemas.microsoft.com/office/drawing/2014/main" id="{005FAB06-70F4-4932-A461-CC3194149FFF}"/>
              </a:ext>
            </a:extLst>
          </p:cNvPr>
          <p:cNvSpPr>
            <a:spLocks xmlns:a="http://schemas.openxmlformats.org/drawingml/2006/main" noGrp="1"/>
          </p:cNvSpPr>
          <p:nvPr/>
        </p:nvSpPr>
        <p:spPr>
          <a:xfrm xmlns:a="http://schemas.openxmlformats.org/drawingml/2006/main">
            <a:off x="2590800" y="3886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CBD0C8"/>
                </a:solidFill>
                <a:latin typeface="Helvetica Neue"/>
                <a:ea typeface="Helvetica Neue"/>
                <a:cs typeface="Helvetica Neue"/>
              </a:defRPr>
            </a:pPr>
            <a:r>
              <a:rPr sz="900" b="1">
                <a:solidFill>
                  <a:srgbClr val="CBD0C8"/>
                </a:solidFill>
                <a:latin typeface="Helvetica Neue"/>
                <a:ea typeface="Helvetica Neue"/>
                <a:cs typeface="Helvetica Neue"/>
              </a:rPr>
              <a:t>TEST MODELS</a:t>
            </a:r>
          </a:p>
        </p:txBody>
      </p:sp>
      <p:sp>
        <p:nvSpPr>
          <p:cNvPr id="13" name="">
            <a:extLst xmlns:a="http://schemas.openxmlformats.org/drawingml/2006/main">
              <a:ext uri="{FF2B5EF4-FFF2-40B4-BE49-F238E27FC236}">
                <a16:creationId xmlns:a16="http://schemas.microsoft.com/office/drawing/2014/main" id="{637B6250-E296-485F-8C6D-AD8498272329}"/>
              </a:ext>
            </a:extLst>
          </p:cNvPr>
          <p:cNvSpPr>
            <a:spLocks xmlns:a="http://schemas.openxmlformats.org/drawingml/2006/main" noGrp="1"/>
          </p:cNvSpPr>
          <p:nvPr/>
        </p:nvSpPr>
        <p:spPr>
          <a:xfrm xmlns:a="http://schemas.openxmlformats.org/drawingml/2006/main">
            <a:off x="4229100" y="3257550"/>
            <a:ext cx="109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FFFCF6"/>
                </a:solidFill>
                <a:latin typeface="Helvetica Neue"/>
                <a:ea typeface="Helvetica Neue"/>
                <a:cs typeface="Helvetica Neue"/>
              </a:defRPr>
            </a:pPr>
            <a:r>
              <a:rPr sz="3225" b="1">
                <a:solidFill>
                  <a:srgbClr val="FFFCF6"/>
                </a:solidFill>
                <a:latin typeface="Helvetica Neue"/>
                <a:ea typeface="Helvetica Neue"/>
                <a:cs typeface="Helvetica Neue"/>
              </a:rPr>
              <a:t>192</a:t>
            </a:r>
          </a:p>
        </p:txBody>
      </p:sp>
      <p:sp>
        <p:nvSpPr>
          <p:cNvPr id="14" name="">
            <a:extLst xmlns:a="http://schemas.openxmlformats.org/drawingml/2006/main">
              <a:ext uri="{FF2B5EF4-FFF2-40B4-BE49-F238E27FC236}">
                <a16:creationId xmlns:a16="http://schemas.microsoft.com/office/drawing/2014/main" id="{6E66F607-BFFD-4A75-BEC7-A72B97D8F3F6}"/>
              </a:ext>
            </a:extLst>
          </p:cNvPr>
          <p:cNvSpPr>
            <a:spLocks xmlns:a="http://schemas.openxmlformats.org/drawingml/2006/main" noGrp="1"/>
          </p:cNvSpPr>
          <p:nvPr/>
        </p:nvSpPr>
        <p:spPr>
          <a:xfrm xmlns:a="http://schemas.openxmlformats.org/drawingml/2006/main">
            <a:off x="4229100" y="38862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79"/>
          </a:bodyPr>
          <a:lstStyle xmlns:a="http://schemas.openxmlformats.org/drawingml/2006/main"/>
          <a:p xmlns:a="http://schemas.openxmlformats.org/drawingml/2006/main">
            <a:pPr>
              <a:defRPr sz="900" b="1">
                <a:solidFill>
                  <a:srgbClr val="CBD0C8"/>
                </a:solidFill>
                <a:latin typeface="Helvetica Neue"/>
                <a:ea typeface="Helvetica Neue"/>
                <a:cs typeface="Helvetica Neue"/>
              </a:defRPr>
            </a:pPr>
            <a:r>
              <a:rPr sz="900" b="1">
                <a:solidFill>
                  <a:srgbClr val="CBD0C8"/>
                </a:solidFill>
                <a:latin typeface="Helvetica Neue"/>
                <a:ea typeface="Helvetica Neue"/>
                <a:cs typeface="Helvetica Neue"/>
              </a:rPr>
              <a:t>HOLDOUT MODELS</a:t>
            </a:r>
          </a:p>
        </p:txBody>
      </p:sp>
      <p:sp>
        <p:nvSpPr>
          <p:cNvPr id="15" name="">
            <a:extLst xmlns:a="http://schemas.openxmlformats.org/drawingml/2006/main">
              <a:ext uri="{FF2B5EF4-FFF2-40B4-BE49-F238E27FC236}">
                <a16:creationId xmlns:a16="http://schemas.microsoft.com/office/drawing/2014/main" id="{8C60417B-4320-41F9-969B-D0534B59C4A7}"/>
              </a:ext>
            </a:extLst>
          </p:cNvPr>
          <p:cNvSpPr>
            <a:spLocks xmlns:a="http://schemas.openxmlformats.org/drawingml/2006/main" noGrp="1"/>
          </p:cNvSpPr>
          <p:nvPr/>
        </p:nvSpPr>
        <p:spPr>
          <a:xfrm xmlns:a="http://schemas.openxmlformats.org/drawingml/2006/main">
            <a:off x="952500" y="44481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FFFCF6"/>
                </a:solidFill>
                <a:latin typeface="Helvetica Neue"/>
                <a:ea typeface="Helvetica Neue"/>
                <a:cs typeface="Helvetica Neue"/>
              </a:defRPr>
            </a:pPr>
            <a:r>
              <a:rPr sz="1350" b="1">
                <a:solidFill>
                  <a:srgbClr val="FFFCF6"/>
                </a:solidFill>
                <a:latin typeface="Helvetica Neue"/>
                <a:ea typeface="Helvetica Neue"/>
                <a:cs typeface="Helvetica Neue"/>
              </a:rPr>
              <a:t>SSD  ·  Faster R-CNN  ·  DETR</a:t>
            </a:r>
          </a:p>
        </p:txBody>
      </p:sp>
      <p:sp>
        <p:nvSpPr>
          <p:cNvPr id="16" name="">
            <a:extLst xmlns:a="http://schemas.openxmlformats.org/drawingml/2006/main">
              <a:ext uri="{FF2B5EF4-FFF2-40B4-BE49-F238E27FC236}">
                <a16:creationId xmlns:a16="http://schemas.microsoft.com/office/drawing/2014/main" id="{9BEDA623-3CBA-450D-A4D1-AFD2238DDA37}"/>
              </a:ext>
            </a:extLst>
          </p:cNvPr>
          <p:cNvSpPr>
            <a:spLocks xmlns:a="http://schemas.openxmlformats.org/drawingml/2006/main" noGrp="1"/>
          </p:cNvSpPr>
          <p:nvPr/>
        </p:nvSpPr>
        <p:spPr>
          <a:xfrm xmlns:a="http://schemas.openxmlformats.org/drawingml/2006/main">
            <a:off x="952500" y="480060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84"/>
          </a:bodyPr>
          <a:lstStyle xmlns:a="http://schemas.openxmlformats.org/drawingml/2006/main"/>
          <a:p xmlns:a="http://schemas.openxmlformats.org/drawingml/2006/main">
            <a:pPr>
              <a:defRPr sz="1200" b="0">
                <a:solidFill>
                  <a:srgbClr val="CBD0C8"/>
                </a:solidFill>
                <a:latin typeface="Helvetica Neue"/>
                <a:ea typeface="Helvetica Neue"/>
                <a:cs typeface="Helvetica Neue"/>
              </a:defRPr>
            </a:pPr>
            <a:r>
              <a:rPr sz="1200" b="0">
                <a:solidFill>
                  <a:srgbClr val="CBD0C8"/>
                </a:solidFill>
                <a:latin typeface="Helvetica Neue"/>
                <a:ea typeface="Helvetica Neue"/>
                <a:cs typeface="Helvetica Neue"/>
              </a:rPr>
              <a:t>Misclassification, evasion, localisation and injection triggers, including spurious clean controls.</a:t>
            </a:r>
          </a:p>
        </p:txBody>
      </p:sp>
      <p:sp>
        <p:nvSpPr>
          <p:cNvPr id="17" name="">
            <a:extLst xmlns:a="http://schemas.openxmlformats.org/drawingml/2006/main">
              <a:ext uri="{FF2B5EF4-FFF2-40B4-BE49-F238E27FC236}">
                <a16:creationId xmlns:a16="http://schemas.microsoft.com/office/drawing/2014/main" id="{3668F245-D56B-483D-8188-09F1D339BF56}"/>
              </a:ext>
            </a:extLst>
          </p:cNvPr>
          <p:cNvSpPr>
            <a:spLocks xmlns:a="http://schemas.openxmlformats.org/drawingml/2006/main" noGrp="1"/>
          </p:cNvSpPr>
          <p:nvPr/>
        </p:nvSpPr>
        <p:spPr>
          <a:xfrm xmlns:a="http://schemas.openxmlformats.org/drawingml/2006/main">
            <a:off x="7753350" y="1943100"/>
            <a:ext cx="3752850" cy="3390900"/>
          </a:xfrm>
          <a:prstGeom xmlns:a="http://schemas.openxmlformats.org/drawingml/2006/main" prst="roundRect">
            <a:avLst>
              <a:gd name="adj" fmla="val 4494"/>
            </a:avLst>
          </a:prstGeom>
          <a:solidFill xmlns:a="http://schemas.openxmlformats.org/drawingml/2006/main">
            <a:srgbClr val="FFFCF6"/>
          </a:solidFill>
          <a:ln xmlns:a="http://schemas.openxmlformats.org/drawingml/2006/main" w="9525">
            <a:solidFill>
              <a:srgbClr val="DED0BC"/>
            </a:solidFill>
          </a:ln>
        </p:spPr>
      </p:sp>
      <p:sp>
        <p:nvSpPr>
          <p:cNvPr id="18" name="">
            <a:extLst xmlns:a="http://schemas.openxmlformats.org/drawingml/2006/main">
              <a:ext uri="{FF2B5EF4-FFF2-40B4-BE49-F238E27FC236}">
                <a16:creationId xmlns:a16="http://schemas.microsoft.com/office/drawing/2014/main" id="{6B2E69A9-0E27-45B1-B3C9-F294E350D7B3}"/>
              </a:ext>
            </a:extLst>
          </p:cNvPr>
          <p:cNvSpPr>
            <a:spLocks xmlns:a="http://schemas.openxmlformats.org/drawingml/2006/main" noGrp="1"/>
          </p:cNvSpPr>
          <p:nvPr/>
        </p:nvSpPr>
        <p:spPr>
          <a:xfrm xmlns:a="http://schemas.openxmlformats.org/drawingml/2006/main">
            <a:off x="8020050" y="2152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NATURAL SHIFT</a:t>
            </a:r>
          </a:p>
        </p:txBody>
      </p:sp>
      <p:sp>
        <p:nvSpPr>
          <p:cNvPr id="19" name="">
            <a:extLst xmlns:a="http://schemas.openxmlformats.org/drawingml/2006/main">
              <a:ext uri="{FF2B5EF4-FFF2-40B4-BE49-F238E27FC236}">
                <a16:creationId xmlns:a16="http://schemas.microsoft.com/office/drawing/2014/main" id="{CE16E2CF-3DC4-4273-AD4E-A15221FA7EE6}"/>
              </a:ext>
            </a:extLst>
          </p:cNvPr>
          <p:cNvSpPr>
            <a:spLocks xmlns:a="http://schemas.openxmlformats.org/drawingml/2006/main" noGrp="1"/>
          </p:cNvSpPr>
          <p:nvPr/>
        </p:nvSpPr>
        <p:spPr>
          <a:xfrm xmlns:a="http://schemas.openxmlformats.org/drawingml/2006/main">
            <a:off x="8020050" y="25431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292A26"/>
                </a:solidFill>
                <a:latin typeface="Helvetica Neue"/>
                <a:ea typeface="Helvetica Neue"/>
                <a:cs typeface="Helvetica Neue"/>
              </a:defRPr>
            </a:pPr>
            <a:r>
              <a:rPr sz="2400" b="1">
                <a:solidFill>
                  <a:srgbClr val="292A26"/>
                </a:solidFill>
                <a:latin typeface="Helvetica Neue"/>
                <a:ea typeface="Helvetica Neue"/>
                <a:cs typeface="Helvetica Neue"/>
              </a:rPr>
              <a:t>COCO-O</a:t>
            </a:r>
          </a:p>
        </p:txBody>
      </p:sp>
      <p:sp>
        <p:nvSpPr>
          <p:cNvPr id="20" name="">
            <a:extLst xmlns:a="http://schemas.openxmlformats.org/drawingml/2006/main">
              <a:ext uri="{FF2B5EF4-FFF2-40B4-BE49-F238E27FC236}">
                <a16:creationId xmlns:a16="http://schemas.microsoft.com/office/drawing/2014/main" id="{88007E69-06DB-4A2B-BB7D-FD538BD5ECD0}"/>
              </a:ext>
            </a:extLst>
          </p:cNvPr>
          <p:cNvSpPr>
            <a:spLocks xmlns:a="http://schemas.openxmlformats.org/drawingml/2006/main" noGrp="1"/>
          </p:cNvSpPr>
          <p:nvPr/>
        </p:nvSpPr>
        <p:spPr>
          <a:xfrm xmlns:a="http://schemas.openxmlformats.org/drawingml/2006/main">
            <a:off x="8020050" y="3181350"/>
            <a:ext cx="152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225" b="1">
                <a:solidFill>
                  <a:srgbClr val="5B6546"/>
                </a:solidFill>
                <a:latin typeface="Helvetica Neue"/>
                <a:ea typeface="Helvetica Neue"/>
                <a:cs typeface="Helvetica Neue"/>
              </a:defRPr>
            </a:pPr>
            <a:r>
              <a:rPr sz="3225" b="1">
                <a:solidFill>
                  <a:srgbClr val="5B6546"/>
                </a:solidFill>
                <a:latin typeface="Helvetica Neue"/>
                <a:ea typeface="Helvetica Neue"/>
                <a:cs typeface="Helvetica Neue"/>
              </a:rPr>
              <a:t>6,782</a:t>
            </a:r>
          </a:p>
        </p:txBody>
      </p:sp>
      <p:sp>
        <p:nvSpPr>
          <p:cNvPr id="21" name="">
            <a:extLst xmlns:a="http://schemas.openxmlformats.org/drawingml/2006/main">
              <a:ext uri="{FF2B5EF4-FFF2-40B4-BE49-F238E27FC236}">
                <a16:creationId xmlns:a16="http://schemas.microsoft.com/office/drawing/2014/main" id="{F6612DD6-CE11-433E-AACC-8D9D9197FB7F}"/>
              </a:ext>
            </a:extLst>
          </p:cNvPr>
          <p:cNvSpPr>
            <a:spLocks xmlns:a="http://schemas.openxmlformats.org/drawingml/2006/main" noGrp="1"/>
          </p:cNvSpPr>
          <p:nvPr/>
        </p:nvSpPr>
        <p:spPr>
          <a:xfrm xmlns:a="http://schemas.openxmlformats.org/drawingml/2006/main">
            <a:off x="9601200" y="33432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696B62"/>
                </a:solidFill>
                <a:latin typeface="Helvetica Neue"/>
                <a:ea typeface="Helvetica Neue"/>
                <a:cs typeface="Helvetica Neue"/>
              </a:defRPr>
            </a:pPr>
            <a:r>
              <a:rPr sz="1275" b="1">
                <a:solidFill>
                  <a:srgbClr val="696B62"/>
                </a:solidFill>
                <a:latin typeface="Helvetica Neue"/>
                <a:ea typeface="Helvetica Neue"/>
                <a:cs typeface="Helvetica Neue"/>
              </a:rPr>
              <a:t>real images</a:t>
            </a:r>
          </a:p>
        </p:txBody>
      </p:sp>
      <p:sp>
        <p:nvSpPr>
          <p:cNvPr id="22" name="">
            <a:extLst xmlns:a="http://schemas.openxmlformats.org/drawingml/2006/main">
              <a:ext uri="{FF2B5EF4-FFF2-40B4-BE49-F238E27FC236}">
                <a16:creationId xmlns:a16="http://schemas.microsoft.com/office/drawing/2014/main" id="{325BF0FE-3C3B-4778-BF50-FF8869196EC3}"/>
              </a:ext>
            </a:extLst>
          </p:cNvPr>
          <p:cNvSpPr>
            <a:spLocks xmlns:a="http://schemas.openxmlformats.org/drawingml/2006/main" noGrp="1"/>
          </p:cNvSpPr>
          <p:nvPr/>
        </p:nvSpPr>
        <p:spPr>
          <a:xfrm xmlns:a="http://schemas.openxmlformats.org/drawingml/2006/main">
            <a:off x="8020050" y="396240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292A26"/>
                </a:solidFill>
                <a:latin typeface="Helvetica Neue"/>
                <a:ea typeface="Helvetica Neue"/>
                <a:cs typeface="Helvetica Neue"/>
              </a:defRPr>
            </a:pPr>
            <a:r>
              <a:rPr sz="1650" b="1">
                <a:solidFill>
                  <a:srgbClr val="292A26"/>
                </a:solidFill>
                <a:latin typeface="Helvetica Neue"/>
                <a:ea typeface="Helvetica Neue"/>
                <a:cs typeface="Helvetica Neue"/>
              </a:rPr>
              <a:t>6 domains</a:t>
            </a:r>
          </a:p>
        </p:txBody>
      </p:sp>
      <p:sp>
        <p:nvSpPr>
          <p:cNvPr id="23" name="">
            <a:extLst xmlns:a="http://schemas.openxmlformats.org/drawingml/2006/main">
              <a:ext uri="{FF2B5EF4-FFF2-40B4-BE49-F238E27FC236}">
                <a16:creationId xmlns:a16="http://schemas.microsoft.com/office/drawing/2014/main" id="{EE547694-AF1E-43FB-9E6F-D0F275BAB4C4}"/>
              </a:ext>
            </a:extLst>
          </p:cNvPr>
          <p:cNvSpPr>
            <a:spLocks xmlns:a="http://schemas.openxmlformats.org/drawingml/2006/main" noGrp="1"/>
          </p:cNvSpPr>
          <p:nvPr/>
        </p:nvSpPr>
        <p:spPr>
          <a:xfrm xmlns:a="http://schemas.openxmlformats.org/drawingml/2006/main">
            <a:off x="8020050" y="436245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sketch · weather · cartoon</a:t>
            </a:r>
          </a:p>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painting · tattoo · handmade</a:t>
            </a:r>
          </a:p>
        </p:txBody>
      </p:sp>
      <p:sp>
        <p:nvSpPr>
          <p:cNvPr id="24" name="">
            <a:extLst xmlns:a="http://schemas.openxmlformats.org/drawingml/2006/main">
              <a:ext uri="{FF2B5EF4-FFF2-40B4-BE49-F238E27FC236}">
                <a16:creationId xmlns:a16="http://schemas.microsoft.com/office/drawing/2014/main" id="{7788F255-D504-406C-949E-A08254CF136E}"/>
              </a:ext>
            </a:extLst>
          </p:cNvPr>
          <p:cNvSpPr>
            <a:spLocks xmlns:a="http://schemas.openxmlformats.org/drawingml/2006/main" noGrp="1"/>
          </p:cNvSpPr>
          <p:nvPr/>
        </p:nvSpPr>
        <p:spPr>
          <a:xfrm xmlns:a="http://schemas.openxmlformats.org/drawingml/2006/main">
            <a:off x="685800" y="55721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5B6546"/>
                </a:solidFill>
                <a:latin typeface="Helvetica Neue"/>
                <a:ea typeface="Helvetica Neue"/>
                <a:cs typeface="Helvetica Neue"/>
              </a:defRPr>
            </a:pPr>
            <a:r>
              <a:rPr sz="1425" b="1">
                <a:solidFill>
                  <a:srgbClr val="5B6546"/>
                </a:solidFill>
                <a:latin typeface="Helvetica Neue"/>
                <a:ea typeface="Helvetica Neue"/>
                <a:cs typeface="Helvetica Neue"/>
              </a:rPr>
              <a:t>Data-quality control: COCO-format clean data plus ObjectLab-style label checks.</a:t>
            </a:r>
          </a:p>
        </p:txBody>
      </p:sp>
      <p:sp>
        <p:nvSpPr>
          <p:cNvPr id="25" name="">
            <a:extLst xmlns:a="http://schemas.openxmlformats.org/drawingml/2006/main">
              <a:ext uri="{FF2B5EF4-FFF2-40B4-BE49-F238E27FC236}">
                <a16:creationId xmlns:a16="http://schemas.microsoft.com/office/drawing/2014/main" id="{9FBB378C-100A-4E43-BD94-ADEB6B614045}"/>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932638517"/>
      </p:ext>
    </p:extLst>
  </p:cSld>
</p:sld>
</file>

<file path=ppt/slides/slide10.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E0D077A-3AAE-4031-A3E2-C916012D1D74}"/>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THE LIVE PROTOTYPE</a:t>
            </a:r>
          </a:p>
        </p:txBody>
      </p:sp>
      <p:sp>
        <p:nvSpPr>
          <p:cNvPr id="2" name="">
            <a:extLst xmlns:a="http://schemas.openxmlformats.org/drawingml/2006/main">
              <a:ext uri="{FF2B5EF4-FFF2-40B4-BE49-F238E27FC236}">
                <a16:creationId xmlns:a16="http://schemas.microsoft.com/office/drawing/2014/main" id="{610369E2-5C61-43C3-B905-DED2E88B5C7A}"/>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63CC555B-D79D-402B-9AF8-5AE1A530E29D}"/>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3818358-58DA-488D-B552-1C4B5FFC715C}"/>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The working prototype proves the evidence loop today</a:t>
            </a:r>
          </a:p>
        </p:txBody>
      </p:sp>
      <p:sp>
        <p:nvSpPr>
          <p:cNvPr id="5" name="">
            <a:extLst xmlns:a="http://schemas.openxmlformats.org/drawingml/2006/main">
              <a:ext uri="{FF2B5EF4-FFF2-40B4-BE49-F238E27FC236}">
                <a16:creationId xmlns:a16="http://schemas.microsoft.com/office/drawing/2014/main" id="{64FBBBC9-03EE-455E-A6A2-A757190DADEA}"/>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Four connected actions turn separate clues into one reviewable decision.</a:t>
            </a:r>
          </a:p>
        </p:txBody>
      </p:sp>
      <p:sp>
        <p:nvSpPr>
          <p:cNvPr id="6" name="">
            <a:extLst xmlns:a="http://schemas.openxmlformats.org/drawingml/2006/main">
              <a:ext uri="{FF2B5EF4-FFF2-40B4-BE49-F238E27FC236}">
                <a16:creationId xmlns:a16="http://schemas.microsoft.com/office/drawing/2014/main" id="{E4C424FA-5B5A-4AC5-A763-A0B909541360}"/>
              </a:ext>
            </a:extLst>
          </p:cNvPr>
          <p:cNvSpPr>
            <a:spLocks xmlns:a="http://schemas.openxmlformats.org/drawingml/2006/main" noGrp="1"/>
          </p:cNvSpPr>
          <p:nvPr/>
        </p:nvSpPr>
        <p:spPr>
          <a:xfrm xmlns:a="http://schemas.openxmlformats.org/drawingml/2006/main">
            <a:off x="704850" y="203835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16640BA-98E7-466E-887C-14972EF1A670}"/>
              </a:ext>
            </a:extLst>
          </p:cNvPr>
          <p:cNvSpPr>
            <a:spLocks xmlns:a="http://schemas.openxmlformats.org/drawingml/2006/main" noGrp="1"/>
          </p:cNvSpPr>
          <p:nvPr/>
        </p:nvSpPr>
        <p:spPr>
          <a:xfrm xmlns:a="http://schemas.openxmlformats.org/drawingml/2006/main">
            <a:off x="1352550" y="2038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AUDIT</a:t>
            </a:r>
          </a:p>
        </p:txBody>
      </p:sp>
      <p:sp>
        <p:nvSpPr>
          <p:cNvPr id="8" name="">
            <a:extLst xmlns:a="http://schemas.openxmlformats.org/drawingml/2006/main">
              <a:ext uri="{FF2B5EF4-FFF2-40B4-BE49-F238E27FC236}">
                <a16:creationId xmlns:a16="http://schemas.microsoft.com/office/drawing/2014/main" id="{238D3F8F-B844-4FD8-8956-0830D1B2DC82}"/>
              </a:ext>
            </a:extLst>
          </p:cNvPr>
          <p:cNvSpPr>
            <a:spLocks xmlns:a="http://schemas.openxmlformats.org/drawingml/2006/main" noGrp="1"/>
          </p:cNvSpPr>
          <p:nvPr/>
        </p:nvSpPr>
        <p:spPr>
          <a:xfrm xmlns:a="http://schemas.openxmlformats.org/drawingml/2006/main">
            <a:off x="704850" y="2590800"/>
            <a:ext cx="2381250" cy="0"/>
          </a:xfrm>
          <a:prstGeom xmlns:a="http://schemas.openxmlformats.org/drawingml/2006/main" prst="line">
            <a:avLst/>
          </a:prstGeom>
          <a:noFill xmlns:a="http://schemas.openxmlformats.org/drawingml/2006/main"/>
          <a:ln xmlns:a="http://schemas.openxmlformats.org/drawingml/2006/main" w="19050">
            <a:solidFill>
              <a:srgbClr val="DED0BC"/>
            </a:solidFill>
            <a:prstDash val="solid"/>
          </a:ln>
        </p:spPr>
      </p:sp>
      <p:sp>
        <p:nvSpPr>
          <p:cNvPr id="9" name="">
            <a:extLst xmlns:a="http://schemas.openxmlformats.org/drawingml/2006/main">
              <a:ext uri="{FF2B5EF4-FFF2-40B4-BE49-F238E27FC236}">
                <a16:creationId xmlns:a16="http://schemas.microsoft.com/office/drawing/2014/main" id="{1F1BA0D7-9226-415E-863C-2F093F1BE838}"/>
              </a:ext>
            </a:extLst>
          </p:cNvPr>
          <p:cNvSpPr>
            <a:spLocks xmlns:a="http://schemas.openxmlformats.org/drawingml/2006/main" noGrp="1"/>
          </p:cNvSpPr>
          <p:nvPr/>
        </p:nvSpPr>
        <p:spPr>
          <a:xfrm xmlns:a="http://schemas.openxmlformats.org/drawingml/2006/main">
            <a:off x="704850" y="2800350"/>
            <a:ext cx="238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Inspect a COCO manifest</a:t>
            </a:r>
          </a:p>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and contributor-level clues</a:t>
            </a:r>
          </a:p>
        </p:txBody>
      </p:sp>
      <p:sp>
        <p:nvSpPr>
          <p:cNvPr id="10" name="">
            <a:extLst xmlns:a="http://schemas.openxmlformats.org/drawingml/2006/main">
              <a:ext uri="{FF2B5EF4-FFF2-40B4-BE49-F238E27FC236}">
                <a16:creationId xmlns:a16="http://schemas.microsoft.com/office/drawing/2014/main" id="{DC9461FD-4776-49F0-9F7C-C73971E43DA9}"/>
              </a:ext>
            </a:extLst>
          </p:cNvPr>
          <p:cNvSpPr>
            <a:spLocks xmlns:a="http://schemas.openxmlformats.org/drawingml/2006/main" noGrp="1"/>
          </p:cNvSpPr>
          <p:nvPr/>
        </p:nvSpPr>
        <p:spPr>
          <a:xfrm xmlns:a="http://schemas.openxmlformats.org/drawingml/2006/main">
            <a:off x="3524250" y="203835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F34D08A2-48C7-4F45-916F-047AB381D0B6}"/>
              </a:ext>
            </a:extLst>
          </p:cNvPr>
          <p:cNvSpPr>
            <a:spLocks xmlns:a="http://schemas.openxmlformats.org/drawingml/2006/main" noGrp="1"/>
          </p:cNvSpPr>
          <p:nvPr/>
        </p:nvSpPr>
        <p:spPr>
          <a:xfrm xmlns:a="http://schemas.openxmlformats.org/drawingml/2006/main">
            <a:off x="4171950" y="2038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CORROBORATE</a:t>
            </a:r>
          </a:p>
        </p:txBody>
      </p:sp>
      <p:sp>
        <p:nvSpPr>
          <p:cNvPr id="12" name="">
            <a:extLst xmlns:a="http://schemas.openxmlformats.org/drawingml/2006/main">
              <a:ext uri="{FF2B5EF4-FFF2-40B4-BE49-F238E27FC236}">
                <a16:creationId xmlns:a16="http://schemas.microsoft.com/office/drawing/2014/main" id="{DDF78707-F935-4367-83EC-EB5E7015E26B}"/>
              </a:ext>
            </a:extLst>
          </p:cNvPr>
          <p:cNvSpPr>
            <a:spLocks xmlns:a="http://schemas.openxmlformats.org/drawingml/2006/main" noGrp="1"/>
          </p:cNvSpPr>
          <p:nvPr/>
        </p:nvSpPr>
        <p:spPr>
          <a:xfrm xmlns:a="http://schemas.openxmlformats.org/drawingml/2006/main">
            <a:off x="3524250" y="2590800"/>
            <a:ext cx="2381250" cy="0"/>
          </a:xfrm>
          <a:prstGeom xmlns:a="http://schemas.openxmlformats.org/drawingml/2006/main" prst="line">
            <a:avLst/>
          </a:prstGeom>
          <a:noFill xmlns:a="http://schemas.openxmlformats.org/drawingml/2006/main"/>
          <a:ln xmlns:a="http://schemas.openxmlformats.org/drawingml/2006/main" w="19050">
            <a:solidFill>
              <a:srgbClr val="DED0BC"/>
            </a:solidFill>
            <a:prstDash val="solid"/>
          </a:ln>
        </p:spPr>
      </p:sp>
      <p:sp>
        <p:nvSpPr>
          <p:cNvPr id="13" name="">
            <a:extLst xmlns:a="http://schemas.openxmlformats.org/drawingml/2006/main">
              <a:ext uri="{FF2B5EF4-FFF2-40B4-BE49-F238E27FC236}">
                <a16:creationId xmlns:a16="http://schemas.microsoft.com/office/drawing/2014/main" id="{FA07BA22-4FEB-4254-8DBF-61069C171AC6}"/>
              </a:ext>
            </a:extLst>
          </p:cNvPr>
          <p:cNvSpPr>
            <a:spLocks xmlns:a="http://schemas.openxmlformats.org/drawingml/2006/main" noGrp="1"/>
          </p:cNvSpPr>
          <p:nvPr/>
        </p:nvSpPr>
        <p:spPr>
          <a:xfrm xmlns:a="http://schemas.openxmlformats.org/drawingml/2006/main">
            <a:off x="3524250" y="2800350"/>
            <a:ext cx="238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Import a declared NIST</a:t>
            </a:r>
          </a:p>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behaviour-output battery</a:t>
            </a:r>
          </a:p>
        </p:txBody>
      </p:sp>
      <p:sp>
        <p:nvSpPr>
          <p:cNvPr id="14" name="">
            <a:extLst xmlns:a="http://schemas.openxmlformats.org/drawingml/2006/main">
              <a:ext uri="{FF2B5EF4-FFF2-40B4-BE49-F238E27FC236}">
                <a16:creationId xmlns:a16="http://schemas.microsoft.com/office/drawing/2014/main" id="{B4ED610C-1440-4B1F-984B-7B47D9706B1B}"/>
              </a:ext>
            </a:extLst>
          </p:cNvPr>
          <p:cNvSpPr>
            <a:spLocks xmlns:a="http://schemas.openxmlformats.org/drawingml/2006/main" noGrp="1"/>
          </p:cNvSpPr>
          <p:nvPr/>
        </p:nvSpPr>
        <p:spPr>
          <a:xfrm xmlns:a="http://schemas.openxmlformats.org/drawingml/2006/main">
            <a:off x="6343650" y="203835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00D8E157-E29D-4CC9-ACA7-30F3222F6CA6}"/>
              </a:ext>
            </a:extLst>
          </p:cNvPr>
          <p:cNvSpPr>
            <a:spLocks xmlns:a="http://schemas.openxmlformats.org/drawingml/2006/main" noGrp="1"/>
          </p:cNvSpPr>
          <p:nvPr/>
        </p:nvSpPr>
        <p:spPr>
          <a:xfrm xmlns:a="http://schemas.openxmlformats.org/drawingml/2006/main">
            <a:off x="6991350" y="2038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RECEIPT</a:t>
            </a:r>
          </a:p>
        </p:txBody>
      </p:sp>
      <p:sp>
        <p:nvSpPr>
          <p:cNvPr id="16" name="">
            <a:extLst xmlns:a="http://schemas.openxmlformats.org/drawingml/2006/main">
              <a:ext uri="{FF2B5EF4-FFF2-40B4-BE49-F238E27FC236}">
                <a16:creationId xmlns:a16="http://schemas.microsoft.com/office/drawing/2014/main" id="{5A7A8F5B-4CC5-464F-B81C-8EF4FBAFB2E7}"/>
              </a:ext>
            </a:extLst>
          </p:cNvPr>
          <p:cNvSpPr>
            <a:spLocks xmlns:a="http://schemas.openxmlformats.org/drawingml/2006/main" noGrp="1"/>
          </p:cNvSpPr>
          <p:nvPr/>
        </p:nvSpPr>
        <p:spPr>
          <a:xfrm xmlns:a="http://schemas.openxmlformats.org/drawingml/2006/main">
            <a:off x="6343650" y="2590800"/>
            <a:ext cx="2381250" cy="0"/>
          </a:xfrm>
          <a:prstGeom xmlns:a="http://schemas.openxmlformats.org/drawingml/2006/main" prst="line">
            <a:avLst/>
          </a:prstGeom>
          <a:noFill xmlns:a="http://schemas.openxmlformats.org/drawingml/2006/main"/>
          <a:ln xmlns:a="http://schemas.openxmlformats.org/drawingml/2006/main" w="19050">
            <a:solidFill>
              <a:srgbClr val="DED0BC"/>
            </a:solidFill>
            <a:prstDash val="solid"/>
          </a:ln>
        </p:spPr>
      </p:sp>
      <p:sp>
        <p:nvSpPr>
          <p:cNvPr id="17" name="">
            <a:extLst xmlns:a="http://schemas.openxmlformats.org/drawingml/2006/main">
              <a:ext uri="{FF2B5EF4-FFF2-40B4-BE49-F238E27FC236}">
                <a16:creationId xmlns:a16="http://schemas.microsoft.com/office/drawing/2014/main" id="{1EC5604E-8330-4119-BFE5-0DD1CACB369C}"/>
              </a:ext>
            </a:extLst>
          </p:cNvPr>
          <p:cNvSpPr>
            <a:spLocks xmlns:a="http://schemas.openxmlformats.org/drawingml/2006/main" noGrp="1"/>
          </p:cNvSpPr>
          <p:nvPr/>
        </p:nvSpPr>
        <p:spPr>
          <a:xfrm xmlns:a="http://schemas.openxmlformats.org/drawingml/2006/main">
            <a:off x="6343650" y="2800350"/>
            <a:ext cx="238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Bind image, model and</a:t>
            </a:r>
          </a:p>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output in a signed record</a:t>
            </a:r>
          </a:p>
        </p:txBody>
      </p:sp>
      <p:sp>
        <p:nvSpPr>
          <p:cNvPr id="18" name="">
            <a:extLst xmlns:a="http://schemas.openxmlformats.org/drawingml/2006/main">
              <a:ext uri="{FF2B5EF4-FFF2-40B4-BE49-F238E27FC236}">
                <a16:creationId xmlns:a16="http://schemas.microsoft.com/office/drawing/2014/main" id="{5E74DBD2-4281-444F-A4F7-94834CA0927B}"/>
              </a:ext>
            </a:extLst>
          </p:cNvPr>
          <p:cNvSpPr>
            <a:spLocks xmlns:a="http://schemas.openxmlformats.org/drawingml/2006/main" noGrp="1"/>
          </p:cNvSpPr>
          <p:nvPr/>
        </p:nvSpPr>
        <p:spPr>
          <a:xfrm xmlns:a="http://schemas.openxmlformats.org/drawingml/2006/main">
            <a:off x="9163050" y="203835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B66045"/>
                </a:solidFill>
                <a:latin typeface="Helvetica Neue"/>
                <a:ea typeface="Helvetica Neue"/>
                <a:cs typeface="Helvetica Neue"/>
              </a:defRPr>
            </a:pPr>
            <a:r>
              <a:rPr sz="1500" b="1">
                <a:solidFill>
                  <a:srgbClr val="B66045"/>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817839B2-95EC-4622-B385-C62A23B13635}"/>
              </a:ext>
            </a:extLst>
          </p:cNvPr>
          <p:cNvSpPr>
            <a:spLocks xmlns:a="http://schemas.openxmlformats.org/drawingml/2006/main" noGrp="1"/>
          </p:cNvSpPr>
          <p:nvPr/>
        </p:nvSpPr>
        <p:spPr>
          <a:xfrm xmlns:a="http://schemas.openxmlformats.org/drawingml/2006/main">
            <a:off x="9810750" y="20383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DECIDE</a:t>
            </a:r>
          </a:p>
        </p:txBody>
      </p:sp>
      <p:sp>
        <p:nvSpPr>
          <p:cNvPr id="20" name="">
            <a:extLst xmlns:a="http://schemas.openxmlformats.org/drawingml/2006/main">
              <a:ext uri="{FF2B5EF4-FFF2-40B4-BE49-F238E27FC236}">
                <a16:creationId xmlns:a16="http://schemas.microsoft.com/office/drawing/2014/main" id="{2F1E57C5-966F-4F42-8C95-2F4F41110B93}"/>
              </a:ext>
            </a:extLst>
          </p:cNvPr>
          <p:cNvSpPr>
            <a:spLocks xmlns:a="http://schemas.openxmlformats.org/drawingml/2006/main" noGrp="1"/>
          </p:cNvSpPr>
          <p:nvPr/>
        </p:nvSpPr>
        <p:spPr>
          <a:xfrm xmlns:a="http://schemas.openxmlformats.org/drawingml/2006/main">
            <a:off x="9163050" y="2590800"/>
            <a:ext cx="2381250" cy="0"/>
          </a:xfrm>
          <a:prstGeom xmlns:a="http://schemas.openxmlformats.org/drawingml/2006/main" prst="line">
            <a:avLst/>
          </a:prstGeom>
          <a:noFill xmlns:a="http://schemas.openxmlformats.org/drawingml/2006/main"/>
          <a:ln xmlns:a="http://schemas.openxmlformats.org/drawingml/2006/main" w="19050">
            <a:solidFill>
              <a:srgbClr val="DED0BC"/>
            </a:solidFill>
            <a:prstDash val="solid"/>
          </a:ln>
        </p:spPr>
      </p:sp>
      <p:sp>
        <p:nvSpPr>
          <p:cNvPr id="21" name="">
            <a:extLst xmlns:a="http://schemas.openxmlformats.org/drawingml/2006/main">
              <a:ext uri="{FF2B5EF4-FFF2-40B4-BE49-F238E27FC236}">
                <a16:creationId xmlns:a16="http://schemas.microsoft.com/office/drawing/2014/main" id="{E2A78C0A-76BA-44C4-A5A3-2A962EF3998C}"/>
              </a:ext>
            </a:extLst>
          </p:cNvPr>
          <p:cNvSpPr>
            <a:spLocks xmlns:a="http://schemas.openxmlformats.org/drawingml/2006/main" noGrp="1"/>
          </p:cNvSpPr>
          <p:nvPr/>
        </p:nvSpPr>
        <p:spPr>
          <a:xfrm xmlns:a="http://schemas.openxmlformats.org/drawingml/2006/main">
            <a:off x="9163050" y="2800350"/>
            <a:ext cx="238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Detect tamper or replay</a:t>
            </a:r>
          </a:p>
          <a:p xmlns:a="http://schemas.openxmlformats.org/drawingml/2006/main">
            <a:pPr>
              <a:defRPr sz="1425" b="0">
                <a:solidFill>
                  <a:srgbClr val="696B62"/>
                </a:solidFill>
                <a:latin typeface="Helvetica Neue"/>
                <a:ea typeface="Helvetica Neue"/>
                <a:cs typeface="Helvetica Neue"/>
              </a:defRPr>
            </a:pPr>
            <a:r>
              <a:rPr sz="1425" b="0">
                <a:solidFill>
                  <a:srgbClr val="696B62"/>
                </a:solidFill>
                <a:latin typeface="Helvetica Neue"/>
                <a:ea typeface="Helvetica Neue"/>
                <a:cs typeface="Helvetica Neue"/>
              </a:rPr>
              <a:t>and compile a disposition</a:t>
            </a:r>
          </a:p>
        </p:txBody>
      </p:sp>
      <p:sp>
        <p:nvSpPr>
          <p:cNvPr id="22" name="">
            <a:extLst xmlns:a="http://schemas.openxmlformats.org/drawingml/2006/main">
              <a:ext uri="{FF2B5EF4-FFF2-40B4-BE49-F238E27FC236}">
                <a16:creationId xmlns:a16="http://schemas.microsoft.com/office/drawing/2014/main" id="{5A56965E-0147-446E-A1D5-F04884753952}"/>
              </a:ext>
            </a:extLst>
          </p:cNvPr>
          <p:cNvSpPr>
            <a:spLocks xmlns:a="http://schemas.openxmlformats.org/drawingml/2006/main" noGrp="1"/>
          </p:cNvSpPr>
          <p:nvPr/>
        </p:nvSpPr>
        <p:spPr>
          <a:xfrm xmlns:a="http://schemas.openxmlformats.org/drawingml/2006/main">
            <a:off x="685800" y="4000500"/>
            <a:ext cx="5219700" cy="1657350"/>
          </a:xfrm>
          <a:prstGeom xmlns:a="http://schemas.openxmlformats.org/drawingml/2006/main" prst="roundRect">
            <a:avLst>
              <a:gd name="adj" fmla="val 9195"/>
            </a:avLst>
          </a:prstGeom>
          <a:solidFill xmlns:a="http://schemas.openxmlformats.org/drawingml/2006/main">
            <a:srgbClr val="1F272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45AEB26-43DA-40AC-BEFE-D5806A7C496F}"/>
              </a:ext>
            </a:extLst>
          </p:cNvPr>
          <p:cNvSpPr>
            <a:spLocks xmlns:a="http://schemas.openxmlformats.org/drawingml/2006/main" noGrp="1"/>
          </p:cNvSpPr>
          <p:nvPr/>
        </p:nvSpPr>
        <p:spPr>
          <a:xfrm xmlns:a="http://schemas.openxmlformats.org/drawingml/2006/main">
            <a:off x="952500" y="42291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WORKS NOW</a:t>
            </a:r>
          </a:p>
        </p:txBody>
      </p:sp>
      <p:sp>
        <p:nvSpPr>
          <p:cNvPr id="24" name="">
            <a:extLst xmlns:a="http://schemas.openxmlformats.org/drawingml/2006/main">
              <a:ext uri="{FF2B5EF4-FFF2-40B4-BE49-F238E27FC236}">
                <a16:creationId xmlns:a16="http://schemas.microsoft.com/office/drawing/2014/main" id="{7652EFCE-ED6C-45F7-B488-29EFFC0F34CF}"/>
              </a:ext>
            </a:extLst>
          </p:cNvPr>
          <p:cNvSpPr>
            <a:spLocks xmlns:a="http://schemas.openxmlformats.org/drawingml/2006/main" noGrp="1"/>
          </p:cNvSpPr>
          <p:nvPr/>
        </p:nvSpPr>
        <p:spPr>
          <a:xfrm xmlns:a="http://schemas.openxmlformats.org/drawingml/2006/main">
            <a:off x="952500" y="45720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CF6"/>
                </a:solidFill>
                <a:latin typeface="Helvetica Neue"/>
                <a:ea typeface="Helvetica Neue"/>
                <a:cs typeface="Helvetica Neue"/>
              </a:defRPr>
            </a:pPr>
            <a:r>
              <a:rPr sz="1500" b="1">
                <a:solidFill>
                  <a:srgbClr val="FFFCF6"/>
                </a:solidFill>
                <a:latin typeface="Helvetica Neue"/>
                <a:ea typeface="Helvetica Neue"/>
                <a:cs typeface="Helvetica Neue"/>
              </a:rPr>
              <a:t>COCO audit  ·  behaviour-output evaluation</a:t>
            </a:r>
          </a:p>
          <a:p xmlns:a="http://schemas.openxmlformats.org/drawingml/2006/main">
            <a:pPr>
              <a:defRPr sz="1500" b="1">
                <a:solidFill>
                  <a:srgbClr val="FFFCF6"/>
                </a:solidFill>
                <a:latin typeface="Helvetica Neue"/>
                <a:ea typeface="Helvetica Neue"/>
                <a:cs typeface="Helvetica Neue"/>
              </a:defRPr>
            </a:pPr>
            <a:r>
              <a:rPr sz="1500" b="1">
                <a:solidFill>
                  <a:srgbClr val="FFFCF6"/>
                </a:solidFill>
                <a:latin typeface="Helvetica Neue"/>
                <a:ea typeface="Helvetica Neue"/>
                <a:cs typeface="Helvetica Neue"/>
              </a:rPr>
              <a:t>signed receipts  ·  tamper/replay  ·  decision</a:t>
            </a:r>
          </a:p>
        </p:txBody>
      </p:sp>
      <p:sp>
        <p:nvSpPr>
          <p:cNvPr id="25" name="">
            <a:extLst xmlns:a="http://schemas.openxmlformats.org/drawingml/2006/main">
              <a:ext uri="{FF2B5EF4-FFF2-40B4-BE49-F238E27FC236}">
                <a16:creationId xmlns:a16="http://schemas.microsoft.com/office/drawing/2014/main" id="{B5DBBA65-7A5F-4907-A250-470D62395DCA}"/>
              </a:ext>
            </a:extLst>
          </p:cNvPr>
          <p:cNvSpPr>
            <a:spLocks xmlns:a="http://schemas.openxmlformats.org/drawingml/2006/main" noGrp="1"/>
          </p:cNvSpPr>
          <p:nvPr/>
        </p:nvSpPr>
        <p:spPr>
          <a:xfrm xmlns:a="http://schemas.openxmlformats.org/drawingml/2006/main">
            <a:off x="6096000" y="4000500"/>
            <a:ext cx="5410200" cy="1657350"/>
          </a:xfrm>
          <a:prstGeom xmlns:a="http://schemas.openxmlformats.org/drawingml/2006/main" prst="roundRect">
            <a:avLst>
              <a:gd name="adj" fmla="val 9195"/>
            </a:avLst>
          </a:prstGeom>
          <a:solidFill xmlns:a="http://schemas.openxmlformats.org/drawingml/2006/main">
            <a:srgbClr val="FFFCF6"/>
          </a:solidFill>
          <a:ln xmlns:a="http://schemas.openxmlformats.org/drawingml/2006/main" w="9525">
            <a:solidFill>
              <a:srgbClr val="DED0BC"/>
            </a:solidFill>
          </a:ln>
        </p:spPr>
      </p:sp>
      <p:sp>
        <p:nvSpPr>
          <p:cNvPr id="26" name="">
            <a:extLst xmlns:a="http://schemas.openxmlformats.org/drawingml/2006/main">
              <a:ext uri="{FF2B5EF4-FFF2-40B4-BE49-F238E27FC236}">
                <a16:creationId xmlns:a16="http://schemas.microsoft.com/office/drawing/2014/main" id="{D2D2674A-7AE0-48A0-A14A-BF9700DD76B3}"/>
              </a:ext>
            </a:extLst>
          </p:cNvPr>
          <p:cNvSpPr>
            <a:spLocks xmlns:a="http://schemas.openxmlformats.org/drawingml/2006/main" noGrp="1"/>
          </p:cNvSpPr>
          <p:nvPr/>
        </p:nvSpPr>
        <p:spPr>
          <a:xfrm xmlns:a="http://schemas.openxmlformats.org/drawingml/2006/main">
            <a:off x="6362700" y="42291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NEXT MEASURED GATE</a:t>
            </a:r>
          </a:p>
        </p:txBody>
      </p:sp>
      <p:sp>
        <p:nvSpPr>
          <p:cNvPr id="27" name="">
            <a:extLst xmlns:a="http://schemas.openxmlformats.org/drawingml/2006/main">
              <a:ext uri="{FF2B5EF4-FFF2-40B4-BE49-F238E27FC236}">
                <a16:creationId xmlns:a16="http://schemas.microsoft.com/office/drawing/2014/main" id="{A703B350-D9BF-476B-901C-015214121900}"/>
              </a:ext>
            </a:extLst>
          </p:cNvPr>
          <p:cNvSpPr>
            <a:spLocks xmlns:a="http://schemas.openxmlformats.org/drawingml/2006/main" noGrp="1"/>
          </p:cNvSpPr>
          <p:nvPr/>
        </p:nvSpPr>
        <p:spPr>
          <a:xfrm xmlns:a="http://schemas.openxmlformats.org/drawingml/2006/main">
            <a:off x="6362700" y="4572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28"/>
          </a:bodyPr>
          <a:lstStyle xmlns:a="http://schemas.openxmlformats.org/drawingml/2006/main"/>
          <a:p xmlns:a="http://schemas.openxmlformats.org/drawingml/2006/main">
            <a:pPr>
              <a:defRPr sz="1425" b="1">
                <a:solidFill>
                  <a:srgbClr val="292A26"/>
                </a:solidFill>
                <a:latin typeface="Helvetica Neue"/>
                <a:ea typeface="Helvetica Neue"/>
                <a:cs typeface="Helvetica Neue"/>
              </a:defRPr>
            </a:pPr>
            <a:r>
              <a:rPr sz="1425" b="1">
                <a:solidFill>
                  <a:srgbClr val="292A26"/>
                </a:solidFill>
                <a:latin typeface="Helvetica Neue"/>
                <a:ea typeface="Helvetica Neue"/>
                <a:cs typeface="Helvetica Neue"/>
              </a:rPr>
              <a:t>Execute selected NIST clean and poisoned models directly, then report attack-family accuracy and clean false positives.</a:t>
            </a:r>
          </a:p>
        </p:txBody>
      </p:sp>
      <p:sp>
        <p:nvSpPr>
          <p:cNvPr id="28" name="">
            <a:extLst xmlns:a="http://schemas.openxmlformats.org/drawingml/2006/main">
              <a:ext uri="{FF2B5EF4-FFF2-40B4-BE49-F238E27FC236}">
                <a16:creationId xmlns:a16="http://schemas.microsoft.com/office/drawing/2014/main" id="{C4D90F6F-F2C9-4DA5-AAF3-52E7B6B3E663}"/>
              </a:ext>
            </a:extLst>
          </p:cNvPr>
          <p:cNvSpPr>
            <a:spLocks xmlns:a="http://schemas.openxmlformats.org/drawingml/2006/main" noGrp="1"/>
          </p:cNvSpPr>
          <p:nvPr/>
        </p:nvSpPr>
        <p:spPr>
          <a:xfrm xmlns:a="http://schemas.openxmlformats.org/drawingml/2006/main">
            <a:off x="685800" y="58578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B6546"/>
                </a:solidFill>
                <a:latin typeface="Helvetica Neue"/>
                <a:ea typeface="Helvetica Neue"/>
                <a:cs typeface="Helvetica Neue"/>
              </a:defRPr>
            </a:pPr>
            <a:r>
              <a:rPr sz="1350" b="1">
                <a:solidFill>
                  <a:srgbClr val="5B6546"/>
                </a:solidFill>
                <a:latin typeface="Helvetica Neue"/>
                <a:ea typeface="Helvetica Neue"/>
                <a:cs typeface="Helvetica Neue"/>
              </a:rPr>
              <a:t>Success condition: the jury can follow one asset from intake to evidence-backed disposition in under 90 seconds.</a:t>
            </a:r>
          </a:p>
        </p:txBody>
      </p:sp>
      <p:sp>
        <p:nvSpPr>
          <p:cNvPr id="29" name="">
            <a:extLst xmlns:a="http://schemas.openxmlformats.org/drawingml/2006/main">
              <a:ext uri="{FF2B5EF4-FFF2-40B4-BE49-F238E27FC236}">
                <a16:creationId xmlns:a16="http://schemas.microsoft.com/office/drawing/2014/main" id="{ED71A292-9582-4F9D-AD5D-89FBED949445}"/>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486775530"/>
      </p:ext>
    </p:extLst>
  </p:cSld>
</p:sld>
</file>

<file path=ppt/slides/slide11.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060349D-CA5E-405B-B73C-DCF28477CA37}"/>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FEASIBILITY AND SCALE</a:t>
            </a:r>
          </a:p>
        </p:txBody>
      </p:sp>
      <p:sp>
        <p:nvSpPr>
          <p:cNvPr id="2" name="">
            <a:extLst xmlns:a="http://schemas.openxmlformats.org/drawingml/2006/main">
              <a:ext uri="{FF2B5EF4-FFF2-40B4-BE49-F238E27FC236}">
                <a16:creationId xmlns:a16="http://schemas.microsoft.com/office/drawing/2014/main" id="{A6DAE703-83FF-4329-AAED-40338474EB54}"/>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412E38BE-EA1D-4389-A1B5-5D8EF58C0AFC}"/>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B990DF57-D871-46BC-AE1C-00090655A63D}"/>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807"/>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The design scales by caching evidence, not by rescanning everything</a:t>
            </a:r>
          </a:p>
        </p:txBody>
      </p:sp>
      <p:sp>
        <p:nvSpPr>
          <p:cNvPr id="5" name="">
            <a:extLst xmlns:a="http://schemas.openxmlformats.org/drawingml/2006/main">
              <a:ext uri="{FF2B5EF4-FFF2-40B4-BE49-F238E27FC236}">
                <a16:creationId xmlns:a16="http://schemas.microsoft.com/office/drawing/2014/main" id="{F0E1D4CB-5BA8-4F1F-9BA3-5E9846957BE0}"/>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Open formats and deterministic jobs keep the workflow deployable in an air-gapped lab.</a:t>
            </a:r>
          </a:p>
        </p:txBody>
      </p:sp>
      <p:sp>
        <p:nvSpPr>
          <p:cNvPr id="6" name="">
            <a:extLst xmlns:a="http://schemas.openxmlformats.org/drawingml/2006/main">
              <a:ext uri="{FF2B5EF4-FFF2-40B4-BE49-F238E27FC236}">
                <a16:creationId xmlns:a16="http://schemas.microsoft.com/office/drawing/2014/main" id="{44C8923C-69A3-48B4-9E93-9F39765CEA77}"/>
              </a:ext>
            </a:extLst>
          </p:cNvPr>
          <p:cNvSpPr>
            <a:spLocks xmlns:a="http://schemas.openxmlformats.org/drawingml/2006/main" noGrp="1"/>
          </p:cNvSpPr>
          <p:nvPr/>
        </p:nvSpPr>
        <p:spPr>
          <a:xfrm xmlns:a="http://schemas.openxmlformats.org/drawingml/2006/main">
            <a:off x="723900" y="1952625"/>
            <a:ext cx="152400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MODEL-AGNOSTIC</a:t>
            </a:r>
          </a:p>
        </p:txBody>
      </p:sp>
      <p:sp>
        <p:nvSpPr>
          <p:cNvPr id="7" name="">
            <a:extLst xmlns:a="http://schemas.openxmlformats.org/drawingml/2006/main">
              <a:ext uri="{FF2B5EF4-FFF2-40B4-BE49-F238E27FC236}">
                <a16:creationId xmlns:a16="http://schemas.microsoft.com/office/drawing/2014/main" id="{B7B8F74D-0E45-45CB-8172-EACFBA40928D}"/>
              </a:ext>
            </a:extLst>
          </p:cNvPr>
          <p:cNvSpPr>
            <a:spLocks xmlns:a="http://schemas.openxmlformats.org/drawingml/2006/main" noGrp="1"/>
          </p:cNvSpPr>
          <p:nvPr/>
        </p:nvSpPr>
        <p:spPr>
          <a:xfrm xmlns:a="http://schemas.openxmlformats.org/drawingml/2006/main">
            <a:off x="2457450" y="19335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292A26"/>
                </a:solidFill>
                <a:latin typeface="Helvetica Neue"/>
                <a:ea typeface="Helvetica Neue"/>
                <a:cs typeface="Helvetica Neue"/>
              </a:defRPr>
            </a:pPr>
            <a:r>
              <a:rPr sz="1350" b="0">
                <a:solidFill>
                  <a:srgbClr val="292A26"/>
                </a:solidFill>
                <a:latin typeface="Helvetica Neue"/>
                <a:ea typeface="Helvetica Neue"/>
                <a:cs typeface="Helvetica Neue"/>
              </a:rPr>
              <a:t>Adapters isolate PyTorch, TorchScript and ONNX specifics.</a:t>
            </a:r>
          </a:p>
        </p:txBody>
      </p:sp>
      <p:sp>
        <p:nvSpPr>
          <p:cNvPr id="8" name="">
            <a:extLst xmlns:a="http://schemas.openxmlformats.org/drawingml/2006/main">
              <a:ext uri="{FF2B5EF4-FFF2-40B4-BE49-F238E27FC236}">
                <a16:creationId xmlns:a16="http://schemas.microsoft.com/office/drawing/2014/main" id="{569C8F5B-5AC8-4000-941B-29207E09435D}"/>
              </a:ext>
            </a:extLst>
          </p:cNvPr>
          <p:cNvSpPr>
            <a:spLocks xmlns:a="http://schemas.openxmlformats.org/drawingml/2006/main" noGrp="1"/>
          </p:cNvSpPr>
          <p:nvPr/>
        </p:nvSpPr>
        <p:spPr>
          <a:xfrm xmlns:a="http://schemas.openxmlformats.org/drawingml/2006/main">
            <a:off x="723900" y="2790825"/>
            <a:ext cx="152400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INCREMENTAL</a:t>
            </a:r>
          </a:p>
        </p:txBody>
      </p:sp>
      <p:sp>
        <p:nvSpPr>
          <p:cNvPr id="9" name="">
            <a:extLst xmlns:a="http://schemas.openxmlformats.org/drawingml/2006/main">
              <a:ext uri="{FF2B5EF4-FFF2-40B4-BE49-F238E27FC236}">
                <a16:creationId xmlns:a16="http://schemas.microsoft.com/office/drawing/2014/main" id="{1ADCA0AD-6820-47D9-BDF3-21D288C6A55E}"/>
              </a:ext>
            </a:extLst>
          </p:cNvPr>
          <p:cNvSpPr>
            <a:spLocks xmlns:a="http://schemas.openxmlformats.org/drawingml/2006/main" noGrp="1"/>
          </p:cNvSpPr>
          <p:nvPr/>
        </p:nvSpPr>
        <p:spPr>
          <a:xfrm xmlns:a="http://schemas.openxmlformats.org/drawingml/2006/main">
            <a:off x="2457450" y="27717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defRPr sz="1350" b="0">
                <a:solidFill>
                  <a:srgbClr val="292A26"/>
                </a:solidFill>
                <a:latin typeface="Helvetica Neue"/>
                <a:ea typeface="Helvetica Neue"/>
                <a:cs typeface="Helvetica Neue"/>
              </a:defRPr>
            </a:pPr>
            <a:r>
              <a:rPr sz="1350" b="0">
                <a:solidFill>
                  <a:srgbClr val="292A26"/>
                </a:solidFill>
                <a:latin typeface="Helvetica Neue"/>
                <a:ea typeface="Helvetica Neue"/>
                <a:cs typeface="Helvetica Neue"/>
              </a:rPr>
              <a:t>Content hashes reuse unchanged sample and model evidence.</a:t>
            </a:r>
          </a:p>
        </p:txBody>
      </p:sp>
      <p:sp>
        <p:nvSpPr>
          <p:cNvPr id="10" name="">
            <a:extLst xmlns:a="http://schemas.openxmlformats.org/drawingml/2006/main">
              <a:ext uri="{FF2B5EF4-FFF2-40B4-BE49-F238E27FC236}">
                <a16:creationId xmlns:a16="http://schemas.microsoft.com/office/drawing/2014/main" id="{1A99FF80-4683-4BC9-BD37-DBB3A80AA713}"/>
              </a:ext>
            </a:extLst>
          </p:cNvPr>
          <p:cNvSpPr>
            <a:spLocks xmlns:a="http://schemas.openxmlformats.org/drawingml/2006/main" noGrp="1"/>
          </p:cNvSpPr>
          <p:nvPr/>
        </p:nvSpPr>
        <p:spPr>
          <a:xfrm xmlns:a="http://schemas.openxmlformats.org/drawingml/2006/main">
            <a:off x="723900" y="3629025"/>
            <a:ext cx="1524000" cy="323850"/>
          </a:xfrm>
          <a:prstGeom xmlns:a="http://schemas.openxmlformats.org/drawingml/2006/main" prst="roundRect">
            <a:avLst>
              <a:gd name="adj" fmla="val 50000"/>
            </a:avLst>
          </a:prstGeom>
          <a:solidFill xmlns:a="http://schemas.openxmlformats.org/drawingml/2006/main">
            <a:srgbClr val="5B6546"/>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PARALLEL</a:t>
            </a:r>
          </a:p>
        </p:txBody>
      </p:sp>
      <p:sp>
        <p:nvSpPr>
          <p:cNvPr id="11" name="">
            <a:extLst xmlns:a="http://schemas.openxmlformats.org/drawingml/2006/main">
              <a:ext uri="{FF2B5EF4-FFF2-40B4-BE49-F238E27FC236}">
                <a16:creationId xmlns:a16="http://schemas.microsoft.com/office/drawing/2014/main" id="{7CF7977A-DBC1-47F4-933E-BC9A76B7C8E8}"/>
              </a:ext>
            </a:extLst>
          </p:cNvPr>
          <p:cNvSpPr>
            <a:spLocks xmlns:a="http://schemas.openxmlformats.org/drawingml/2006/main" noGrp="1"/>
          </p:cNvSpPr>
          <p:nvPr/>
        </p:nvSpPr>
        <p:spPr>
          <a:xfrm xmlns:a="http://schemas.openxmlformats.org/drawingml/2006/main">
            <a:off x="2457450" y="36099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defRPr sz="1350" b="0">
                <a:solidFill>
                  <a:srgbClr val="292A26"/>
                </a:solidFill>
                <a:latin typeface="Helvetica Neue"/>
                <a:ea typeface="Helvetica Neue"/>
                <a:cs typeface="Helvetica Neue"/>
              </a:defRPr>
            </a:pPr>
            <a:r>
              <a:rPr sz="1350" b="0">
                <a:solidFill>
                  <a:srgbClr val="292A26"/>
                </a:solidFill>
                <a:latin typeface="Helvetica Neue"/>
                <a:ea typeface="Helvetica Neue"/>
                <a:cs typeface="Helvetica Neue"/>
              </a:rPr>
              <a:t>A job queue partitions contributors, models and reference tests.</a:t>
            </a:r>
          </a:p>
        </p:txBody>
      </p:sp>
      <p:sp>
        <p:nvSpPr>
          <p:cNvPr id="12" name="">
            <a:extLst xmlns:a="http://schemas.openxmlformats.org/drawingml/2006/main">
              <a:ext uri="{FF2B5EF4-FFF2-40B4-BE49-F238E27FC236}">
                <a16:creationId xmlns:a16="http://schemas.microsoft.com/office/drawing/2014/main" id="{14B08698-205D-4718-8AAF-F2E71B7C0F07}"/>
              </a:ext>
            </a:extLst>
          </p:cNvPr>
          <p:cNvSpPr>
            <a:spLocks xmlns:a="http://schemas.openxmlformats.org/drawingml/2006/main" noGrp="1"/>
          </p:cNvSpPr>
          <p:nvPr/>
        </p:nvSpPr>
        <p:spPr>
          <a:xfrm xmlns:a="http://schemas.openxmlformats.org/drawingml/2006/main">
            <a:off x="723900" y="4467225"/>
            <a:ext cx="1524000" cy="323850"/>
          </a:xfrm>
          <a:prstGeom xmlns:a="http://schemas.openxmlformats.org/drawingml/2006/main" prst="roundRect">
            <a:avLst>
              <a:gd name="adj" fmla="val 50000"/>
            </a:avLst>
          </a:prstGeom>
          <a:solidFill xmlns:a="http://schemas.openxmlformats.org/drawingml/2006/main">
            <a:srgbClr val="B66045"/>
          </a:solidFill>
          <a:ln xmlns:a="http://schemas.openxmlformats.org/drawingml/2006/main" w="0">
            <a:noFill/>
          </a:ln>
        </p:spPr>
        <p:txBody>
          <a:bodyPr xmlns:a="http://schemas.openxmlformats.org/drawingml/2006/main" anchor="ctr">
            <a:normAutofit fontScale="92575"/>
          </a:bodyPr>
          <a:lstStyle xmlns:a="http://schemas.openxmlformats.org/drawingml/2006/main"/>
          <a:p xmlns:a="http://schemas.openxmlformats.org/drawingml/2006/main">
            <a:pP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AUDITABLE</a:t>
            </a:r>
          </a:p>
        </p:txBody>
      </p:sp>
      <p:sp>
        <p:nvSpPr>
          <p:cNvPr id="13" name="">
            <a:extLst xmlns:a="http://schemas.openxmlformats.org/drawingml/2006/main">
              <a:ext uri="{FF2B5EF4-FFF2-40B4-BE49-F238E27FC236}">
                <a16:creationId xmlns:a16="http://schemas.microsoft.com/office/drawing/2014/main" id="{2D2B85FB-D20E-4ADA-8472-15F8BECA6D18}"/>
              </a:ext>
            </a:extLst>
          </p:cNvPr>
          <p:cNvSpPr>
            <a:spLocks xmlns:a="http://schemas.openxmlformats.org/drawingml/2006/main" noGrp="1"/>
          </p:cNvSpPr>
          <p:nvPr/>
        </p:nvSpPr>
        <p:spPr>
          <a:xfrm xmlns:a="http://schemas.openxmlformats.org/drawingml/2006/main">
            <a:off x="2457450" y="4448175"/>
            <a:ext cx="4705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defRPr sz="1350" b="1">
                <a:solidFill>
                  <a:srgbClr val="292A26"/>
                </a:solidFill>
                <a:latin typeface="Helvetica Neue"/>
                <a:ea typeface="Helvetica Neue"/>
                <a:cs typeface="Helvetica Neue"/>
              </a:defRPr>
            </a:pPr>
            <a:r>
              <a:rPr sz="1350" b="1">
                <a:solidFill>
                  <a:srgbClr val="292A26"/>
                </a:solidFill>
                <a:latin typeface="Helvetica Neue"/>
                <a:ea typeface="Helvetica Neue"/>
                <a:cs typeface="Helvetica Neue"/>
              </a:rPr>
              <a:t>Append-only signed records make later changes detectable.</a:t>
            </a:r>
          </a:p>
        </p:txBody>
      </p:sp>
      <p:sp>
        <p:nvSpPr>
          <p:cNvPr id="14" name="">
            <a:extLst xmlns:a="http://schemas.openxmlformats.org/drawingml/2006/main">
              <a:ext uri="{FF2B5EF4-FFF2-40B4-BE49-F238E27FC236}">
                <a16:creationId xmlns:a16="http://schemas.microsoft.com/office/drawing/2014/main" id="{6AF266AD-1C5A-44F8-8A52-2B80665AA048}"/>
              </a:ext>
            </a:extLst>
          </p:cNvPr>
          <p:cNvSpPr>
            <a:spLocks xmlns:a="http://schemas.openxmlformats.org/drawingml/2006/main" noGrp="1"/>
          </p:cNvSpPr>
          <p:nvPr/>
        </p:nvSpPr>
        <p:spPr>
          <a:xfrm xmlns:a="http://schemas.openxmlformats.org/drawingml/2006/main">
            <a:off x="7543800" y="1924050"/>
            <a:ext cx="0" cy="3390900"/>
          </a:xfrm>
          <a:prstGeom xmlns:a="http://schemas.openxmlformats.org/drawingml/2006/main" prst="line">
            <a:avLst/>
          </a:prstGeom>
          <a:noFill xmlns:a="http://schemas.openxmlformats.org/drawingml/2006/main"/>
          <a:ln xmlns:a="http://schemas.openxmlformats.org/drawingml/2006/main" w="19050">
            <a:solidFill>
              <a:srgbClr val="DED0BC"/>
            </a:solidFill>
            <a:prstDash val="solid"/>
          </a:ln>
        </p:spPr>
      </p:sp>
      <p:sp>
        <p:nvSpPr>
          <p:cNvPr id="15" name="">
            <a:extLst xmlns:a="http://schemas.openxmlformats.org/drawingml/2006/main">
              <a:ext uri="{FF2B5EF4-FFF2-40B4-BE49-F238E27FC236}">
                <a16:creationId xmlns:a16="http://schemas.microsoft.com/office/drawing/2014/main" id="{42526BD1-02A2-41FE-8641-1A4ABFD3021E}"/>
              </a:ext>
            </a:extLst>
          </p:cNvPr>
          <p:cNvSpPr>
            <a:spLocks xmlns:a="http://schemas.openxmlformats.org/drawingml/2006/main" noGrp="1"/>
          </p:cNvSpPr>
          <p:nvPr/>
        </p:nvSpPr>
        <p:spPr>
          <a:xfrm xmlns:a="http://schemas.openxmlformats.org/drawingml/2006/main">
            <a:off x="7924800" y="19526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COST DRIVERS</a:t>
            </a:r>
          </a:p>
        </p:txBody>
      </p:sp>
      <p:sp>
        <p:nvSpPr>
          <p:cNvPr id="16" name="">
            <a:extLst xmlns:a="http://schemas.openxmlformats.org/drawingml/2006/main">
              <a:ext uri="{FF2B5EF4-FFF2-40B4-BE49-F238E27FC236}">
                <a16:creationId xmlns:a16="http://schemas.microsoft.com/office/drawing/2014/main" id="{F3C4551F-433D-4411-B307-D1BB013EA46C}"/>
              </a:ext>
            </a:extLst>
          </p:cNvPr>
          <p:cNvSpPr>
            <a:spLocks xmlns:a="http://schemas.openxmlformats.org/drawingml/2006/main" noGrp="1"/>
          </p:cNvSpPr>
          <p:nvPr/>
        </p:nvSpPr>
        <p:spPr>
          <a:xfrm xmlns:a="http://schemas.openxmlformats.org/drawingml/2006/main">
            <a:off x="7924800" y="2447925"/>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292A26"/>
                </a:solidFill>
                <a:latin typeface="Helvetica Neue"/>
                <a:ea typeface="Helvetica Neue"/>
                <a:cs typeface="Helvetica Neue"/>
              </a:defRPr>
            </a:pPr>
            <a:r>
              <a:rPr sz="1200" b="1">
                <a:solidFill>
                  <a:srgbClr val="292A26"/>
                </a:solidFill>
                <a:latin typeface="Helvetica Neue"/>
                <a:ea typeface="Helvetica Neue"/>
                <a:cs typeface="Helvetica Neue"/>
              </a:rPr>
              <a:t>Software</a:t>
            </a:r>
          </a:p>
        </p:txBody>
      </p:sp>
      <p:sp>
        <p:nvSpPr>
          <p:cNvPr id="17" name="">
            <a:extLst xmlns:a="http://schemas.openxmlformats.org/drawingml/2006/main">
              <a:ext uri="{FF2B5EF4-FFF2-40B4-BE49-F238E27FC236}">
                <a16:creationId xmlns:a16="http://schemas.microsoft.com/office/drawing/2014/main" id="{62F44FDE-2E82-47DC-A7C0-E349DE2F3837}"/>
              </a:ext>
            </a:extLst>
          </p:cNvPr>
          <p:cNvSpPr>
            <a:spLocks xmlns:a="http://schemas.openxmlformats.org/drawingml/2006/main" noGrp="1"/>
          </p:cNvSpPr>
          <p:nvPr/>
        </p:nvSpPr>
        <p:spPr>
          <a:xfrm xmlns:a="http://schemas.openxmlformats.org/drawingml/2006/main">
            <a:off x="9048750" y="24288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Open-source stack and local packaging</a:t>
            </a:r>
          </a:p>
        </p:txBody>
      </p:sp>
      <p:sp>
        <p:nvSpPr>
          <p:cNvPr id="18" name="">
            <a:extLst xmlns:a="http://schemas.openxmlformats.org/drawingml/2006/main">
              <a:ext uri="{FF2B5EF4-FFF2-40B4-BE49-F238E27FC236}">
                <a16:creationId xmlns:a16="http://schemas.microsoft.com/office/drawing/2014/main" id="{E787CF23-F3DC-44E3-B0FC-BBCC0B67CD07}"/>
              </a:ext>
            </a:extLst>
          </p:cNvPr>
          <p:cNvSpPr>
            <a:spLocks xmlns:a="http://schemas.openxmlformats.org/drawingml/2006/main" noGrp="1"/>
          </p:cNvSpPr>
          <p:nvPr/>
        </p:nvSpPr>
        <p:spPr>
          <a:xfrm xmlns:a="http://schemas.openxmlformats.org/drawingml/2006/main">
            <a:off x="7924800" y="3114675"/>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292A26"/>
                </a:solidFill>
                <a:latin typeface="Helvetica Neue"/>
                <a:ea typeface="Helvetica Neue"/>
                <a:cs typeface="Helvetica Neue"/>
              </a:defRPr>
            </a:pPr>
            <a:r>
              <a:rPr sz="1200" b="1">
                <a:solidFill>
                  <a:srgbClr val="292A26"/>
                </a:solidFill>
                <a:latin typeface="Helvetica Neue"/>
                <a:ea typeface="Helvetica Neue"/>
                <a:cs typeface="Helvetica Neue"/>
              </a:rPr>
              <a:t>Compute</a:t>
            </a:r>
          </a:p>
        </p:txBody>
      </p:sp>
      <p:sp>
        <p:nvSpPr>
          <p:cNvPr id="19" name="">
            <a:extLst xmlns:a="http://schemas.openxmlformats.org/drawingml/2006/main">
              <a:ext uri="{FF2B5EF4-FFF2-40B4-BE49-F238E27FC236}">
                <a16:creationId xmlns:a16="http://schemas.microsoft.com/office/drawing/2014/main" id="{C058F0AE-E405-4D5F-874F-ADBAEDB5860C}"/>
              </a:ext>
            </a:extLst>
          </p:cNvPr>
          <p:cNvSpPr>
            <a:spLocks xmlns:a="http://schemas.openxmlformats.org/drawingml/2006/main" noGrp="1"/>
          </p:cNvSpPr>
          <p:nvPr/>
        </p:nvSpPr>
        <p:spPr>
          <a:xfrm xmlns:a="http://schemas.openxmlformats.org/drawingml/2006/main">
            <a:off x="9048750" y="309562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CPU path first, optional GPU for model tests</a:t>
            </a:r>
          </a:p>
        </p:txBody>
      </p:sp>
      <p:sp>
        <p:nvSpPr>
          <p:cNvPr id="20" name="">
            <a:extLst xmlns:a="http://schemas.openxmlformats.org/drawingml/2006/main">
              <a:ext uri="{FF2B5EF4-FFF2-40B4-BE49-F238E27FC236}">
                <a16:creationId xmlns:a16="http://schemas.microsoft.com/office/drawing/2014/main" id="{393E7CEB-AEB0-4DAA-B493-3458535853EF}"/>
              </a:ext>
            </a:extLst>
          </p:cNvPr>
          <p:cNvSpPr>
            <a:spLocks xmlns:a="http://schemas.openxmlformats.org/drawingml/2006/main" noGrp="1"/>
          </p:cNvSpPr>
          <p:nvPr/>
        </p:nvSpPr>
        <p:spPr>
          <a:xfrm xmlns:a="http://schemas.openxmlformats.org/drawingml/2006/main">
            <a:off x="7924800" y="3781425"/>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292A26"/>
                </a:solidFill>
                <a:latin typeface="Helvetica Neue"/>
                <a:ea typeface="Helvetica Neue"/>
                <a:cs typeface="Helvetica Neue"/>
              </a:defRPr>
            </a:pPr>
            <a:r>
              <a:rPr sz="1200" b="1">
                <a:solidFill>
                  <a:srgbClr val="292A26"/>
                </a:solidFill>
                <a:latin typeface="Helvetica Neue"/>
                <a:ea typeface="Helvetica Neue"/>
                <a:cs typeface="Helvetica Neue"/>
              </a:rPr>
              <a:t>Storage</a:t>
            </a:r>
          </a:p>
        </p:txBody>
      </p:sp>
      <p:sp>
        <p:nvSpPr>
          <p:cNvPr id="21" name="">
            <a:extLst xmlns:a="http://schemas.openxmlformats.org/drawingml/2006/main">
              <a:ext uri="{FF2B5EF4-FFF2-40B4-BE49-F238E27FC236}">
                <a16:creationId xmlns:a16="http://schemas.microsoft.com/office/drawing/2014/main" id="{D40D0B87-FFDF-4072-9CA4-7B308FCC670A}"/>
              </a:ext>
            </a:extLst>
          </p:cNvPr>
          <p:cNvSpPr>
            <a:spLocks xmlns:a="http://schemas.openxmlformats.org/drawingml/2006/main" noGrp="1"/>
          </p:cNvSpPr>
          <p:nvPr/>
        </p:nvSpPr>
        <p:spPr>
          <a:xfrm xmlns:a="http://schemas.openxmlformats.org/drawingml/2006/main">
            <a:off x="9048750" y="376237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Dominated by model files and image evidence</a:t>
            </a:r>
          </a:p>
        </p:txBody>
      </p:sp>
      <p:sp>
        <p:nvSpPr>
          <p:cNvPr id="22" name="">
            <a:extLst xmlns:a="http://schemas.openxmlformats.org/drawingml/2006/main">
              <a:ext uri="{FF2B5EF4-FFF2-40B4-BE49-F238E27FC236}">
                <a16:creationId xmlns:a16="http://schemas.microsoft.com/office/drawing/2014/main" id="{25B17A35-C72C-4A92-A16D-B114A70C43F1}"/>
              </a:ext>
            </a:extLst>
          </p:cNvPr>
          <p:cNvSpPr>
            <a:spLocks xmlns:a="http://schemas.openxmlformats.org/drawingml/2006/main" noGrp="1"/>
          </p:cNvSpPr>
          <p:nvPr/>
        </p:nvSpPr>
        <p:spPr>
          <a:xfrm xmlns:a="http://schemas.openxmlformats.org/drawingml/2006/main">
            <a:off x="7924800" y="4448175"/>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292A26"/>
                </a:solidFill>
                <a:latin typeface="Helvetica Neue"/>
                <a:ea typeface="Helvetica Neue"/>
                <a:cs typeface="Helvetica Neue"/>
              </a:defRPr>
            </a:pPr>
            <a:r>
              <a:rPr sz="1200" b="1">
                <a:solidFill>
                  <a:srgbClr val="292A26"/>
                </a:solidFill>
                <a:latin typeface="Helvetica Neue"/>
                <a:ea typeface="Helvetica Neue"/>
                <a:cs typeface="Helvetica Neue"/>
              </a:rPr>
              <a:t>Operations</a:t>
            </a:r>
          </a:p>
        </p:txBody>
      </p:sp>
      <p:sp>
        <p:nvSpPr>
          <p:cNvPr id="23" name="">
            <a:extLst xmlns:a="http://schemas.openxmlformats.org/drawingml/2006/main">
              <a:ext uri="{FF2B5EF4-FFF2-40B4-BE49-F238E27FC236}">
                <a16:creationId xmlns:a16="http://schemas.microsoft.com/office/drawing/2014/main" id="{3E3F9457-34CE-4AB0-BE3C-16670A7E713A}"/>
              </a:ext>
            </a:extLst>
          </p:cNvPr>
          <p:cNvSpPr>
            <a:spLocks xmlns:a="http://schemas.openxmlformats.org/drawingml/2006/main" noGrp="1"/>
          </p:cNvSpPr>
          <p:nvPr/>
        </p:nvSpPr>
        <p:spPr>
          <a:xfrm xmlns:a="http://schemas.openxmlformats.org/drawingml/2006/main">
            <a:off x="9048750" y="4429125"/>
            <a:ext cx="226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696B62"/>
                </a:solidFill>
                <a:latin typeface="Helvetica Neue"/>
                <a:ea typeface="Helvetica Neue"/>
                <a:cs typeface="Helvetica Neue"/>
              </a:defRPr>
            </a:pPr>
            <a:r>
              <a:rPr sz="1200" b="0">
                <a:solidFill>
                  <a:srgbClr val="696B62"/>
                </a:solidFill>
                <a:latin typeface="Helvetica Neue"/>
                <a:ea typeface="Helvetica Neue"/>
                <a:cs typeface="Helvetica Neue"/>
              </a:rPr>
              <a:t>Versioned batteries, keys and analyst review</a:t>
            </a:r>
          </a:p>
        </p:txBody>
      </p:sp>
      <p:sp>
        <p:nvSpPr>
          <p:cNvPr id="24" name="">
            <a:extLst xmlns:a="http://schemas.openxmlformats.org/drawingml/2006/main">
              <a:ext uri="{FF2B5EF4-FFF2-40B4-BE49-F238E27FC236}">
                <a16:creationId xmlns:a16="http://schemas.microsoft.com/office/drawing/2014/main" id="{1448E669-8B3F-4C32-BE7D-C82595E0A9F8}"/>
              </a:ext>
            </a:extLst>
          </p:cNvPr>
          <p:cNvSpPr>
            <a:spLocks xmlns:a="http://schemas.openxmlformats.org/drawingml/2006/main" noGrp="1"/>
          </p:cNvSpPr>
          <p:nvPr/>
        </p:nvSpPr>
        <p:spPr>
          <a:xfrm xmlns:a="http://schemas.openxmlformats.org/drawingml/2006/main">
            <a:off x="7924800" y="5219700"/>
            <a:ext cx="3390900" cy="628650"/>
          </a:xfrm>
          <a:prstGeom xmlns:a="http://schemas.openxmlformats.org/drawingml/2006/main" prst="roundRect">
            <a:avLst>
              <a:gd name="adj" fmla="val 18182"/>
            </a:avLst>
          </a:prstGeom>
          <a:solidFill xmlns:a="http://schemas.openxmlformats.org/drawingml/2006/main">
            <a:srgbClr val="DDE6D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3D1DF65-2814-4E3B-BDA1-8175640127FC}"/>
              </a:ext>
            </a:extLst>
          </p:cNvPr>
          <p:cNvSpPr>
            <a:spLocks xmlns:a="http://schemas.openxmlformats.org/drawingml/2006/main" noGrp="1"/>
          </p:cNvSpPr>
          <p:nvPr/>
        </p:nvSpPr>
        <p:spPr>
          <a:xfrm xmlns:a="http://schemas.openxmlformats.org/drawingml/2006/main">
            <a:off x="8096250" y="5305425"/>
            <a:ext cx="304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3"/>
          </a:bodyPr>
          <a:lstStyle xmlns:a="http://schemas.openxmlformats.org/drawingml/2006/main"/>
          <a:p xmlns:a="http://schemas.openxmlformats.org/drawingml/2006/main">
            <a:pPr>
              <a:defRPr sz="1125" b="1">
                <a:solidFill>
                  <a:srgbClr val="53694C"/>
                </a:solidFill>
                <a:latin typeface="Helvetica Neue"/>
                <a:ea typeface="Helvetica Neue"/>
                <a:cs typeface="Helvetica Neue"/>
              </a:defRPr>
            </a:pPr>
            <a:r>
              <a:rPr sz="1125" b="1">
                <a:solidFill>
                  <a:srgbClr val="53694C"/>
                </a:solidFill>
                <a:latin typeface="Helvetica Neue"/>
                <a:ea typeface="Helvetica Neue"/>
                <a:cs typeface="Helvetica Neue"/>
              </a:rPr>
              <a:t>Prototype runs on team laptops. Deployment cost follows throughput and model size.</a:t>
            </a:r>
          </a:p>
        </p:txBody>
      </p:sp>
      <p:sp>
        <p:nvSpPr>
          <p:cNvPr id="26" name="">
            <a:extLst xmlns:a="http://schemas.openxmlformats.org/drawingml/2006/main">
              <a:ext uri="{FF2B5EF4-FFF2-40B4-BE49-F238E27FC236}">
                <a16:creationId xmlns:a16="http://schemas.microsoft.com/office/drawing/2014/main" id="{3857F05D-96A4-442A-A573-AB09526C4248}"/>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680673164"/>
      </p:ext>
    </p:extLst>
  </p:cSld>
</p:sld>
</file>

<file path=ppt/slides/slide1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4D82D48-5047-4A98-903D-8F343862296C}"/>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IMPACT AND NEXT STEPS</a:t>
            </a:r>
          </a:p>
        </p:txBody>
      </p:sp>
      <p:sp>
        <p:nvSpPr>
          <p:cNvPr id="2" name="">
            <a:extLst xmlns:a="http://schemas.openxmlformats.org/drawingml/2006/main">
              <a:ext uri="{FF2B5EF4-FFF2-40B4-BE49-F238E27FC236}">
                <a16:creationId xmlns:a16="http://schemas.microsoft.com/office/drawing/2014/main" id="{383FDF62-5D03-40D2-BA97-A7204A586B48}"/>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E773AA84-303C-4C90-8A21-908C4B2EBC33}"/>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81F7C06C-F1E7-48E0-A9F3-B74A748E76C0}"/>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National-stage progress will be measured by evidence gates</a:t>
            </a:r>
          </a:p>
        </p:txBody>
      </p:sp>
      <p:sp>
        <p:nvSpPr>
          <p:cNvPr id="5" name="">
            <a:extLst xmlns:a="http://schemas.openxmlformats.org/drawingml/2006/main">
              <a:ext uri="{FF2B5EF4-FFF2-40B4-BE49-F238E27FC236}">
                <a16:creationId xmlns:a16="http://schemas.microsoft.com/office/drawing/2014/main" id="{082015CE-A2C9-4B21-A5A2-51DFAEF12914}"/>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Each phase earns a stronger claim and exposes a reason to stop or change direction.</a:t>
            </a:r>
          </a:p>
        </p:txBody>
      </p:sp>
      <p:sp>
        <p:nvSpPr>
          <p:cNvPr id="6" name="">
            <a:extLst xmlns:a="http://schemas.openxmlformats.org/drawingml/2006/main">
              <a:ext uri="{FF2B5EF4-FFF2-40B4-BE49-F238E27FC236}">
                <a16:creationId xmlns:a16="http://schemas.microsoft.com/office/drawing/2014/main" id="{792107C9-F1C9-46C5-8AC5-E4A8522C9DF7}"/>
              </a:ext>
            </a:extLst>
          </p:cNvPr>
          <p:cNvSpPr>
            <a:spLocks xmlns:a="http://schemas.openxmlformats.org/drawingml/2006/main" noGrp="1"/>
          </p:cNvSpPr>
          <p:nvPr/>
        </p:nvSpPr>
        <p:spPr>
          <a:xfrm xmlns:a="http://schemas.openxmlformats.org/drawingml/2006/main">
            <a:off x="685800" y="2095500"/>
            <a:ext cx="2457450" cy="2381250"/>
          </a:xfrm>
          <a:prstGeom xmlns:a="http://schemas.openxmlformats.org/drawingml/2006/main" prst="roundRect">
            <a:avLst>
              <a:gd name="adj" fmla="val 6400"/>
            </a:avLst>
          </a:prstGeom>
          <a:solidFill xmlns:a="http://schemas.openxmlformats.org/drawingml/2006/main">
            <a:srgbClr val="F3DDD5"/>
          </a:solidFill>
          <a:ln xmlns:a="http://schemas.openxmlformats.org/drawingml/2006/main" w="9525">
            <a:solidFill>
              <a:srgbClr val="DED0BC"/>
            </a:solidFill>
          </a:ln>
        </p:spPr>
      </p:sp>
      <p:sp>
        <p:nvSpPr>
          <p:cNvPr id="7" name="">
            <a:extLst xmlns:a="http://schemas.openxmlformats.org/drawingml/2006/main">
              <a:ext uri="{FF2B5EF4-FFF2-40B4-BE49-F238E27FC236}">
                <a16:creationId xmlns:a16="http://schemas.microsoft.com/office/drawing/2014/main" id="{568D498E-62DE-4E21-85ED-B96860B7437D}"/>
              </a:ext>
            </a:extLst>
          </p:cNvPr>
          <p:cNvSpPr>
            <a:spLocks xmlns:a="http://schemas.openxmlformats.org/drawingml/2006/main" noGrp="1"/>
          </p:cNvSpPr>
          <p:nvPr/>
        </p:nvSpPr>
        <p:spPr>
          <a:xfrm xmlns:a="http://schemas.openxmlformats.org/drawingml/2006/main">
            <a:off x="876300" y="229552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C74634"/>
                </a:solidFill>
                <a:latin typeface="Helvetica Neue"/>
                <a:ea typeface="Helvetica Neue"/>
                <a:cs typeface="Helvetica Neue"/>
              </a:defRPr>
            </a:pPr>
            <a:r>
              <a:rPr sz="975" b="1">
                <a:solidFill>
                  <a:srgbClr val="C74634"/>
                </a:solidFill>
                <a:latin typeface="Helvetica Neue"/>
                <a:ea typeface="Helvetica Neue"/>
                <a:cs typeface="Helvetica Neue"/>
              </a:rPr>
              <a:t>NOW</a:t>
            </a:r>
          </a:p>
        </p:txBody>
      </p:sp>
      <p:sp>
        <p:nvSpPr>
          <p:cNvPr id="8" name="">
            <a:extLst xmlns:a="http://schemas.openxmlformats.org/drawingml/2006/main">
              <a:ext uri="{FF2B5EF4-FFF2-40B4-BE49-F238E27FC236}">
                <a16:creationId xmlns:a16="http://schemas.microsoft.com/office/drawing/2014/main" id="{7D181A6C-E0AF-412C-8980-EACCA0D6A124}"/>
              </a:ext>
            </a:extLst>
          </p:cNvPr>
          <p:cNvSpPr>
            <a:spLocks xmlns:a="http://schemas.openxmlformats.org/drawingml/2006/main" noGrp="1"/>
          </p:cNvSpPr>
          <p:nvPr/>
        </p:nvSpPr>
        <p:spPr>
          <a:xfrm xmlns:a="http://schemas.openxmlformats.org/drawingml/2006/main">
            <a:off x="876300" y="26860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92A26"/>
                </a:solidFill>
                <a:latin typeface="Helvetica Neue"/>
                <a:ea typeface="Helvetica Neue"/>
                <a:cs typeface="Helvetica Neue"/>
              </a:defRPr>
            </a:pPr>
            <a:r>
              <a:rPr sz="1500" b="1">
                <a:solidFill>
                  <a:srgbClr val="292A26"/>
                </a:solidFill>
                <a:latin typeface="Helvetica Neue"/>
                <a:ea typeface="Helvetica Neue"/>
                <a:cs typeface="Helvetica Neue"/>
              </a:rPr>
              <a:t>VERTICAL SLICE</a:t>
            </a:r>
          </a:p>
        </p:txBody>
      </p:sp>
      <p:sp>
        <p:nvSpPr>
          <p:cNvPr id="9" name="">
            <a:extLst xmlns:a="http://schemas.openxmlformats.org/drawingml/2006/main">
              <a:ext uri="{FF2B5EF4-FFF2-40B4-BE49-F238E27FC236}">
                <a16:creationId xmlns:a16="http://schemas.microsoft.com/office/drawing/2014/main" id="{1D871309-A7BE-41D6-AEF8-A8743B002FC2}"/>
              </a:ext>
            </a:extLst>
          </p:cNvPr>
          <p:cNvSpPr>
            <a:spLocks xmlns:a="http://schemas.openxmlformats.org/drawingml/2006/main" noGrp="1"/>
          </p:cNvSpPr>
          <p:nvPr/>
        </p:nvSpPr>
        <p:spPr>
          <a:xfrm xmlns:a="http://schemas.openxmlformats.org/drawingml/2006/main">
            <a:off x="895350" y="3228975"/>
            <a:ext cx="2038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76"/>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1 clean + 1 poisoned NIST model</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Signed record and replay test</a:t>
            </a:r>
          </a:p>
        </p:txBody>
      </p:sp>
      <p:sp>
        <p:nvSpPr>
          <p:cNvPr id="10" name="">
            <a:extLst xmlns:a="http://schemas.openxmlformats.org/drawingml/2006/main">
              <a:ext uri="{FF2B5EF4-FFF2-40B4-BE49-F238E27FC236}">
                <a16:creationId xmlns:a16="http://schemas.microsoft.com/office/drawing/2014/main" id="{E0D4FD88-FD20-41A4-B261-45B77C59F524}"/>
              </a:ext>
            </a:extLst>
          </p:cNvPr>
          <p:cNvSpPr>
            <a:spLocks xmlns:a="http://schemas.openxmlformats.org/drawingml/2006/main" noGrp="1"/>
          </p:cNvSpPr>
          <p:nvPr/>
        </p:nvSpPr>
        <p:spPr>
          <a:xfrm xmlns:a="http://schemas.openxmlformats.org/drawingml/2006/main">
            <a:off x="3190875" y="328612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1" name="">
            <a:extLst xmlns:a="http://schemas.openxmlformats.org/drawingml/2006/main">
              <a:ext uri="{FF2B5EF4-FFF2-40B4-BE49-F238E27FC236}">
                <a16:creationId xmlns:a16="http://schemas.microsoft.com/office/drawing/2014/main" id="{F3F898AC-644F-4784-83BA-8DBF73E75737}"/>
              </a:ext>
            </a:extLst>
          </p:cNvPr>
          <p:cNvSpPr>
            <a:spLocks xmlns:a="http://schemas.openxmlformats.org/drawingml/2006/main" noGrp="1"/>
          </p:cNvSpPr>
          <p:nvPr/>
        </p:nvSpPr>
        <p:spPr>
          <a:xfrm xmlns:a="http://schemas.openxmlformats.org/drawingml/2006/main">
            <a:off x="3409950" y="2095500"/>
            <a:ext cx="2457450" cy="2381250"/>
          </a:xfrm>
          <a:prstGeom xmlns:a="http://schemas.openxmlformats.org/drawingml/2006/main" prst="roundRect">
            <a:avLst>
              <a:gd name="adj" fmla="val 6400"/>
            </a:avLst>
          </a:prstGeom>
          <a:solidFill xmlns:a="http://schemas.openxmlformats.org/drawingml/2006/main">
            <a:srgbClr val="EAE0D1"/>
          </a:solidFill>
          <a:ln xmlns:a="http://schemas.openxmlformats.org/drawingml/2006/main" w="9525">
            <a:solidFill>
              <a:srgbClr val="DED0BC"/>
            </a:solidFill>
          </a:ln>
        </p:spPr>
      </p:sp>
      <p:sp>
        <p:nvSpPr>
          <p:cNvPr id="12" name="">
            <a:extLst xmlns:a="http://schemas.openxmlformats.org/drawingml/2006/main">
              <a:ext uri="{FF2B5EF4-FFF2-40B4-BE49-F238E27FC236}">
                <a16:creationId xmlns:a16="http://schemas.microsoft.com/office/drawing/2014/main" id="{37EF6A5E-AB77-43BA-8601-E169A0C21B4D}"/>
              </a:ext>
            </a:extLst>
          </p:cNvPr>
          <p:cNvSpPr>
            <a:spLocks xmlns:a="http://schemas.openxmlformats.org/drawingml/2006/main" noGrp="1"/>
          </p:cNvSpPr>
          <p:nvPr/>
        </p:nvSpPr>
        <p:spPr>
          <a:xfrm xmlns:a="http://schemas.openxmlformats.org/drawingml/2006/main">
            <a:off x="3600450" y="229552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GATE 1</a:t>
            </a:r>
          </a:p>
        </p:txBody>
      </p:sp>
      <p:sp>
        <p:nvSpPr>
          <p:cNvPr id="13" name="">
            <a:extLst xmlns:a="http://schemas.openxmlformats.org/drawingml/2006/main">
              <a:ext uri="{FF2B5EF4-FFF2-40B4-BE49-F238E27FC236}">
                <a16:creationId xmlns:a16="http://schemas.microsoft.com/office/drawing/2014/main" id="{531ADABC-3237-4B0F-BAF1-8962838ABE8C}"/>
              </a:ext>
            </a:extLst>
          </p:cNvPr>
          <p:cNvSpPr>
            <a:spLocks xmlns:a="http://schemas.openxmlformats.org/drawingml/2006/main" noGrp="1"/>
          </p:cNvSpPr>
          <p:nvPr/>
        </p:nvSpPr>
        <p:spPr>
          <a:xfrm xmlns:a="http://schemas.openxmlformats.org/drawingml/2006/main">
            <a:off x="3600450" y="26860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92A26"/>
                </a:solidFill>
                <a:latin typeface="Helvetica Neue"/>
                <a:ea typeface="Helvetica Neue"/>
                <a:cs typeface="Helvetica Neue"/>
              </a:defRPr>
            </a:pPr>
            <a:r>
              <a:rPr sz="1500" b="1">
                <a:solidFill>
                  <a:srgbClr val="292A26"/>
                </a:solidFill>
                <a:latin typeface="Helvetica Neue"/>
                <a:ea typeface="Helvetica Neue"/>
                <a:cs typeface="Helvetica Neue"/>
              </a:rPr>
              <a:t>BENCHMARK</a:t>
            </a:r>
          </a:p>
        </p:txBody>
      </p:sp>
      <p:sp>
        <p:nvSpPr>
          <p:cNvPr id="14" name="">
            <a:extLst xmlns:a="http://schemas.openxmlformats.org/drawingml/2006/main">
              <a:ext uri="{FF2B5EF4-FFF2-40B4-BE49-F238E27FC236}">
                <a16:creationId xmlns:a16="http://schemas.microsoft.com/office/drawing/2014/main" id="{4CEDAA15-9F66-407D-9590-3642F3758FCD}"/>
              </a:ext>
            </a:extLst>
          </p:cNvPr>
          <p:cNvSpPr>
            <a:spLocks xmlns:a="http://schemas.openxmlformats.org/drawingml/2006/main" noGrp="1"/>
          </p:cNvSpPr>
          <p:nvPr/>
        </p:nvSpPr>
        <p:spPr>
          <a:xfrm xmlns:a="http://schemas.openxmlformats.org/drawingml/2006/main">
            <a:off x="3619500" y="3228975"/>
            <a:ext cx="2038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Round 13 attack-family metrics</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Clean quarantine rate</a:t>
            </a:r>
          </a:p>
        </p:txBody>
      </p:sp>
      <p:sp>
        <p:nvSpPr>
          <p:cNvPr id="15" name="">
            <a:extLst xmlns:a="http://schemas.openxmlformats.org/drawingml/2006/main">
              <a:ext uri="{FF2B5EF4-FFF2-40B4-BE49-F238E27FC236}">
                <a16:creationId xmlns:a16="http://schemas.microsoft.com/office/drawing/2014/main" id="{E0120FCC-8F1F-4DEB-BB9B-BF676CCEF74D}"/>
              </a:ext>
            </a:extLst>
          </p:cNvPr>
          <p:cNvSpPr>
            <a:spLocks xmlns:a="http://schemas.openxmlformats.org/drawingml/2006/main" noGrp="1"/>
          </p:cNvSpPr>
          <p:nvPr/>
        </p:nvSpPr>
        <p:spPr>
          <a:xfrm xmlns:a="http://schemas.openxmlformats.org/drawingml/2006/main">
            <a:off x="5915025" y="328612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16" name="">
            <a:extLst xmlns:a="http://schemas.openxmlformats.org/drawingml/2006/main">
              <a:ext uri="{FF2B5EF4-FFF2-40B4-BE49-F238E27FC236}">
                <a16:creationId xmlns:a16="http://schemas.microsoft.com/office/drawing/2014/main" id="{A686A5E4-8616-4395-AB99-5ACA28BDC6CC}"/>
              </a:ext>
            </a:extLst>
          </p:cNvPr>
          <p:cNvSpPr>
            <a:spLocks xmlns:a="http://schemas.openxmlformats.org/drawingml/2006/main" noGrp="1"/>
          </p:cNvSpPr>
          <p:nvPr/>
        </p:nvSpPr>
        <p:spPr>
          <a:xfrm xmlns:a="http://schemas.openxmlformats.org/drawingml/2006/main">
            <a:off x="6134100" y="2095500"/>
            <a:ext cx="2457450" cy="2381250"/>
          </a:xfrm>
          <a:prstGeom xmlns:a="http://schemas.openxmlformats.org/drawingml/2006/main" prst="roundRect">
            <a:avLst>
              <a:gd name="adj" fmla="val 6400"/>
            </a:avLst>
          </a:prstGeom>
          <a:solidFill xmlns:a="http://schemas.openxmlformats.org/drawingml/2006/main">
            <a:srgbClr val="DCE7E6"/>
          </a:solidFill>
          <a:ln xmlns:a="http://schemas.openxmlformats.org/drawingml/2006/main" w="9525">
            <a:solidFill>
              <a:srgbClr val="DED0BC"/>
            </a:solidFill>
          </a:ln>
        </p:spPr>
      </p:sp>
      <p:sp>
        <p:nvSpPr>
          <p:cNvPr id="17" name="">
            <a:extLst xmlns:a="http://schemas.openxmlformats.org/drawingml/2006/main">
              <a:ext uri="{FF2B5EF4-FFF2-40B4-BE49-F238E27FC236}">
                <a16:creationId xmlns:a16="http://schemas.microsoft.com/office/drawing/2014/main" id="{AE675858-38B5-44C5-AE2F-C6484FEAB652}"/>
              </a:ext>
            </a:extLst>
          </p:cNvPr>
          <p:cNvSpPr>
            <a:spLocks xmlns:a="http://schemas.openxmlformats.org/drawingml/2006/main" noGrp="1"/>
          </p:cNvSpPr>
          <p:nvPr/>
        </p:nvSpPr>
        <p:spPr>
          <a:xfrm xmlns:a="http://schemas.openxmlformats.org/drawingml/2006/main">
            <a:off x="6324600" y="229552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GATE 2</a:t>
            </a:r>
          </a:p>
        </p:txBody>
      </p:sp>
      <p:sp>
        <p:nvSpPr>
          <p:cNvPr id="18" name="">
            <a:extLst xmlns:a="http://schemas.openxmlformats.org/drawingml/2006/main">
              <a:ext uri="{FF2B5EF4-FFF2-40B4-BE49-F238E27FC236}">
                <a16:creationId xmlns:a16="http://schemas.microsoft.com/office/drawing/2014/main" id="{54365934-CB8F-41A1-BB48-F3C39AD2FDCA}"/>
              </a:ext>
            </a:extLst>
          </p:cNvPr>
          <p:cNvSpPr>
            <a:spLocks xmlns:a="http://schemas.openxmlformats.org/drawingml/2006/main" noGrp="1"/>
          </p:cNvSpPr>
          <p:nvPr/>
        </p:nvSpPr>
        <p:spPr>
          <a:xfrm xmlns:a="http://schemas.openxmlformats.org/drawingml/2006/main">
            <a:off x="6324600" y="26860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92A26"/>
                </a:solidFill>
                <a:latin typeface="Helvetica Neue"/>
                <a:ea typeface="Helvetica Neue"/>
                <a:cs typeface="Helvetica Neue"/>
              </a:defRPr>
            </a:pPr>
            <a:r>
              <a:rPr sz="1500" b="1">
                <a:solidFill>
                  <a:srgbClr val="292A26"/>
                </a:solidFill>
                <a:latin typeface="Helvetica Neue"/>
                <a:ea typeface="Helvetica Neue"/>
                <a:cs typeface="Helvetica Neue"/>
              </a:rPr>
              <a:t>GENERALISE</a:t>
            </a:r>
          </a:p>
        </p:txBody>
      </p:sp>
      <p:sp>
        <p:nvSpPr>
          <p:cNvPr id="19" name="">
            <a:extLst xmlns:a="http://schemas.openxmlformats.org/drawingml/2006/main">
              <a:ext uri="{FF2B5EF4-FFF2-40B4-BE49-F238E27FC236}">
                <a16:creationId xmlns:a16="http://schemas.microsoft.com/office/drawing/2014/main" id="{6477BE21-9806-417A-8712-6CAC02135D9C}"/>
              </a:ext>
            </a:extLst>
          </p:cNvPr>
          <p:cNvSpPr>
            <a:spLocks xmlns:a="http://schemas.openxmlformats.org/drawingml/2006/main" noGrp="1"/>
          </p:cNvSpPr>
          <p:nvPr/>
        </p:nvSpPr>
        <p:spPr>
          <a:xfrm xmlns:a="http://schemas.openxmlformats.org/drawingml/2006/main">
            <a:off x="6343650" y="3228975"/>
            <a:ext cx="2038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COCO-O shift calibration</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ONNX and black-box fallback</a:t>
            </a:r>
          </a:p>
        </p:txBody>
      </p:sp>
      <p:sp>
        <p:nvSpPr>
          <p:cNvPr id="20" name="">
            <a:extLst xmlns:a="http://schemas.openxmlformats.org/drawingml/2006/main">
              <a:ext uri="{FF2B5EF4-FFF2-40B4-BE49-F238E27FC236}">
                <a16:creationId xmlns:a16="http://schemas.microsoft.com/office/drawing/2014/main" id="{E9207D2E-685A-4DC4-99F3-B6DD6D40D47A}"/>
              </a:ext>
            </a:extLst>
          </p:cNvPr>
          <p:cNvSpPr>
            <a:spLocks xmlns:a="http://schemas.openxmlformats.org/drawingml/2006/main" noGrp="1"/>
          </p:cNvSpPr>
          <p:nvPr/>
        </p:nvSpPr>
        <p:spPr>
          <a:xfrm xmlns:a="http://schemas.openxmlformats.org/drawingml/2006/main">
            <a:off x="8639175" y="3286125"/>
            <a:ext cx="171450" cy="0"/>
          </a:xfrm>
          <a:prstGeom xmlns:a="http://schemas.openxmlformats.org/drawingml/2006/main" prst="line">
            <a:avLst/>
          </a:prstGeom>
          <a:noFill xmlns:a="http://schemas.openxmlformats.org/drawingml/2006/main"/>
          <a:ln xmlns:a="http://schemas.openxmlformats.org/drawingml/2006/main" w="38100">
            <a:solidFill>
              <a:srgbClr val="B66045"/>
            </a:solidFill>
            <a:prstDash val="solid"/>
          </a:ln>
        </p:spPr>
      </p:sp>
      <p:sp>
        <p:nvSpPr>
          <p:cNvPr id="21" name="">
            <a:extLst xmlns:a="http://schemas.openxmlformats.org/drawingml/2006/main">
              <a:ext uri="{FF2B5EF4-FFF2-40B4-BE49-F238E27FC236}">
                <a16:creationId xmlns:a16="http://schemas.microsoft.com/office/drawing/2014/main" id="{92E7E75D-B08F-4A20-9625-D8D2708326AB}"/>
              </a:ext>
            </a:extLst>
          </p:cNvPr>
          <p:cNvSpPr>
            <a:spLocks xmlns:a="http://schemas.openxmlformats.org/drawingml/2006/main" noGrp="1"/>
          </p:cNvSpPr>
          <p:nvPr/>
        </p:nvSpPr>
        <p:spPr>
          <a:xfrm xmlns:a="http://schemas.openxmlformats.org/drawingml/2006/main">
            <a:off x="8858250" y="2095500"/>
            <a:ext cx="2457450" cy="2381250"/>
          </a:xfrm>
          <a:prstGeom xmlns:a="http://schemas.openxmlformats.org/drawingml/2006/main" prst="roundRect">
            <a:avLst>
              <a:gd name="adj" fmla="val 6400"/>
            </a:avLst>
          </a:prstGeom>
          <a:solidFill xmlns:a="http://schemas.openxmlformats.org/drawingml/2006/main">
            <a:srgbClr val="DDE6D8"/>
          </a:solidFill>
          <a:ln xmlns:a="http://schemas.openxmlformats.org/drawingml/2006/main" w="9525">
            <a:solidFill>
              <a:srgbClr val="DED0BC"/>
            </a:solidFill>
          </a:ln>
        </p:spPr>
      </p:sp>
      <p:sp>
        <p:nvSpPr>
          <p:cNvPr id="22" name="">
            <a:extLst xmlns:a="http://schemas.openxmlformats.org/drawingml/2006/main">
              <a:ext uri="{FF2B5EF4-FFF2-40B4-BE49-F238E27FC236}">
                <a16:creationId xmlns:a16="http://schemas.microsoft.com/office/drawing/2014/main" id="{C15245DF-3C75-45FE-952A-F2CAECB12C1B}"/>
              </a:ext>
            </a:extLst>
          </p:cNvPr>
          <p:cNvSpPr>
            <a:spLocks xmlns:a="http://schemas.openxmlformats.org/drawingml/2006/main" noGrp="1"/>
          </p:cNvSpPr>
          <p:nvPr/>
        </p:nvSpPr>
        <p:spPr>
          <a:xfrm xmlns:a="http://schemas.openxmlformats.org/drawingml/2006/main">
            <a:off x="9048750" y="2295525"/>
            <a:ext cx="207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FINAL</a:t>
            </a:r>
          </a:p>
        </p:txBody>
      </p:sp>
      <p:sp>
        <p:nvSpPr>
          <p:cNvPr id="23" name="">
            <a:extLst xmlns:a="http://schemas.openxmlformats.org/drawingml/2006/main">
              <a:ext uri="{FF2B5EF4-FFF2-40B4-BE49-F238E27FC236}">
                <a16:creationId xmlns:a16="http://schemas.microsoft.com/office/drawing/2014/main" id="{6D019CFF-96F8-44AF-9FBE-EDD18180F213}"/>
              </a:ext>
            </a:extLst>
          </p:cNvPr>
          <p:cNvSpPr>
            <a:spLocks xmlns:a="http://schemas.openxmlformats.org/drawingml/2006/main" noGrp="1"/>
          </p:cNvSpPr>
          <p:nvPr/>
        </p:nvSpPr>
        <p:spPr>
          <a:xfrm xmlns:a="http://schemas.openxmlformats.org/drawingml/2006/main">
            <a:off x="9048750" y="2686050"/>
            <a:ext cx="2076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92A26"/>
                </a:solidFill>
                <a:latin typeface="Helvetica Neue"/>
                <a:ea typeface="Helvetica Neue"/>
                <a:cs typeface="Helvetica Neue"/>
              </a:defRPr>
            </a:pPr>
            <a:r>
              <a:rPr sz="1500" b="1">
                <a:solidFill>
                  <a:srgbClr val="292A26"/>
                </a:solidFill>
                <a:latin typeface="Helvetica Neue"/>
                <a:ea typeface="Helvetica Neue"/>
                <a:cs typeface="Helvetica Neue"/>
              </a:rPr>
              <a:t>FIELD READY</a:t>
            </a:r>
          </a:p>
        </p:txBody>
      </p:sp>
      <p:sp>
        <p:nvSpPr>
          <p:cNvPr id="24" name="">
            <a:extLst xmlns:a="http://schemas.openxmlformats.org/drawingml/2006/main">
              <a:ext uri="{FF2B5EF4-FFF2-40B4-BE49-F238E27FC236}">
                <a16:creationId xmlns:a16="http://schemas.microsoft.com/office/drawing/2014/main" id="{6CC957EF-5BD2-4345-973D-4E50E2F41C0F}"/>
              </a:ext>
            </a:extLst>
          </p:cNvPr>
          <p:cNvSpPr>
            <a:spLocks xmlns:a="http://schemas.openxmlformats.org/drawingml/2006/main" noGrp="1"/>
          </p:cNvSpPr>
          <p:nvPr/>
        </p:nvSpPr>
        <p:spPr>
          <a:xfrm xmlns:a="http://schemas.openxmlformats.org/drawingml/2006/main">
            <a:off x="9067800" y="3228975"/>
            <a:ext cx="2038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76"/>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Offline package, coverage statement</a:t>
            </a:r>
          </a:p>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Analyst study and reproducible audit</a:t>
            </a:r>
          </a:p>
        </p:txBody>
      </p:sp>
      <p:sp>
        <p:nvSpPr>
          <p:cNvPr id="25" name="">
            <a:extLst xmlns:a="http://schemas.openxmlformats.org/drawingml/2006/main">
              <a:ext uri="{FF2B5EF4-FFF2-40B4-BE49-F238E27FC236}">
                <a16:creationId xmlns:a16="http://schemas.microsoft.com/office/drawing/2014/main" id="{50605E36-994B-42F1-8661-F1E79358C16D}"/>
              </a:ext>
            </a:extLst>
          </p:cNvPr>
          <p:cNvSpPr>
            <a:spLocks xmlns:a="http://schemas.openxmlformats.org/drawingml/2006/main" noGrp="1"/>
          </p:cNvSpPr>
          <p:nvPr/>
        </p:nvSpPr>
        <p:spPr>
          <a:xfrm xmlns:a="http://schemas.openxmlformats.org/drawingml/2006/main">
            <a:off x="685800" y="48958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Impact measures</a:t>
            </a:r>
          </a:p>
        </p:txBody>
      </p:sp>
      <p:sp>
        <p:nvSpPr>
          <p:cNvPr id="26" name="">
            <a:extLst xmlns:a="http://schemas.openxmlformats.org/drawingml/2006/main">
              <a:ext uri="{FF2B5EF4-FFF2-40B4-BE49-F238E27FC236}">
                <a16:creationId xmlns:a16="http://schemas.microsoft.com/office/drawing/2014/main" id="{7AE694BE-9456-4FB6-9DC7-0C53EFAEC99F}"/>
              </a:ext>
            </a:extLst>
          </p:cNvPr>
          <p:cNvSpPr>
            <a:spLocks xmlns:a="http://schemas.openxmlformats.org/drawingml/2006/main" noGrp="1"/>
          </p:cNvSpPr>
          <p:nvPr/>
        </p:nvSpPr>
        <p:spPr>
          <a:xfrm xmlns:a="http://schemas.openxmlformats.org/drawingml/2006/main">
            <a:off x="685800" y="52387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92A26"/>
                </a:solidFill>
                <a:latin typeface="Helvetica Neue"/>
                <a:ea typeface="Helvetica Neue"/>
                <a:cs typeface="Helvetica Neue"/>
              </a:defRPr>
            </a:pPr>
            <a:r>
              <a:rPr sz="1425" b="1">
                <a:solidFill>
                  <a:srgbClr val="292A26"/>
                </a:solidFill>
                <a:latin typeface="Helvetica Neue"/>
                <a:ea typeface="Helvetica Neue"/>
                <a:cs typeface="Helvetica Neue"/>
              </a:rPr>
              <a:t>Attack TPR at fixed FPR  ·  clean quarantine rate  ·  calibration  ·  analyst review time  ·  tamper and replay detection</a:t>
            </a:r>
          </a:p>
        </p:txBody>
      </p:sp>
      <p:sp>
        <p:nvSpPr>
          <p:cNvPr id="27" name="">
            <a:extLst xmlns:a="http://schemas.openxmlformats.org/drawingml/2006/main">
              <a:ext uri="{FF2B5EF4-FFF2-40B4-BE49-F238E27FC236}">
                <a16:creationId xmlns:a16="http://schemas.microsoft.com/office/drawing/2014/main" id="{9480F62B-3503-4FA2-83A0-49E4FDB11D07}"/>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815"/>
          </a:bodyPr>
          <a:lstStyle xmlns:a="http://schemas.openxmlformats.org/drawingml/2006/main"/>
          <a:p xmlns:a="http://schemas.openxmlformats.org/drawingml/2006/main">
            <a:pPr>
              <a:defRPr sz="1725" b="1">
                <a:solidFill>
                  <a:srgbClr val="5B6546"/>
                </a:solidFill>
                <a:latin typeface="Helvetica Neue"/>
                <a:ea typeface="Helvetica Neue"/>
                <a:cs typeface="Helvetica Neue"/>
              </a:defRPr>
            </a:pPr>
            <a:r>
              <a:rPr sz="1725" b="1">
                <a:solidFill>
                  <a:srgbClr val="5B6546"/>
                </a:solidFill>
                <a:latin typeface="Helvetica Neue"/>
                <a:ea typeface="Helvetica Neue"/>
                <a:cs typeface="Helvetica Neue"/>
              </a:rPr>
              <a:t>PramaanCV gives the analyst a defensible reason to trust, review or quarantine a computer-vision asset.</a:t>
            </a:r>
          </a:p>
        </p:txBody>
      </p:sp>
      <p:sp>
        <p:nvSpPr>
          <p:cNvPr id="28" name="">
            <a:extLst xmlns:a="http://schemas.openxmlformats.org/drawingml/2006/main">
              <a:ext uri="{FF2B5EF4-FFF2-40B4-BE49-F238E27FC236}">
                <a16:creationId xmlns:a16="http://schemas.microsoft.com/office/drawing/2014/main" id="{AC90F0E9-ED79-4DAE-A266-147548BA5E97}"/>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914525838"/>
      </p:ext>
    </p:extLst>
  </p:cSld>
</p:sld>
</file>

<file path=ppt/slides/slide1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DFEEAD9B-755E-4B77-B2E2-09FEDA14C5CE}"/>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14C2F7B4-5EB8-4447-A0F7-5CE1A053DAE4}"/>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7F387DC3-8A2C-4281-B70D-78850EA4001C}"/>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02571C8C-62ED-4CC9-AD16-1EF3F9E75A6A}"/>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Coverage follows available access</a:t>
            </a:r>
          </a:p>
        </p:txBody>
      </p:sp>
      <p:sp>
        <p:nvSpPr>
          <p:cNvPr id="5" name="">
            <a:extLst xmlns:a="http://schemas.openxmlformats.org/drawingml/2006/main">
              <a:ext uri="{FF2B5EF4-FFF2-40B4-BE49-F238E27FC236}">
                <a16:creationId xmlns:a16="http://schemas.microsoft.com/office/drawing/2014/main" id="{41A7414D-521A-4DA5-B07E-EE89D4C0E539}"/>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The system never upgrades weak evidence into a strong conclusion.</a:t>
            </a:r>
          </a:p>
        </p:txBody>
      </p:sp>
      <p:sp>
        <p:nvSpPr>
          <p:cNvPr id="6" name="">
            <a:extLst xmlns:a="http://schemas.openxmlformats.org/drawingml/2006/main">
              <a:ext uri="{FF2B5EF4-FFF2-40B4-BE49-F238E27FC236}">
                <a16:creationId xmlns:a16="http://schemas.microsoft.com/office/drawing/2014/main" id="{99B10460-1203-423F-9EF7-43A60843F0F2}"/>
              </a:ext>
            </a:extLst>
          </p:cNvPr>
          <p:cNvSpPr>
            <a:spLocks xmlns:a="http://schemas.openxmlformats.org/drawingml/2006/main" noGrp="1"/>
          </p:cNvSpPr>
          <p:nvPr/>
        </p:nvSpPr>
        <p:spPr>
          <a:xfrm xmlns:a="http://schemas.openxmlformats.org/drawingml/2006/main">
            <a:off x="685800" y="1924050"/>
            <a:ext cx="3333750" cy="43815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7" name="">
            <a:extLst xmlns:a="http://schemas.openxmlformats.org/drawingml/2006/main">
              <a:ext uri="{FF2B5EF4-FFF2-40B4-BE49-F238E27FC236}">
                <a16:creationId xmlns:a16="http://schemas.microsoft.com/office/drawing/2014/main" id="{1FE20119-5009-49F9-A1F0-BB143833E35C}"/>
              </a:ext>
            </a:extLst>
          </p:cNvPr>
          <p:cNvSpPr>
            <a:spLocks xmlns:a="http://schemas.openxmlformats.org/drawingml/2006/main" noGrp="1"/>
          </p:cNvSpPr>
          <p:nvPr/>
        </p:nvSpPr>
        <p:spPr>
          <a:xfrm xmlns:a="http://schemas.openxmlformats.org/drawingml/2006/main">
            <a:off x="762000" y="198120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ASSESSMENT</a:t>
            </a:r>
          </a:p>
        </p:txBody>
      </p:sp>
      <p:sp>
        <p:nvSpPr>
          <p:cNvPr id="8" name="">
            <a:extLst xmlns:a="http://schemas.openxmlformats.org/drawingml/2006/main">
              <a:ext uri="{FF2B5EF4-FFF2-40B4-BE49-F238E27FC236}">
                <a16:creationId xmlns:a16="http://schemas.microsoft.com/office/drawing/2014/main" id="{C731B4A1-4DD3-4865-9F3F-4E1207699019}"/>
              </a:ext>
            </a:extLst>
          </p:cNvPr>
          <p:cNvSpPr>
            <a:spLocks xmlns:a="http://schemas.openxmlformats.org/drawingml/2006/main" noGrp="1"/>
          </p:cNvSpPr>
          <p:nvPr/>
        </p:nvSpPr>
        <p:spPr>
          <a:xfrm xmlns:a="http://schemas.openxmlformats.org/drawingml/2006/main">
            <a:off x="4191000" y="1924050"/>
            <a:ext cx="2190750" cy="43815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9" name="">
            <a:extLst xmlns:a="http://schemas.openxmlformats.org/drawingml/2006/main">
              <a:ext uri="{FF2B5EF4-FFF2-40B4-BE49-F238E27FC236}">
                <a16:creationId xmlns:a16="http://schemas.microsoft.com/office/drawing/2014/main" id="{64FFA7FB-B561-41FE-8368-12E3906CECDC}"/>
              </a:ext>
            </a:extLst>
          </p:cNvPr>
          <p:cNvSpPr>
            <a:spLocks xmlns:a="http://schemas.openxmlformats.org/drawingml/2006/main" noGrp="1"/>
          </p:cNvSpPr>
          <p:nvPr/>
        </p:nvSpPr>
        <p:spPr>
          <a:xfrm xmlns:a="http://schemas.openxmlformats.org/drawingml/2006/main">
            <a:off x="4267200" y="19812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WHITE-BOX</a:t>
            </a:r>
          </a:p>
        </p:txBody>
      </p:sp>
      <p:sp>
        <p:nvSpPr>
          <p:cNvPr id="10" name="">
            <a:extLst xmlns:a="http://schemas.openxmlformats.org/drawingml/2006/main">
              <a:ext uri="{FF2B5EF4-FFF2-40B4-BE49-F238E27FC236}">
                <a16:creationId xmlns:a16="http://schemas.microsoft.com/office/drawing/2014/main" id="{62C1121C-C365-463C-BC1B-92EC385E165C}"/>
              </a:ext>
            </a:extLst>
          </p:cNvPr>
          <p:cNvSpPr>
            <a:spLocks xmlns:a="http://schemas.openxmlformats.org/drawingml/2006/main" noGrp="1"/>
          </p:cNvSpPr>
          <p:nvPr/>
        </p:nvSpPr>
        <p:spPr>
          <a:xfrm xmlns:a="http://schemas.openxmlformats.org/drawingml/2006/main">
            <a:off x="6572250" y="1924050"/>
            <a:ext cx="2190750" cy="43815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1" name="">
            <a:extLst xmlns:a="http://schemas.openxmlformats.org/drawingml/2006/main">
              <a:ext uri="{FF2B5EF4-FFF2-40B4-BE49-F238E27FC236}">
                <a16:creationId xmlns:a16="http://schemas.microsoft.com/office/drawing/2014/main" id="{67CB112E-DFD7-47AA-868B-AACD9E165405}"/>
              </a:ext>
            </a:extLst>
          </p:cNvPr>
          <p:cNvSpPr>
            <a:spLocks xmlns:a="http://schemas.openxmlformats.org/drawingml/2006/main" noGrp="1"/>
          </p:cNvSpPr>
          <p:nvPr/>
        </p:nvSpPr>
        <p:spPr>
          <a:xfrm xmlns:a="http://schemas.openxmlformats.org/drawingml/2006/main">
            <a:off x="6648450" y="1981200"/>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BLACK-BOX</a:t>
            </a:r>
          </a:p>
        </p:txBody>
      </p:sp>
      <p:sp>
        <p:nvSpPr>
          <p:cNvPr id="12" name="">
            <a:extLst xmlns:a="http://schemas.openxmlformats.org/drawingml/2006/main">
              <a:ext uri="{FF2B5EF4-FFF2-40B4-BE49-F238E27FC236}">
                <a16:creationId xmlns:a16="http://schemas.microsoft.com/office/drawing/2014/main" id="{F36A02C0-17EF-4BC6-96D6-63DB2DDDB389}"/>
              </a:ext>
            </a:extLst>
          </p:cNvPr>
          <p:cNvSpPr>
            <a:spLocks xmlns:a="http://schemas.openxmlformats.org/drawingml/2006/main" noGrp="1"/>
          </p:cNvSpPr>
          <p:nvPr/>
        </p:nvSpPr>
        <p:spPr>
          <a:xfrm xmlns:a="http://schemas.openxmlformats.org/drawingml/2006/main">
            <a:off x="8953500" y="1924050"/>
            <a:ext cx="2552700" cy="438150"/>
          </a:xfrm>
          <a:prstGeom xmlns:a="http://schemas.openxmlformats.org/drawingml/2006/main" prst="rect">
            <a:avLst/>
          </a:prstGeom>
          <a:solidFill xmlns:a="http://schemas.openxmlformats.org/drawingml/2006/main">
            <a:srgbClr val="1F2724"/>
          </a:solidFill>
          <a:ln xmlns:a="http://schemas.openxmlformats.org/drawingml/2006/main" w="9525">
            <a:solidFill>
              <a:srgbClr val="F6F0E5"/>
            </a:solidFill>
          </a:ln>
        </p:spPr>
      </p:sp>
      <p:sp>
        <p:nvSpPr>
          <p:cNvPr id="13" name="">
            <a:extLst xmlns:a="http://schemas.openxmlformats.org/drawingml/2006/main">
              <a:ext uri="{FF2B5EF4-FFF2-40B4-BE49-F238E27FC236}">
                <a16:creationId xmlns:a16="http://schemas.microsoft.com/office/drawing/2014/main" id="{0058E3D9-C46B-4CB2-B0EA-F9A2F4BB843A}"/>
              </a:ext>
            </a:extLst>
          </p:cNvPr>
          <p:cNvSpPr>
            <a:spLocks xmlns:a="http://schemas.openxmlformats.org/drawingml/2006/main" noGrp="1"/>
          </p:cNvSpPr>
          <p:nvPr/>
        </p:nvSpPr>
        <p:spPr>
          <a:xfrm xmlns:a="http://schemas.openxmlformats.org/drawingml/2006/main">
            <a:off x="9029700" y="1981200"/>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DECLARED LIMIT</a:t>
            </a:r>
          </a:p>
        </p:txBody>
      </p:sp>
      <p:sp>
        <p:nvSpPr>
          <p:cNvPr id="14" name="">
            <a:extLst xmlns:a="http://schemas.openxmlformats.org/drawingml/2006/main">
              <a:ext uri="{FF2B5EF4-FFF2-40B4-BE49-F238E27FC236}">
                <a16:creationId xmlns:a16="http://schemas.microsoft.com/office/drawing/2014/main" id="{B5396C77-4CA7-4A8D-A63E-521B0D60583F}"/>
              </a:ext>
            </a:extLst>
          </p:cNvPr>
          <p:cNvSpPr>
            <a:spLocks xmlns:a="http://schemas.openxmlformats.org/drawingml/2006/main" noGrp="1"/>
          </p:cNvSpPr>
          <p:nvPr/>
        </p:nvSpPr>
        <p:spPr>
          <a:xfrm xmlns:a="http://schemas.openxmlformats.org/drawingml/2006/main">
            <a:off x="685800" y="2362200"/>
            <a:ext cx="3333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15" name="">
            <a:extLst xmlns:a="http://schemas.openxmlformats.org/drawingml/2006/main">
              <a:ext uri="{FF2B5EF4-FFF2-40B4-BE49-F238E27FC236}">
                <a16:creationId xmlns:a16="http://schemas.microsoft.com/office/drawing/2014/main" id="{C0848FFB-217C-487B-8EA2-7D7024EAEC2A}"/>
              </a:ext>
            </a:extLst>
          </p:cNvPr>
          <p:cNvSpPr>
            <a:spLocks xmlns:a="http://schemas.openxmlformats.org/drawingml/2006/main" noGrp="1"/>
          </p:cNvSpPr>
          <p:nvPr/>
        </p:nvSpPr>
        <p:spPr>
          <a:xfrm xmlns:a="http://schemas.openxmlformats.org/drawingml/2006/main">
            <a:off x="781050" y="24384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Model fingerprint and weight digest</a:t>
            </a:r>
          </a:p>
        </p:txBody>
      </p:sp>
      <p:sp>
        <p:nvSpPr>
          <p:cNvPr id="16" name="">
            <a:extLst xmlns:a="http://schemas.openxmlformats.org/drawingml/2006/main">
              <a:ext uri="{FF2B5EF4-FFF2-40B4-BE49-F238E27FC236}">
                <a16:creationId xmlns:a16="http://schemas.microsoft.com/office/drawing/2014/main" id="{7060D515-CA94-4845-95B2-0B1203BC4393}"/>
              </a:ext>
            </a:extLst>
          </p:cNvPr>
          <p:cNvSpPr>
            <a:spLocks xmlns:a="http://schemas.openxmlformats.org/drawingml/2006/main" noGrp="1"/>
          </p:cNvSpPr>
          <p:nvPr/>
        </p:nvSpPr>
        <p:spPr>
          <a:xfrm xmlns:a="http://schemas.openxmlformats.org/drawingml/2006/main">
            <a:off x="4191000" y="23622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17" name="">
            <a:extLst xmlns:a="http://schemas.openxmlformats.org/drawingml/2006/main">
              <a:ext uri="{FF2B5EF4-FFF2-40B4-BE49-F238E27FC236}">
                <a16:creationId xmlns:a16="http://schemas.microsoft.com/office/drawing/2014/main" id="{C5896A24-3AD5-4F74-86D8-093699736A41}"/>
              </a:ext>
            </a:extLst>
          </p:cNvPr>
          <p:cNvSpPr>
            <a:spLocks xmlns:a="http://schemas.openxmlformats.org/drawingml/2006/main" noGrp="1"/>
          </p:cNvSpPr>
          <p:nvPr/>
        </p:nvSpPr>
        <p:spPr>
          <a:xfrm xmlns:a="http://schemas.openxmlformats.org/drawingml/2006/main">
            <a:off x="4286250" y="24384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18" name="">
            <a:extLst xmlns:a="http://schemas.openxmlformats.org/drawingml/2006/main">
              <a:ext uri="{FF2B5EF4-FFF2-40B4-BE49-F238E27FC236}">
                <a16:creationId xmlns:a16="http://schemas.microsoft.com/office/drawing/2014/main" id="{8D09CB13-82F8-4F3F-8721-62E12842DAAE}"/>
              </a:ext>
            </a:extLst>
          </p:cNvPr>
          <p:cNvSpPr>
            <a:spLocks xmlns:a="http://schemas.openxmlformats.org/drawingml/2006/main" noGrp="1"/>
          </p:cNvSpPr>
          <p:nvPr/>
        </p:nvSpPr>
        <p:spPr>
          <a:xfrm xmlns:a="http://schemas.openxmlformats.org/drawingml/2006/main">
            <a:off x="6572250" y="23622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19" name="">
            <a:extLst xmlns:a="http://schemas.openxmlformats.org/drawingml/2006/main">
              <a:ext uri="{FF2B5EF4-FFF2-40B4-BE49-F238E27FC236}">
                <a16:creationId xmlns:a16="http://schemas.microsoft.com/office/drawing/2014/main" id="{15131E97-4642-4545-82DF-856D291927AA}"/>
              </a:ext>
            </a:extLst>
          </p:cNvPr>
          <p:cNvSpPr>
            <a:spLocks xmlns:a="http://schemas.openxmlformats.org/drawingml/2006/main" noGrp="1"/>
          </p:cNvSpPr>
          <p:nvPr/>
        </p:nvSpPr>
        <p:spPr>
          <a:xfrm xmlns:a="http://schemas.openxmlformats.org/drawingml/2006/main">
            <a:off x="6667500" y="24384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File hash only</a:t>
            </a:r>
          </a:p>
        </p:txBody>
      </p:sp>
      <p:sp>
        <p:nvSpPr>
          <p:cNvPr id="20" name="">
            <a:extLst xmlns:a="http://schemas.openxmlformats.org/drawingml/2006/main">
              <a:ext uri="{FF2B5EF4-FFF2-40B4-BE49-F238E27FC236}">
                <a16:creationId xmlns:a16="http://schemas.microsoft.com/office/drawing/2014/main" id="{63EB0755-EBF6-4EC3-8241-6AF857953F15}"/>
              </a:ext>
            </a:extLst>
          </p:cNvPr>
          <p:cNvSpPr>
            <a:spLocks xmlns:a="http://schemas.openxmlformats.org/drawingml/2006/main" noGrp="1"/>
          </p:cNvSpPr>
          <p:nvPr/>
        </p:nvSpPr>
        <p:spPr>
          <a:xfrm xmlns:a="http://schemas.openxmlformats.org/drawingml/2006/main">
            <a:off x="8953500" y="2362200"/>
            <a:ext cx="255270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21" name="">
            <a:extLst xmlns:a="http://schemas.openxmlformats.org/drawingml/2006/main">
              <a:ext uri="{FF2B5EF4-FFF2-40B4-BE49-F238E27FC236}">
                <a16:creationId xmlns:a16="http://schemas.microsoft.com/office/drawing/2014/main" id="{E770E1F3-15CE-44AD-8C37-E470B5DA65D6}"/>
              </a:ext>
            </a:extLst>
          </p:cNvPr>
          <p:cNvSpPr>
            <a:spLocks xmlns:a="http://schemas.openxmlformats.org/drawingml/2006/main" noGrp="1"/>
          </p:cNvSpPr>
          <p:nvPr/>
        </p:nvSpPr>
        <p:spPr>
          <a:xfrm xmlns:a="http://schemas.openxmlformats.org/drawingml/2006/main">
            <a:off x="9048750" y="24384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Cannot infer behaviour</a:t>
            </a:r>
          </a:p>
        </p:txBody>
      </p:sp>
      <p:sp>
        <p:nvSpPr>
          <p:cNvPr id="22" name="">
            <a:extLst xmlns:a="http://schemas.openxmlformats.org/drawingml/2006/main">
              <a:ext uri="{FF2B5EF4-FFF2-40B4-BE49-F238E27FC236}">
                <a16:creationId xmlns:a16="http://schemas.microsoft.com/office/drawing/2014/main" id="{FFAFC373-080D-43AB-BD65-49AC0E55F40A}"/>
              </a:ext>
            </a:extLst>
          </p:cNvPr>
          <p:cNvSpPr>
            <a:spLocks xmlns:a="http://schemas.openxmlformats.org/drawingml/2006/main" noGrp="1"/>
          </p:cNvSpPr>
          <p:nvPr/>
        </p:nvSpPr>
        <p:spPr>
          <a:xfrm xmlns:a="http://schemas.openxmlformats.org/drawingml/2006/main">
            <a:off x="685800" y="3028950"/>
            <a:ext cx="3333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23" name="">
            <a:extLst xmlns:a="http://schemas.openxmlformats.org/drawingml/2006/main">
              <a:ext uri="{FF2B5EF4-FFF2-40B4-BE49-F238E27FC236}">
                <a16:creationId xmlns:a16="http://schemas.microsoft.com/office/drawing/2014/main" id="{B203318B-3BEA-48D6-B4FD-E5095A083804}"/>
              </a:ext>
            </a:extLst>
          </p:cNvPr>
          <p:cNvSpPr>
            <a:spLocks xmlns:a="http://schemas.openxmlformats.org/drawingml/2006/main" noGrp="1"/>
          </p:cNvSpPr>
          <p:nvPr/>
        </p:nvSpPr>
        <p:spPr>
          <a:xfrm xmlns:a="http://schemas.openxmlformats.org/drawingml/2006/main">
            <a:off x="781050" y="31051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Activation / parameter statistics</a:t>
            </a:r>
          </a:p>
        </p:txBody>
      </p:sp>
      <p:sp>
        <p:nvSpPr>
          <p:cNvPr id="24" name="">
            <a:extLst xmlns:a="http://schemas.openxmlformats.org/drawingml/2006/main">
              <a:ext uri="{FF2B5EF4-FFF2-40B4-BE49-F238E27FC236}">
                <a16:creationId xmlns:a16="http://schemas.microsoft.com/office/drawing/2014/main" id="{0096C420-69B6-439E-B69C-7DC7942B1095}"/>
              </a:ext>
            </a:extLst>
          </p:cNvPr>
          <p:cNvSpPr>
            <a:spLocks xmlns:a="http://schemas.openxmlformats.org/drawingml/2006/main" noGrp="1"/>
          </p:cNvSpPr>
          <p:nvPr/>
        </p:nvSpPr>
        <p:spPr>
          <a:xfrm xmlns:a="http://schemas.openxmlformats.org/drawingml/2006/main">
            <a:off x="4191000" y="3028950"/>
            <a:ext cx="2190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25" name="">
            <a:extLst xmlns:a="http://schemas.openxmlformats.org/drawingml/2006/main">
              <a:ext uri="{FF2B5EF4-FFF2-40B4-BE49-F238E27FC236}">
                <a16:creationId xmlns:a16="http://schemas.microsoft.com/office/drawing/2014/main" id="{DEC49457-0236-4F70-A5D4-8C876F66B9C2}"/>
              </a:ext>
            </a:extLst>
          </p:cNvPr>
          <p:cNvSpPr>
            <a:spLocks xmlns:a="http://schemas.openxmlformats.org/drawingml/2006/main" noGrp="1"/>
          </p:cNvSpPr>
          <p:nvPr/>
        </p:nvSpPr>
        <p:spPr>
          <a:xfrm xmlns:a="http://schemas.openxmlformats.org/drawingml/2006/main">
            <a:off x="4286250" y="310515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26" name="">
            <a:extLst xmlns:a="http://schemas.openxmlformats.org/drawingml/2006/main">
              <a:ext uri="{FF2B5EF4-FFF2-40B4-BE49-F238E27FC236}">
                <a16:creationId xmlns:a16="http://schemas.microsoft.com/office/drawing/2014/main" id="{A87087F6-B0B8-4C39-8A2B-C371E48F8F82}"/>
              </a:ext>
            </a:extLst>
          </p:cNvPr>
          <p:cNvSpPr>
            <a:spLocks xmlns:a="http://schemas.openxmlformats.org/drawingml/2006/main" noGrp="1"/>
          </p:cNvSpPr>
          <p:nvPr/>
        </p:nvSpPr>
        <p:spPr>
          <a:xfrm xmlns:a="http://schemas.openxmlformats.org/drawingml/2006/main">
            <a:off x="6572250" y="3028950"/>
            <a:ext cx="2190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27" name="">
            <a:extLst xmlns:a="http://schemas.openxmlformats.org/drawingml/2006/main">
              <a:ext uri="{FF2B5EF4-FFF2-40B4-BE49-F238E27FC236}">
                <a16:creationId xmlns:a16="http://schemas.microsoft.com/office/drawing/2014/main" id="{F8C85B5A-7EA6-4A38-B2C1-567DFA4608AA}"/>
              </a:ext>
            </a:extLst>
          </p:cNvPr>
          <p:cNvSpPr>
            <a:spLocks xmlns:a="http://schemas.openxmlformats.org/drawingml/2006/main" noGrp="1"/>
          </p:cNvSpPr>
          <p:nvPr/>
        </p:nvSpPr>
        <p:spPr>
          <a:xfrm xmlns:a="http://schemas.openxmlformats.org/drawingml/2006/main">
            <a:off x="6667500" y="310515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Unavailable</a:t>
            </a:r>
          </a:p>
        </p:txBody>
      </p:sp>
      <p:sp>
        <p:nvSpPr>
          <p:cNvPr id="28" name="">
            <a:extLst xmlns:a="http://schemas.openxmlformats.org/drawingml/2006/main">
              <a:ext uri="{FF2B5EF4-FFF2-40B4-BE49-F238E27FC236}">
                <a16:creationId xmlns:a16="http://schemas.microsoft.com/office/drawing/2014/main" id="{547DCD93-ED86-4C90-88D9-2E37E3293800}"/>
              </a:ext>
            </a:extLst>
          </p:cNvPr>
          <p:cNvSpPr>
            <a:spLocks xmlns:a="http://schemas.openxmlformats.org/drawingml/2006/main" noGrp="1"/>
          </p:cNvSpPr>
          <p:nvPr/>
        </p:nvSpPr>
        <p:spPr>
          <a:xfrm xmlns:a="http://schemas.openxmlformats.org/drawingml/2006/main">
            <a:off x="8953500" y="3028950"/>
            <a:ext cx="255270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29" name="">
            <a:extLst xmlns:a="http://schemas.openxmlformats.org/drawingml/2006/main">
              <a:ext uri="{FF2B5EF4-FFF2-40B4-BE49-F238E27FC236}">
                <a16:creationId xmlns:a16="http://schemas.microsoft.com/office/drawing/2014/main" id="{57AA14C3-0FC3-4AF7-8DAA-C4C3B11F416C}"/>
              </a:ext>
            </a:extLst>
          </p:cNvPr>
          <p:cNvSpPr>
            <a:spLocks xmlns:a="http://schemas.openxmlformats.org/drawingml/2006/main" noGrp="1"/>
          </p:cNvSpPr>
          <p:nvPr/>
        </p:nvSpPr>
        <p:spPr>
          <a:xfrm xmlns:a="http://schemas.openxmlformats.org/drawingml/2006/main">
            <a:off x="9048750" y="310515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Report unavailable</a:t>
            </a:r>
          </a:p>
        </p:txBody>
      </p:sp>
      <p:sp>
        <p:nvSpPr>
          <p:cNvPr id="30" name="">
            <a:extLst xmlns:a="http://schemas.openxmlformats.org/drawingml/2006/main">
              <a:ext uri="{FF2B5EF4-FFF2-40B4-BE49-F238E27FC236}">
                <a16:creationId xmlns:a16="http://schemas.microsoft.com/office/drawing/2014/main" id="{9FFFC1FD-1CB0-430D-BC4C-EE5C40382CEA}"/>
              </a:ext>
            </a:extLst>
          </p:cNvPr>
          <p:cNvSpPr>
            <a:spLocks xmlns:a="http://schemas.openxmlformats.org/drawingml/2006/main" noGrp="1"/>
          </p:cNvSpPr>
          <p:nvPr/>
        </p:nvSpPr>
        <p:spPr>
          <a:xfrm xmlns:a="http://schemas.openxmlformats.org/drawingml/2006/main">
            <a:off x="685800" y="3695700"/>
            <a:ext cx="3333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31" name="">
            <a:extLst xmlns:a="http://schemas.openxmlformats.org/drawingml/2006/main">
              <a:ext uri="{FF2B5EF4-FFF2-40B4-BE49-F238E27FC236}">
                <a16:creationId xmlns:a16="http://schemas.microsoft.com/office/drawing/2014/main" id="{680CDD4C-F3E7-444B-A601-39B1CF0299E0}"/>
              </a:ext>
            </a:extLst>
          </p:cNvPr>
          <p:cNvSpPr>
            <a:spLocks xmlns:a="http://schemas.openxmlformats.org/drawingml/2006/main" noGrp="1"/>
          </p:cNvSpPr>
          <p:nvPr/>
        </p:nvSpPr>
        <p:spPr>
          <a:xfrm xmlns:a="http://schemas.openxmlformats.org/drawingml/2006/main">
            <a:off x="781050" y="37719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Behavioural reference battery</a:t>
            </a:r>
          </a:p>
        </p:txBody>
      </p:sp>
      <p:sp>
        <p:nvSpPr>
          <p:cNvPr id="32" name="">
            <a:extLst xmlns:a="http://schemas.openxmlformats.org/drawingml/2006/main">
              <a:ext uri="{FF2B5EF4-FFF2-40B4-BE49-F238E27FC236}">
                <a16:creationId xmlns:a16="http://schemas.microsoft.com/office/drawing/2014/main" id="{B2080CFB-EFB4-435A-B66D-903504447B85}"/>
              </a:ext>
            </a:extLst>
          </p:cNvPr>
          <p:cNvSpPr>
            <a:spLocks xmlns:a="http://schemas.openxmlformats.org/drawingml/2006/main" noGrp="1"/>
          </p:cNvSpPr>
          <p:nvPr/>
        </p:nvSpPr>
        <p:spPr>
          <a:xfrm xmlns:a="http://schemas.openxmlformats.org/drawingml/2006/main">
            <a:off x="4191000" y="36957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33" name="">
            <a:extLst xmlns:a="http://schemas.openxmlformats.org/drawingml/2006/main">
              <a:ext uri="{FF2B5EF4-FFF2-40B4-BE49-F238E27FC236}">
                <a16:creationId xmlns:a16="http://schemas.microsoft.com/office/drawing/2014/main" id="{95F3FF89-8427-408E-A2BC-FE633D3F4A64}"/>
              </a:ext>
            </a:extLst>
          </p:cNvPr>
          <p:cNvSpPr>
            <a:spLocks xmlns:a="http://schemas.openxmlformats.org/drawingml/2006/main" noGrp="1"/>
          </p:cNvSpPr>
          <p:nvPr/>
        </p:nvSpPr>
        <p:spPr>
          <a:xfrm xmlns:a="http://schemas.openxmlformats.org/drawingml/2006/main">
            <a:off x="4286250" y="37719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34" name="">
            <a:extLst xmlns:a="http://schemas.openxmlformats.org/drawingml/2006/main">
              <a:ext uri="{FF2B5EF4-FFF2-40B4-BE49-F238E27FC236}">
                <a16:creationId xmlns:a16="http://schemas.microsoft.com/office/drawing/2014/main" id="{87C800D3-BBAA-4FB8-B286-F0F21811EA38}"/>
              </a:ext>
            </a:extLst>
          </p:cNvPr>
          <p:cNvSpPr>
            <a:spLocks xmlns:a="http://schemas.openxmlformats.org/drawingml/2006/main" noGrp="1"/>
          </p:cNvSpPr>
          <p:nvPr/>
        </p:nvSpPr>
        <p:spPr>
          <a:xfrm xmlns:a="http://schemas.openxmlformats.org/drawingml/2006/main">
            <a:off x="6572250" y="36957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35" name="">
            <a:extLst xmlns:a="http://schemas.openxmlformats.org/drawingml/2006/main">
              <a:ext uri="{FF2B5EF4-FFF2-40B4-BE49-F238E27FC236}">
                <a16:creationId xmlns:a16="http://schemas.microsoft.com/office/drawing/2014/main" id="{3428BC24-4D25-468D-8E96-4AFA2D4773D4}"/>
              </a:ext>
            </a:extLst>
          </p:cNvPr>
          <p:cNvSpPr>
            <a:spLocks xmlns:a="http://schemas.openxmlformats.org/drawingml/2006/main" noGrp="1"/>
          </p:cNvSpPr>
          <p:nvPr/>
        </p:nvSpPr>
        <p:spPr>
          <a:xfrm xmlns:a="http://schemas.openxmlformats.org/drawingml/2006/main">
            <a:off x="6667500" y="37719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36" name="">
            <a:extLst xmlns:a="http://schemas.openxmlformats.org/drawingml/2006/main">
              <a:ext uri="{FF2B5EF4-FFF2-40B4-BE49-F238E27FC236}">
                <a16:creationId xmlns:a16="http://schemas.microsoft.com/office/drawing/2014/main" id="{9B389F99-D99C-452D-859C-9C9DBBB62CFE}"/>
              </a:ext>
            </a:extLst>
          </p:cNvPr>
          <p:cNvSpPr>
            <a:spLocks xmlns:a="http://schemas.openxmlformats.org/drawingml/2006/main" noGrp="1"/>
          </p:cNvSpPr>
          <p:nvPr/>
        </p:nvSpPr>
        <p:spPr>
          <a:xfrm xmlns:a="http://schemas.openxmlformats.org/drawingml/2006/main">
            <a:off x="8953500" y="3695700"/>
            <a:ext cx="255270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37" name="">
            <a:extLst xmlns:a="http://schemas.openxmlformats.org/drawingml/2006/main">
              <a:ext uri="{FF2B5EF4-FFF2-40B4-BE49-F238E27FC236}">
                <a16:creationId xmlns:a16="http://schemas.microsoft.com/office/drawing/2014/main" id="{E809F033-6AB5-434A-B52E-4D246D221B2C}"/>
              </a:ext>
            </a:extLst>
          </p:cNvPr>
          <p:cNvSpPr>
            <a:spLocks xmlns:a="http://schemas.openxmlformats.org/drawingml/2006/main" noGrp="1"/>
          </p:cNvSpPr>
          <p:nvPr/>
        </p:nvSpPr>
        <p:spPr>
          <a:xfrm xmlns:a="http://schemas.openxmlformats.org/drawingml/2006/main">
            <a:off x="9048750" y="37719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Coverage depends on queries</a:t>
            </a:r>
          </a:p>
        </p:txBody>
      </p:sp>
      <p:sp>
        <p:nvSpPr>
          <p:cNvPr id="38" name="">
            <a:extLst xmlns:a="http://schemas.openxmlformats.org/drawingml/2006/main">
              <a:ext uri="{FF2B5EF4-FFF2-40B4-BE49-F238E27FC236}">
                <a16:creationId xmlns:a16="http://schemas.microsoft.com/office/drawing/2014/main" id="{EC8A67A5-2D75-4E8C-A0F9-D01F92FFF50C}"/>
              </a:ext>
            </a:extLst>
          </p:cNvPr>
          <p:cNvSpPr>
            <a:spLocks xmlns:a="http://schemas.openxmlformats.org/drawingml/2006/main" noGrp="1"/>
          </p:cNvSpPr>
          <p:nvPr/>
        </p:nvSpPr>
        <p:spPr>
          <a:xfrm xmlns:a="http://schemas.openxmlformats.org/drawingml/2006/main">
            <a:off x="685800" y="4362450"/>
            <a:ext cx="3333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39" name="">
            <a:extLst xmlns:a="http://schemas.openxmlformats.org/drawingml/2006/main">
              <a:ext uri="{FF2B5EF4-FFF2-40B4-BE49-F238E27FC236}">
                <a16:creationId xmlns:a16="http://schemas.microsoft.com/office/drawing/2014/main" id="{91EBC33E-77EE-4904-8F2C-CD495DE68117}"/>
              </a:ext>
            </a:extLst>
          </p:cNvPr>
          <p:cNvSpPr>
            <a:spLocks xmlns:a="http://schemas.openxmlformats.org/drawingml/2006/main" noGrp="1"/>
          </p:cNvSpPr>
          <p:nvPr/>
        </p:nvSpPr>
        <p:spPr>
          <a:xfrm xmlns:a="http://schemas.openxmlformats.org/drawingml/2006/main">
            <a:off x="781050" y="44386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Trigger reconstruction</a:t>
            </a:r>
          </a:p>
        </p:txBody>
      </p:sp>
      <p:sp>
        <p:nvSpPr>
          <p:cNvPr id="40" name="">
            <a:extLst xmlns:a="http://schemas.openxmlformats.org/drawingml/2006/main">
              <a:ext uri="{FF2B5EF4-FFF2-40B4-BE49-F238E27FC236}">
                <a16:creationId xmlns:a16="http://schemas.microsoft.com/office/drawing/2014/main" id="{396CB902-79E7-49D6-A4AA-E1695C16289A}"/>
              </a:ext>
            </a:extLst>
          </p:cNvPr>
          <p:cNvSpPr>
            <a:spLocks xmlns:a="http://schemas.openxmlformats.org/drawingml/2006/main" noGrp="1"/>
          </p:cNvSpPr>
          <p:nvPr/>
        </p:nvSpPr>
        <p:spPr>
          <a:xfrm xmlns:a="http://schemas.openxmlformats.org/drawingml/2006/main">
            <a:off x="4191000" y="4362450"/>
            <a:ext cx="2190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41" name="">
            <a:extLst xmlns:a="http://schemas.openxmlformats.org/drawingml/2006/main">
              <a:ext uri="{FF2B5EF4-FFF2-40B4-BE49-F238E27FC236}">
                <a16:creationId xmlns:a16="http://schemas.microsoft.com/office/drawing/2014/main" id="{6A2C33A6-101D-49DA-87A1-FF210698A9DC}"/>
              </a:ext>
            </a:extLst>
          </p:cNvPr>
          <p:cNvSpPr>
            <a:spLocks xmlns:a="http://schemas.openxmlformats.org/drawingml/2006/main" noGrp="1"/>
          </p:cNvSpPr>
          <p:nvPr/>
        </p:nvSpPr>
        <p:spPr>
          <a:xfrm xmlns:a="http://schemas.openxmlformats.org/drawingml/2006/main">
            <a:off x="4286250" y="443865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Conditional</a:t>
            </a:r>
          </a:p>
        </p:txBody>
      </p:sp>
      <p:sp>
        <p:nvSpPr>
          <p:cNvPr id="42" name="">
            <a:extLst xmlns:a="http://schemas.openxmlformats.org/drawingml/2006/main">
              <a:ext uri="{FF2B5EF4-FFF2-40B4-BE49-F238E27FC236}">
                <a16:creationId xmlns:a16="http://schemas.microsoft.com/office/drawing/2014/main" id="{AE69D0C0-5771-47AF-9DD0-FD9DDF28FE97}"/>
              </a:ext>
            </a:extLst>
          </p:cNvPr>
          <p:cNvSpPr>
            <a:spLocks xmlns:a="http://schemas.openxmlformats.org/drawingml/2006/main" noGrp="1"/>
          </p:cNvSpPr>
          <p:nvPr/>
        </p:nvSpPr>
        <p:spPr>
          <a:xfrm xmlns:a="http://schemas.openxmlformats.org/drawingml/2006/main">
            <a:off x="6572250" y="4362450"/>
            <a:ext cx="219075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43" name="">
            <a:extLst xmlns:a="http://schemas.openxmlformats.org/drawingml/2006/main">
              <a:ext uri="{FF2B5EF4-FFF2-40B4-BE49-F238E27FC236}">
                <a16:creationId xmlns:a16="http://schemas.microsoft.com/office/drawing/2014/main" id="{710064B9-AB49-468A-B9AF-31B11B05EB5F}"/>
              </a:ext>
            </a:extLst>
          </p:cNvPr>
          <p:cNvSpPr>
            <a:spLocks xmlns:a="http://schemas.openxmlformats.org/drawingml/2006/main" noGrp="1"/>
          </p:cNvSpPr>
          <p:nvPr/>
        </p:nvSpPr>
        <p:spPr>
          <a:xfrm xmlns:a="http://schemas.openxmlformats.org/drawingml/2006/main">
            <a:off x="6667500" y="443865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Limited search</a:t>
            </a:r>
          </a:p>
        </p:txBody>
      </p:sp>
      <p:sp>
        <p:nvSpPr>
          <p:cNvPr id="44" name="">
            <a:extLst xmlns:a="http://schemas.openxmlformats.org/drawingml/2006/main">
              <a:ext uri="{FF2B5EF4-FFF2-40B4-BE49-F238E27FC236}">
                <a16:creationId xmlns:a16="http://schemas.microsoft.com/office/drawing/2014/main" id="{B07ECF21-78C2-4A8B-B493-EF3416C41A2D}"/>
              </a:ext>
            </a:extLst>
          </p:cNvPr>
          <p:cNvSpPr>
            <a:spLocks xmlns:a="http://schemas.openxmlformats.org/drawingml/2006/main" noGrp="1"/>
          </p:cNvSpPr>
          <p:nvPr/>
        </p:nvSpPr>
        <p:spPr>
          <a:xfrm xmlns:a="http://schemas.openxmlformats.org/drawingml/2006/main">
            <a:off x="8953500" y="4362450"/>
            <a:ext cx="2552700" cy="666750"/>
          </a:xfrm>
          <a:prstGeom xmlns:a="http://schemas.openxmlformats.org/drawingml/2006/main" prst="rect">
            <a:avLst/>
          </a:prstGeom>
          <a:solidFill xmlns:a="http://schemas.openxmlformats.org/drawingml/2006/main">
            <a:srgbClr val="FFFCF6"/>
          </a:solidFill>
          <a:ln xmlns:a="http://schemas.openxmlformats.org/drawingml/2006/main" w="9525">
            <a:solidFill>
              <a:srgbClr val="DED0BC"/>
            </a:solidFill>
          </a:ln>
        </p:spPr>
      </p:sp>
      <p:sp>
        <p:nvSpPr>
          <p:cNvPr id="45" name="">
            <a:extLst xmlns:a="http://schemas.openxmlformats.org/drawingml/2006/main">
              <a:ext uri="{FF2B5EF4-FFF2-40B4-BE49-F238E27FC236}">
                <a16:creationId xmlns:a16="http://schemas.microsoft.com/office/drawing/2014/main" id="{454762AD-7543-4179-91B0-3A31B1CC3FC9}"/>
              </a:ext>
            </a:extLst>
          </p:cNvPr>
          <p:cNvSpPr>
            <a:spLocks xmlns:a="http://schemas.openxmlformats.org/drawingml/2006/main" noGrp="1"/>
          </p:cNvSpPr>
          <p:nvPr/>
        </p:nvSpPr>
        <p:spPr>
          <a:xfrm xmlns:a="http://schemas.openxmlformats.org/drawingml/2006/main">
            <a:off x="9048750" y="443865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No universal guarantee</a:t>
            </a:r>
          </a:p>
        </p:txBody>
      </p:sp>
      <p:sp>
        <p:nvSpPr>
          <p:cNvPr id="46" name="">
            <a:extLst xmlns:a="http://schemas.openxmlformats.org/drawingml/2006/main">
              <a:ext uri="{FF2B5EF4-FFF2-40B4-BE49-F238E27FC236}">
                <a16:creationId xmlns:a16="http://schemas.microsoft.com/office/drawing/2014/main" id="{2A2C5BBE-0D80-41F9-BAE1-9EFECD32606F}"/>
              </a:ext>
            </a:extLst>
          </p:cNvPr>
          <p:cNvSpPr>
            <a:spLocks xmlns:a="http://schemas.openxmlformats.org/drawingml/2006/main" noGrp="1"/>
          </p:cNvSpPr>
          <p:nvPr/>
        </p:nvSpPr>
        <p:spPr>
          <a:xfrm xmlns:a="http://schemas.openxmlformats.org/drawingml/2006/main">
            <a:off x="685800" y="5029200"/>
            <a:ext cx="3333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7" name="">
            <a:extLst xmlns:a="http://schemas.openxmlformats.org/drawingml/2006/main">
              <a:ext uri="{FF2B5EF4-FFF2-40B4-BE49-F238E27FC236}">
                <a16:creationId xmlns:a16="http://schemas.microsoft.com/office/drawing/2014/main" id="{F871F9A2-255F-44C7-A3D7-960AC0AC078C}"/>
              </a:ext>
            </a:extLst>
          </p:cNvPr>
          <p:cNvSpPr>
            <a:spLocks xmlns:a="http://schemas.openxmlformats.org/drawingml/2006/main" noGrp="1"/>
          </p:cNvSpPr>
          <p:nvPr/>
        </p:nvSpPr>
        <p:spPr>
          <a:xfrm xmlns:a="http://schemas.openxmlformats.org/drawingml/2006/main">
            <a:off x="781050" y="51054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92A26"/>
                </a:solidFill>
                <a:latin typeface="Helvetica Neue"/>
                <a:ea typeface="Helvetica Neue"/>
                <a:cs typeface="Helvetica Neue"/>
              </a:defRPr>
            </a:pPr>
            <a:r>
              <a:rPr sz="1125" b="1">
                <a:solidFill>
                  <a:srgbClr val="292A26"/>
                </a:solidFill>
                <a:latin typeface="Helvetica Neue"/>
                <a:ea typeface="Helvetica Neue"/>
                <a:cs typeface="Helvetica Neue"/>
              </a:rPr>
              <a:t>Inference receipt verification</a:t>
            </a:r>
          </a:p>
        </p:txBody>
      </p:sp>
      <p:sp>
        <p:nvSpPr>
          <p:cNvPr id="48" name="">
            <a:extLst xmlns:a="http://schemas.openxmlformats.org/drawingml/2006/main">
              <a:ext uri="{FF2B5EF4-FFF2-40B4-BE49-F238E27FC236}">
                <a16:creationId xmlns:a16="http://schemas.microsoft.com/office/drawing/2014/main" id="{EEF5BEEA-D1CD-43E3-A73F-DC743DE60CDD}"/>
              </a:ext>
            </a:extLst>
          </p:cNvPr>
          <p:cNvSpPr>
            <a:spLocks xmlns:a="http://schemas.openxmlformats.org/drawingml/2006/main" noGrp="1"/>
          </p:cNvSpPr>
          <p:nvPr/>
        </p:nvSpPr>
        <p:spPr>
          <a:xfrm xmlns:a="http://schemas.openxmlformats.org/drawingml/2006/main">
            <a:off x="4191000" y="50292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49" name="">
            <a:extLst xmlns:a="http://schemas.openxmlformats.org/drawingml/2006/main">
              <a:ext uri="{FF2B5EF4-FFF2-40B4-BE49-F238E27FC236}">
                <a16:creationId xmlns:a16="http://schemas.microsoft.com/office/drawing/2014/main" id="{245CB4C4-47B3-4B82-A867-E50B890B6B6C}"/>
              </a:ext>
            </a:extLst>
          </p:cNvPr>
          <p:cNvSpPr>
            <a:spLocks xmlns:a="http://schemas.openxmlformats.org/drawingml/2006/main" noGrp="1"/>
          </p:cNvSpPr>
          <p:nvPr/>
        </p:nvSpPr>
        <p:spPr>
          <a:xfrm xmlns:a="http://schemas.openxmlformats.org/drawingml/2006/main">
            <a:off x="4286250" y="51054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50" name="">
            <a:extLst xmlns:a="http://schemas.openxmlformats.org/drawingml/2006/main">
              <a:ext uri="{FF2B5EF4-FFF2-40B4-BE49-F238E27FC236}">
                <a16:creationId xmlns:a16="http://schemas.microsoft.com/office/drawing/2014/main" id="{DF5880DF-F401-492A-B669-B0D7BF647744}"/>
              </a:ext>
            </a:extLst>
          </p:cNvPr>
          <p:cNvSpPr>
            <a:spLocks xmlns:a="http://schemas.openxmlformats.org/drawingml/2006/main" noGrp="1"/>
          </p:cNvSpPr>
          <p:nvPr/>
        </p:nvSpPr>
        <p:spPr>
          <a:xfrm xmlns:a="http://schemas.openxmlformats.org/drawingml/2006/main">
            <a:off x="6572250" y="5029200"/>
            <a:ext cx="219075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51" name="">
            <a:extLst xmlns:a="http://schemas.openxmlformats.org/drawingml/2006/main">
              <a:ext uri="{FF2B5EF4-FFF2-40B4-BE49-F238E27FC236}">
                <a16:creationId xmlns:a16="http://schemas.microsoft.com/office/drawing/2014/main" id="{3DF399C3-C572-4695-8B5D-521769C05862}"/>
              </a:ext>
            </a:extLst>
          </p:cNvPr>
          <p:cNvSpPr>
            <a:spLocks xmlns:a="http://schemas.openxmlformats.org/drawingml/2006/main" noGrp="1"/>
          </p:cNvSpPr>
          <p:nvPr/>
        </p:nvSpPr>
        <p:spPr>
          <a:xfrm xmlns:a="http://schemas.openxmlformats.org/drawingml/2006/main">
            <a:off x="6667500" y="51054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Yes</a:t>
            </a:r>
          </a:p>
        </p:txBody>
      </p:sp>
      <p:sp>
        <p:nvSpPr>
          <p:cNvPr id="52" name="">
            <a:extLst xmlns:a="http://schemas.openxmlformats.org/drawingml/2006/main">
              <a:ext uri="{FF2B5EF4-FFF2-40B4-BE49-F238E27FC236}">
                <a16:creationId xmlns:a16="http://schemas.microsoft.com/office/drawing/2014/main" id="{2CC5C761-DD50-4B9F-B6E1-5857799DBE3A}"/>
              </a:ext>
            </a:extLst>
          </p:cNvPr>
          <p:cNvSpPr>
            <a:spLocks xmlns:a="http://schemas.openxmlformats.org/drawingml/2006/main" noGrp="1"/>
          </p:cNvSpPr>
          <p:nvPr/>
        </p:nvSpPr>
        <p:spPr>
          <a:xfrm xmlns:a="http://schemas.openxmlformats.org/drawingml/2006/main">
            <a:off x="8953500" y="5029200"/>
            <a:ext cx="2552700" cy="666750"/>
          </a:xfrm>
          <a:prstGeom xmlns:a="http://schemas.openxmlformats.org/drawingml/2006/main" prst="rect">
            <a:avLst/>
          </a:prstGeom>
          <a:solidFill xmlns:a="http://schemas.openxmlformats.org/drawingml/2006/main">
            <a:srgbClr val="EAE0D1"/>
          </a:solidFill>
          <a:ln xmlns:a="http://schemas.openxmlformats.org/drawingml/2006/main" w="9525">
            <a:solidFill>
              <a:srgbClr val="DED0BC"/>
            </a:solidFill>
          </a:ln>
        </p:spPr>
      </p:sp>
      <p:sp>
        <p:nvSpPr>
          <p:cNvPr id="53" name="">
            <a:extLst xmlns:a="http://schemas.openxmlformats.org/drawingml/2006/main">
              <a:ext uri="{FF2B5EF4-FFF2-40B4-BE49-F238E27FC236}">
                <a16:creationId xmlns:a16="http://schemas.microsoft.com/office/drawing/2014/main" id="{EA40858E-7249-4485-B76A-6AB9942C5F22}"/>
              </a:ext>
            </a:extLst>
          </p:cNvPr>
          <p:cNvSpPr>
            <a:spLocks xmlns:a="http://schemas.openxmlformats.org/drawingml/2006/main" noGrp="1"/>
          </p:cNvSpPr>
          <p:nvPr/>
        </p:nvSpPr>
        <p:spPr>
          <a:xfrm xmlns:a="http://schemas.openxmlformats.org/drawingml/2006/main">
            <a:off x="9048750" y="51054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92A26"/>
                </a:solidFill>
                <a:latin typeface="Helvetica Neue"/>
                <a:ea typeface="Helvetica Neue"/>
                <a:cs typeface="Helvetica Neue"/>
              </a:defRPr>
            </a:pPr>
            <a:r>
              <a:rPr sz="1050" b="0">
                <a:solidFill>
                  <a:srgbClr val="292A26"/>
                </a:solidFill>
                <a:latin typeface="Helvetica Neue"/>
                <a:ea typeface="Helvetica Neue"/>
                <a:cs typeface="Helvetica Neue"/>
              </a:rPr>
              <a:t>Depends on key trust</a:t>
            </a:r>
          </a:p>
        </p:txBody>
      </p:sp>
      <p:sp>
        <p:nvSpPr>
          <p:cNvPr id="54" name="">
            <a:extLst xmlns:a="http://schemas.openxmlformats.org/drawingml/2006/main">
              <a:ext uri="{FF2B5EF4-FFF2-40B4-BE49-F238E27FC236}">
                <a16:creationId xmlns:a16="http://schemas.microsoft.com/office/drawing/2014/main" id="{62EAB6F4-0F95-44F6-A731-BC577E285377}"/>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669159795"/>
      </p:ext>
    </p:extLst>
  </p:cSld>
</p:sld>
</file>

<file path=ppt/slides/slide1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3FEFF90-6853-4D9F-B21C-62EA9100086E}"/>
              </a:ext>
            </a:extLst>
          </p:cNvPr>
          <p:cNvSpPr>
            <a:spLocks xmlns:a="http://schemas.openxmlformats.org/drawingml/2006/main" noGrp="1"/>
          </p:cNvSpPr>
          <p:nvPr/>
        </p:nvSpPr>
        <p:spPr>
          <a:xfrm xmlns:a="http://schemas.openxmlformats.org/drawingml/2006/main">
            <a:off x="685800" y="2667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66045"/>
                </a:solidFill>
                <a:latin typeface="Helvetica Neue"/>
                <a:ea typeface="Helvetica Neue"/>
                <a:cs typeface="Helvetica Neue"/>
              </a:defRPr>
            </a:pPr>
            <a:r>
              <a:rPr sz="975" b="1">
                <a:solidFill>
                  <a:srgbClr val="B66045"/>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854EF765-060D-43B1-B5BF-AC7404B5E37B}"/>
              </a:ext>
            </a:extLst>
          </p:cNvPr>
          <p:cNvSpPr>
            <a:spLocks xmlns:a="http://schemas.openxmlformats.org/drawingml/2006/main" noGrp="1"/>
          </p:cNvSpPr>
          <p:nvPr/>
        </p:nvSpPr>
        <p:spPr>
          <a:xfrm xmlns:a="http://schemas.openxmlformats.org/drawingml/2006/main">
            <a:off x="685800" y="552450"/>
            <a:ext cx="10820400" cy="0"/>
          </a:xfrm>
          <a:prstGeom xmlns:a="http://schemas.openxmlformats.org/drawingml/2006/main" prst="line">
            <a:avLst/>
          </a:prstGeom>
          <a:noFill xmlns:a="http://schemas.openxmlformats.org/drawingml/2006/main"/>
          <a:ln xmlns:a="http://schemas.openxmlformats.org/drawingml/2006/main" w="9525">
            <a:solidFill>
              <a:srgbClr val="DED0BC"/>
            </a:solidFill>
            <a:prstDash val="solid"/>
          </a:ln>
        </p:spPr>
      </p:sp>
      <p:sp>
        <p:nvSpPr>
          <p:cNvPr id="3" name="">
            <a:extLst xmlns:a="http://schemas.openxmlformats.org/drawingml/2006/main">
              <a:ext uri="{FF2B5EF4-FFF2-40B4-BE49-F238E27FC236}">
                <a16:creationId xmlns:a16="http://schemas.microsoft.com/office/drawing/2014/main" id="{DD26E36D-8337-4504-B9BD-907A5091DBDB}"/>
              </a:ext>
            </a:extLst>
          </p:cNvPr>
          <p:cNvSpPr>
            <a:spLocks xmlns:a="http://schemas.openxmlformats.org/drawingml/2006/main" noGrp="1"/>
          </p:cNvSpPr>
          <p:nvPr/>
        </p:nvSpPr>
        <p:spPr>
          <a:xfrm xmlns:a="http://schemas.openxmlformats.org/drawingml/2006/main">
            <a:off x="11125200" y="2857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696B62"/>
                </a:solidFill>
                <a:latin typeface="Helvetica Neue"/>
                <a:ea typeface="Helvetica Neue"/>
                <a:cs typeface="Helvetica Neue"/>
              </a:defRPr>
            </a:pPr>
            <a:r>
              <a:rPr sz="900" b="1">
                <a:solidFill>
                  <a:srgbClr val="696B62"/>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5C7F0C51-F72E-4AE9-8321-BB46BE39DF30}"/>
              </a:ext>
            </a:extLst>
          </p:cNvPr>
          <p:cNvSpPr>
            <a:spLocks xmlns:a="http://schemas.openxmlformats.org/drawingml/2006/main" noGrp="1"/>
          </p:cNvSpPr>
          <p:nvPr/>
        </p:nvSpPr>
        <p:spPr>
          <a:xfrm xmlns:a="http://schemas.openxmlformats.org/drawingml/2006/main">
            <a:off x="685800" y="7239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92A26"/>
                </a:solidFill>
                <a:latin typeface="Helvetica Neue"/>
                <a:ea typeface="Helvetica Neue"/>
                <a:cs typeface="Helvetica Neue"/>
              </a:defRPr>
            </a:pPr>
            <a:r>
              <a:rPr sz="2700" b="1">
                <a:solidFill>
                  <a:srgbClr val="292A26"/>
                </a:solidFill>
                <a:latin typeface="Helvetica Neue"/>
                <a:ea typeface="Helvetica Neue"/>
                <a:cs typeface="Helvetica Neue"/>
              </a:rPr>
              <a:t>Metrics prevent a persuasive demo from becoming a false claim</a:t>
            </a:r>
          </a:p>
        </p:txBody>
      </p:sp>
      <p:sp>
        <p:nvSpPr>
          <p:cNvPr id="5" name="">
            <a:extLst xmlns:a="http://schemas.openxmlformats.org/drawingml/2006/main">
              <a:ext uri="{FF2B5EF4-FFF2-40B4-BE49-F238E27FC236}">
                <a16:creationId xmlns:a16="http://schemas.microsoft.com/office/drawing/2014/main" id="{1237B77D-A5F4-4E60-B425-20BF0B203E29}"/>
              </a:ext>
            </a:extLst>
          </p:cNvPr>
          <p:cNvSpPr>
            <a:spLocks xmlns:a="http://schemas.openxmlformats.org/drawingml/2006/main" noGrp="1"/>
          </p:cNvSpPr>
          <p:nvPr/>
        </p:nvSpPr>
        <p:spPr>
          <a:xfrm xmlns:a="http://schemas.openxmlformats.org/drawingml/2006/main">
            <a:off x="685800" y="1333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96B62"/>
                </a:solidFill>
                <a:latin typeface="Helvetica Neue"/>
                <a:ea typeface="Helvetica Neue"/>
                <a:cs typeface="Helvetica Neue"/>
              </a:defRPr>
            </a:pPr>
            <a:r>
              <a:rPr sz="1275" b="0">
                <a:solidFill>
                  <a:srgbClr val="696B62"/>
                </a:solidFill>
                <a:latin typeface="Helvetica Neue"/>
                <a:ea typeface="Helvetica Neue"/>
                <a:cs typeface="Helvetica Neue"/>
              </a:rPr>
              <a:t>Every capability has a clean control and a failure condition.</a:t>
            </a:r>
          </a:p>
        </p:txBody>
      </p:sp>
      <p:sp>
        <p:nvSpPr>
          <p:cNvPr id="6" name="">
            <a:extLst xmlns:a="http://schemas.openxmlformats.org/drawingml/2006/main">
              <a:ext uri="{FF2B5EF4-FFF2-40B4-BE49-F238E27FC236}">
                <a16:creationId xmlns:a16="http://schemas.microsoft.com/office/drawing/2014/main" id="{72890D1C-23F5-4434-B4F9-FB28F987ED95}"/>
              </a:ext>
            </a:extLst>
          </p:cNvPr>
          <p:cNvSpPr>
            <a:spLocks xmlns:a="http://schemas.openxmlformats.org/drawingml/2006/main" noGrp="1"/>
          </p:cNvSpPr>
          <p:nvPr/>
        </p:nvSpPr>
        <p:spPr>
          <a:xfrm xmlns:a="http://schemas.openxmlformats.org/drawingml/2006/main">
            <a:off x="685800" y="2057400"/>
            <a:ext cx="3333750" cy="2800350"/>
          </a:xfrm>
          <a:prstGeom xmlns:a="http://schemas.openxmlformats.org/drawingml/2006/main" prst="roundRect">
            <a:avLst>
              <a:gd name="adj" fmla="val 5442"/>
            </a:avLst>
          </a:prstGeom>
          <a:solidFill xmlns:a="http://schemas.openxmlformats.org/drawingml/2006/main">
            <a:srgbClr val="F3DDD5"/>
          </a:solidFill>
          <a:ln xmlns:a="http://schemas.openxmlformats.org/drawingml/2006/main" w="9525">
            <a:solidFill>
              <a:srgbClr val="DED0BC"/>
            </a:solidFill>
          </a:ln>
        </p:spPr>
      </p:sp>
      <p:sp>
        <p:nvSpPr>
          <p:cNvPr id="7" name="">
            <a:extLst xmlns:a="http://schemas.openxmlformats.org/drawingml/2006/main">
              <a:ext uri="{FF2B5EF4-FFF2-40B4-BE49-F238E27FC236}">
                <a16:creationId xmlns:a16="http://schemas.microsoft.com/office/drawing/2014/main" id="{64CB9A9C-2B47-48A4-AA33-41B4C1A8FC4A}"/>
              </a:ext>
            </a:extLst>
          </p:cNvPr>
          <p:cNvSpPr>
            <a:spLocks xmlns:a="http://schemas.openxmlformats.org/drawingml/2006/main" noGrp="1"/>
          </p:cNvSpPr>
          <p:nvPr/>
        </p:nvSpPr>
        <p:spPr>
          <a:xfrm xmlns:a="http://schemas.openxmlformats.org/drawingml/2006/main">
            <a:off x="914400" y="22860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B66045"/>
                </a:solidFill>
                <a:latin typeface="Helvetica Neue"/>
                <a:ea typeface="Helvetica Neue"/>
                <a:cs typeface="Helvetica Neue"/>
              </a:defRPr>
            </a:pPr>
            <a:r>
              <a:rPr sz="1050" b="1">
                <a:solidFill>
                  <a:srgbClr val="B66045"/>
                </a:solidFill>
                <a:latin typeface="Helvetica Neue"/>
                <a:ea typeface="Helvetica Neue"/>
                <a:cs typeface="Helvetica Neue"/>
              </a:rPr>
              <a:t>SECURITY</a:t>
            </a:r>
          </a:p>
        </p:txBody>
      </p:sp>
      <p:sp>
        <p:nvSpPr>
          <p:cNvPr id="8" name="">
            <a:extLst xmlns:a="http://schemas.openxmlformats.org/drawingml/2006/main">
              <a:ext uri="{FF2B5EF4-FFF2-40B4-BE49-F238E27FC236}">
                <a16:creationId xmlns:a16="http://schemas.microsoft.com/office/drawing/2014/main" id="{66513F95-4106-486C-83E1-520DF681F6B3}"/>
              </a:ext>
            </a:extLst>
          </p:cNvPr>
          <p:cNvSpPr>
            <a:spLocks xmlns:a="http://schemas.openxmlformats.org/drawingml/2006/main" noGrp="1"/>
          </p:cNvSpPr>
          <p:nvPr/>
        </p:nvSpPr>
        <p:spPr>
          <a:xfrm xmlns:a="http://schemas.openxmlformats.org/drawingml/2006/main">
            <a:off x="914400" y="28003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558951DF-9B6C-4E8E-8035-0CE4D97F2769}"/>
              </a:ext>
            </a:extLst>
          </p:cNvPr>
          <p:cNvSpPr>
            <a:spLocks xmlns:a="http://schemas.openxmlformats.org/drawingml/2006/main" noGrp="1"/>
          </p:cNvSpPr>
          <p:nvPr/>
        </p:nvSpPr>
        <p:spPr>
          <a:xfrm xmlns:a="http://schemas.openxmlformats.org/drawingml/2006/main">
            <a:off x="1314450" y="27336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TPR at fixed 1% / 5% FPR</a:t>
            </a:r>
          </a:p>
        </p:txBody>
      </p:sp>
      <p:sp>
        <p:nvSpPr>
          <p:cNvPr id="10" name="">
            <a:extLst xmlns:a="http://schemas.openxmlformats.org/drawingml/2006/main">
              <a:ext uri="{FF2B5EF4-FFF2-40B4-BE49-F238E27FC236}">
                <a16:creationId xmlns:a16="http://schemas.microsoft.com/office/drawing/2014/main" id="{D52E49AF-4652-4B6F-90C6-3A376E2445DE}"/>
              </a:ext>
            </a:extLst>
          </p:cNvPr>
          <p:cNvSpPr>
            <a:spLocks xmlns:a="http://schemas.openxmlformats.org/drawingml/2006/main" noGrp="1"/>
          </p:cNvSpPr>
          <p:nvPr/>
        </p:nvSpPr>
        <p:spPr>
          <a:xfrm xmlns:a="http://schemas.openxmlformats.org/drawingml/2006/main">
            <a:off x="914400" y="33909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ADA498AF-7756-4612-B13C-8781EA2915A6}"/>
              </a:ext>
            </a:extLst>
          </p:cNvPr>
          <p:cNvSpPr>
            <a:spLocks xmlns:a="http://schemas.openxmlformats.org/drawingml/2006/main" noGrp="1"/>
          </p:cNvSpPr>
          <p:nvPr/>
        </p:nvSpPr>
        <p:spPr>
          <a:xfrm xmlns:a="http://schemas.openxmlformats.org/drawingml/2006/main">
            <a:off x="1314450" y="3324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AUROC and AUPRC by attack family</a:t>
            </a:r>
          </a:p>
        </p:txBody>
      </p:sp>
      <p:sp>
        <p:nvSpPr>
          <p:cNvPr id="12" name="">
            <a:extLst xmlns:a="http://schemas.openxmlformats.org/drawingml/2006/main">
              <a:ext uri="{FF2B5EF4-FFF2-40B4-BE49-F238E27FC236}">
                <a16:creationId xmlns:a16="http://schemas.microsoft.com/office/drawing/2014/main" id="{7B0CA4E4-2011-45D5-8CD7-764CE6604DA1}"/>
              </a:ext>
            </a:extLst>
          </p:cNvPr>
          <p:cNvSpPr>
            <a:spLocks xmlns:a="http://schemas.openxmlformats.org/drawingml/2006/main" noGrp="1"/>
          </p:cNvSpPr>
          <p:nvPr/>
        </p:nvSpPr>
        <p:spPr>
          <a:xfrm xmlns:a="http://schemas.openxmlformats.org/drawingml/2006/main">
            <a:off x="914400" y="39814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02325ACC-4631-4CD6-A77D-B4639F6E0DA3}"/>
              </a:ext>
            </a:extLst>
          </p:cNvPr>
          <p:cNvSpPr>
            <a:spLocks xmlns:a="http://schemas.openxmlformats.org/drawingml/2006/main" noGrp="1"/>
          </p:cNvSpPr>
          <p:nvPr/>
        </p:nvSpPr>
        <p:spPr>
          <a:xfrm xmlns:a="http://schemas.openxmlformats.org/drawingml/2006/main">
            <a:off x="1314450" y="39147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Clean quarantine rate</a:t>
            </a:r>
          </a:p>
        </p:txBody>
      </p:sp>
      <p:sp>
        <p:nvSpPr>
          <p:cNvPr id="14" name="">
            <a:extLst xmlns:a="http://schemas.openxmlformats.org/drawingml/2006/main">
              <a:ext uri="{FF2B5EF4-FFF2-40B4-BE49-F238E27FC236}">
                <a16:creationId xmlns:a16="http://schemas.microsoft.com/office/drawing/2014/main" id="{33DB9D7A-6561-499C-8F72-EAA7B975D6EB}"/>
              </a:ext>
            </a:extLst>
          </p:cNvPr>
          <p:cNvSpPr>
            <a:spLocks xmlns:a="http://schemas.openxmlformats.org/drawingml/2006/main" noGrp="1"/>
          </p:cNvSpPr>
          <p:nvPr/>
        </p:nvSpPr>
        <p:spPr>
          <a:xfrm xmlns:a="http://schemas.openxmlformats.org/drawingml/2006/main">
            <a:off x="4305300" y="2057400"/>
            <a:ext cx="3333750" cy="2800350"/>
          </a:xfrm>
          <a:prstGeom xmlns:a="http://schemas.openxmlformats.org/drawingml/2006/main" prst="roundRect">
            <a:avLst>
              <a:gd name="adj" fmla="val 5442"/>
            </a:avLst>
          </a:prstGeom>
          <a:solidFill xmlns:a="http://schemas.openxmlformats.org/drawingml/2006/main">
            <a:srgbClr val="EAE0D1"/>
          </a:solidFill>
          <a:ln xmlns:a="http://schemas.openxmlformats.org/drawingml/2006/main" w="9525">
            <a:solidFill>
              <a:srgbClr val="DED0BC"/>
            </a:solidFill>
          </a:ln>
        </p:spPr>
      </p:sp>
      <p:sp>
        <p:nvSpPr>
          <p:cNvPr id="15" name="">
            <a:extLst xmlns:a="http://schemas.openxmlformats.org/drawingml/2006/main">
              <a:ext uri="{FF2B5EF4-FFF2-40B4-BE49-F238E27FC236}">
                <a16:creationId xmlns:a16="http://schemas.microsoft.com/office/drawing/2014/main" id="{2E80F2C1-A507-485E-9A9A-367E5E356491}"/>
              </a:ext>
            </a:extLst>
          </p:cNvPr>
          <p:cNvSpPr>
            <a:spLocks xmlns:a="http://schemas.openxmlformats.org/drawingml/2006/main" noGrp="1"/>
          </p:cNvSpPr>
          <p:nvPr/>
        </p:nvSpPr>
        <p:spPr>
          <a:xfrm xmlns:a="http://schemas.openxmlformats.org/drawingml/2006/main">
            <a:off x="4533900" y="22860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B66045"/>
                </a:solidFill>
                <a:latin typeface="Helvetica Neue"/>
                <a:ea typeface="Helvetica Neue"/>
                <a:cs typeface="Helvetica Neue"/>
              </a:defRPr>
            </a:pPr>
            <a:r>
              <a:rPr sz="1050" b="1">
                <a:solidFill>
                  <a:srgbClr val="B66045"/>
                </a:solidFill>
                <a:latin typeface="Helvetica Neue"/>
                <a:ea typeface="Helvetica Neue"/>
                <a:cs typeface="Helvetica Neue"/>
              </a:rPr>
              <a:t>QUALITY</a:t>
            </a:r>
          </a:p>
        </p:txBody>
      </p:sp>
      <p:sp>
        <p:nvSpPr>
          <p:cNvPr id="16" name="">
            <a:extLst xmlns:a="http://schemas.openxmlformats.org/drawingml/2006/main">
              <a:ext uri="{FF2B5EF4-FFF2-40B4-BE49-F238E27FC236}">
                <a16:creationId xmlns:a16="http://schemas.microsoft.com/office/drawing/2014/main" id="{CCB98176-06CE-4D62-B60C-9B3F735A1781}"/>
              </a:ext>
            </a:extLst>
          </p:cNvPr>
          <p:cNvSpPr>
            <a:spLocks xmlns:a="http://schemas.openxmlformats.org/drawingml/2006/main" noGrp="1"/>
          </p:cNvSpPr>
          <p:nvPr/>
        </p:nvSpPr>
        <p:spPr>
          <a:xfrm xmlns:a="http://schemas.openxmlformats.org/drawingml/2006/main">
            <a:off x="4533900" y="28003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1</a:t>
            </a:r>
          </a:p>
        </p:txBody>
      </p:sp>
      <p:sp>
        <p:nvSpPr>
          <p:cNvPr id="17" name="">
            <a:extLst xmlns:a="http://schemas.openxmlformats.org/drawingml/2006/main">
              <a:ext uri="{FF2B5EF4-FFF2-40B4-BE49-F238E27FC236}">
                <a16:creationId xmlns:a16="http://schemas.microsoft.com/office/drawing/2014/main" id="{E516B40B-BD3A-4CCB-9D55-FFE9975551E4}"/>
              </a:ext>
            </a:extLst>
          </p:cNvPr>
          <p:cNvSpPr>
            <a:spLocks xmlns:a="http://schemas.openxmlformats.org/drawingml/2006/main" noGrp="1"/>
          </p:cNvSpPr>
          <p:nvPr/>
        </p:nvSpPr>
        <p:spPr>
          <a:xfrm xmlns:a="http://schemas.openxmlformats.org/drawingml/2006/main">
            <a:off x="4933950" y="27336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Contributor ranking recall</a:t>
            </a:r>
          </a:p>
        </p:txBody>
      </p:sp>
      <p:sp>
        <p:nvSpPr>
          <p:cNvPr id="18" name="">
            <a:extLst xmlns:a="http://schemas.openxmlformats.org/drawingml/2006/main">
              <a:ext uri="{FF2B5EF4-FFF2-40B4-BE49-F238E27FC236}">
                <a16:creationId xmlns:a16="http://schemas.microsoft.com/office/drawing/2014/main" id="{19456681-6D20-4D29-B6A6-B4ACF1E4308F}"/>
              </a:ext>
            </a:extLst>
          </p:cNvPr>
          <p:cNvSpPr>
            <a:spLocks xmlns:a="http://schemas.openxmlformats.org/drawingml/2006/main" noGrp="1"/>
          </p:cNvSpPr>
          <p:nvPr/>
        </p:nvSpPr>
        <p:spPr>
          <a:xfrm xmlns:a="http://schemas.openxmlformats.org/drawingml/2006/main">
            <a:off x="4533900" y="33909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2</a:t>
            </a:r>
          </a:p>
        </p:txBody>
      </p:sp>
      <p:sp>
        <p:nvSpPr>
          <p:cNvPr id="19" name="">
            <a:extLst xmlns:a="http://schemas.openxmlformats.org/drawingml/2006/main">
              <a:ext uri="{FF2B5EF4-FFF2-40B4-BE49-F238E27FC236}">
                <a16:creationId xmlns:a16="http://schemas.microsoft.com/office/drawing/2014/main" id="{5449CBFB-7000-45F5-A615-B378F25244E8}"/>
              </a:ext>
            </a:extLst>
          </p:cNvPr>
          <p:cNvSpPr>
            <a:spLocks xmlns:a="http://schemas.openxmlformats.org/drawingml/2006/main" noGrp="1"/>
          </p:cNvSpPr>
          <p:nvPr/>
        </p:nvSpPr>
        <p:spPr>
          <a:xfrm xmlns:a="http://schemas.openxmlformats.org/drawingml/2006/main">
            <a:off x="4933950" y="3324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974"/>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Calibration: Brier score / ECE</a:t>
            </a:r>
          </a:p>
        </p:txBody>
      </p:sp>
      <p:sp>
        <p:nvSpPr>
          <p:cNvPr id="20" name="">
            <a:extLst xmlns:a="http://schemas.openxmlformats.org/drawingml/2006/main">
              <a:ext uri="{FF2B5EF4-FFF2-40B4-BE49-F238E27FC236}">
                <a16:creationId xmlns:a16="http://schemas.microsoft.com/office/drawing/2014/main" id="{46373F58-165C-4D67-A644-34A4BAF0F1C0}"/>
              </a:ext>
            </a:extLst>
          </p:cNvPr>
          <p:cNvSpPr>
            <a:spLocks xmlns:a="http://schemas.openxmlformats.org/drawingml/2006/main" noGrp="1"/>
          </p:cNvSpPr>
          <p:nvPr/>
        </p:nvSpPr>
        <p:spPr>
          <a:xfrm xmlns:a="http://schemas.openxmlformats.org/drawingml/2006/main">
            <a:off x="4533900" y="39814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82B3340C-B80F-46A3-9235-3835EE8B06FE}"/>
              </a:ext>
            </a:extLst>
          </p:cNvPr>
          <p:cNvSpPr>
            <a:spLocks xmlns:a="http://schemas.openxmlformats.org/drawingml/2006/main" noGrp="1"/>
          </p:cNvSpPr>
          <p:nvPr/>
        </p:nvSpPr>
        <p:spPr>
          <a:xfrm xmlns:a="http://schemas.openxmlformats.org/drawingml/2006/main">
            <a:off x="4933950" y="39147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Unsupported and inconclusive rate</a:t>
            </a:r>
          </a:p>
        </p:txBody>
      </p:sp>
      <p:sp>
        <p:nvSpPr>
          <p:cNvPr id="22" name="">
            <a:extLst xmlns:a="http://schemas.openxmlformats.org/drawingml/2006/main">
              <a:ext uri="{FF2B5EF4-FFF2-40B4-BE49-F238E27FC236}">
                <a16:creationId xmlns:a16="http://schemas.microsoft.com/office/drawing/2014/main" id="{F4FF5316-768B-4C9A-9E61-D8028D42C854}"/>
              </a:ext>
            </a:extLst>
          </p:cNvPr>
          <p:cNvSpPr>
            <a:spLocks xmlns:a="http://schemas.openxmlformats.org/drawingml/2006/main" noGrp="1"/>
          </p:cNvSpPr>
          <p:nvPr/>
        </p:nvSpPr>
        <p:spPr>
          <a:xfrm xmlns:a="http://schemas.openxmlformats.org/drawingml/2006/main">
            <a:off x="7924800" y="2057400"/>
            <a:ext cx="3333750" cy="2800350"/>
          </a:xfrm>
          <a:prstGeom xmlns:a="http://schemas.openxmlformats.org/drawingml/2006/main" prst="roundRect">
            <a:avLst>
              <a:gd name="adj" fmla="val 5442"/>
            </a:avLst>
          </a:prstGeom>
          <a:solidFill xmlns:a="http://schemas.openxmlformats.org/drawingml/2006/main">
            <a:srgbClr val="DDE6D8"/>
          </a:solidFill>
          <a:ln xmlns:a="http://schemas.openxmlformats.org/drawingml/2006/main" w="9525">
            <a:solidFill>
              <a:srgbClr val="DED0BC"/>
            </a:solidFill>
          </a:ln>
        </p:spPr>
      </p:sp>
      <p:sp>
        <p:nvSpPr>
          <p:cNvPr id="23" name="">
            <a:extLst xmlns:a="http://schemas.openxmlformats.org/drawingml/2006/main">
              <a:ext uri="{FF2B5EF4-FFF2-40B4-BE49-F238E27FC236}">
                <a16:creationId xmlns:a16="http://schemas.microsoft.com/office/drawing/2014/main" id="{0D2E1DA3-B57F-441A-A677-C1E971FD4883}"/>
              </a:ext>
            </a:extLst>
          </p:cNvPr>
          <p:cNvSpPr>
            <a:spLocks xmlns:a="http://schemas.openxmlformats.org/drawingml/2006/main" noGrp="1"/>
          </p:cNvSpPr>
          <p:nvPr/>
        </p:nvSpPr>
        <p:spPr>
          <a:xfrm xmlns:a="http://schemas.openxmlformats.org/drawingml/2006/main">
            <a:off x="8153400" y="228600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B66045"/>
                </a:solidFill>
                <a:latin typeface="Helvetica Neue"/>
                <a:ea typeface="Helvetica Neue"/>
                <a:cs typeface="Helvetica Neue"/>
              </a:defRPr>
            </a:pPr>
            <a:r>
              <a:rPr sz="1050" b="1">
                <a:solidFill>
                  <a:srgbClr val="B66045"/>
                </a:solidFill>
                <a:latin typeface="Helvetica Neue"/>
                <a:ea typeface="Helvetica Neue"/>
                <a:cs typeface="Helvetica Neue"/>
              </a:rPr>
              <a:t>SYSTEM</a:t>
            </a:r>
          </a:p>
        </p:txBody>
      </p:sp>
      <p:sp>
        <p:nvSpPr>
          <p:cNvPr id="24" name="">
            <a:extLst xmlns:a="http://schemas.openxmlformats.org/drawingml/2006/main">
              <a:ext uri="{FF2B5EF4-FFF2-40B4-BE49-F238E27FC236}">
                <a16:creationId xmlns:a16="http://schemas.microsoft.com/office/drawing/2014/main" id="{7C05D6B3-1EEF-49D5-963E-FA2AF7EDDBA0}"/>
              </a:ext>
            </a:extLst>
          </p:cNvPr>
          <p:cNvSpPr>
            <a:spLocks xmlns:a="http://schemas.openxmlformats.org/drawingml/2006/main" noGrp="1"/>
          </p:cNvSpPr>
          <p:nvPr/>
        </p:nvSpPr>
        <p:spPr>
          <a:xfrm xmlns:a="http://schemas.openxmlformats.org/drawingml/2006/main">
            <a:off x="8153400" y="28003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1</a:t>
            </a:r>
          </a:p>
        </p:txBody>
      </p:sp>
      <p:sp>
        <p:nvSpPr>
          <p:cNvPr id="25" name="">
            <a:extLst xmlns:a="http://schemas.openxmlformats.org/drawingml/2006/main">
              <a:ext uri="{FF2B5EF4-FFF2-40B4-BE49-F238E27FC236}">
                <a16:creationId xmlns:a16="http://schemas.microsoft.com/office/drawing/2014/main" id="{74D93291-3D52-435B-9018-E0EEF2011619}"/>
              </a:ext>
            </a:extLst>
          </p:cNvPr>
          <p:cNvSpPr>
            <a:spLocks xmlns:a="http://schemas.openxmlformats.org/drawingml/2006/main" noGrp="1"/>
          </p:cNvSpPr>
          <p:nvPr/>
        </p:nvSpPr>
        <p:spPr>
          <a:xfrm xmlns:a="http://schemas.openxmlformats.org/drawingml/2006/main">
            <a:off x="8553450" y="27336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CPU time and peak memory</a:t>
            </a:r>
          </a:p>
        </p:txBody>
      </p:sp>
      <p:sp>
        <p:nvSpPr>
          <p:cNvPr id="26" name="">
            <a:extLst xmlns:a="http://schemas.openxmlformats.org/drawingml/2006/main">
              <a:ext uri="{FF2B5EF4-FFF2-40B4-BE49-F238E27FC236}">
                <a16:creationId xmlns:a16="http://schemas.microsoft.com/office/drawing/2014/main" id="{DC81A111-F2F5-458B-A5AE-503770E62519}"/>
              </a:ext>
            </a:extLst>
          </p:cNvPr>
          <p:cNvSpPr>
            <a:spLocks xmlns:a="http://schemas.openxmlformats.org/drawingml/2006/main" noGrp="1"/>
          </p:cNvSpPr>
          <p:nvPr/>
        </p:nvSpPr>
        <p:spPr>
          <a:xfrm xmlns:a="http://schemas.openxmlformats.org/drawingml/2006/main">
            <a:off x="8153400" y="339090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8AEE4757-274F-4DCB-9DD4-A84D480A03DB}"/>
              </a:ext>
            </a:extLst>
          </p:cNvPr>
          <p:cNvSpPr>
            <a:spLocks xmlns:a="http://schemas.openxmlformats.org/drawingml/2006/main" noGrp="1"/>
          </p:cNvSpPr>
          <p:nvPr/>
        </p:nvSpPr>
        <p:spPr>
          <a:xfrm xmlns:a="http://schemas.openxmlformats.org/drawingml/2006/main">
            <a:off x="8553450" y="3324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Receipt tamper / replay detection</a:t>
            </a:r>
          </a:p>
        </p:txBody>
      </p:sp>
      <p:sp>
        <p:nvSpPr>
          <p:cNvPr id="28" name="">
            <a:extLst xmlns:a="http://schemas.openxmlformats.org/drawingml/2006/main">
              <a:ext uri="{FF2B5EF4-FFF2-40B4-BE49-F238E27FC236}">
                <a16:creationId xmlns:a16="http://schemas.microsoft.com/office/drawing/2014/main" id="{DA499890-2F72-4B3A-BEE1-F7F20D60C4F0}"/>
              </a:ext>
            </a:extLst>
          </p:cNvPr>
          <p:cNvSpPr>
            <a:spLocks xmlns:a="http://schemas.openxmlformats.org/drawingml/2006/main" noGrp="1"/>
          </p:cNvSpPr>
          <p:nvPr/>
        </p:nvSpPr>
        <p:spPr>
          <a:xfrm xmlns:a="http://schemas.openxmlformats.org/drawingml/2006/main">
            <a:off x="8153400" y="3981450"/>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5B6546"/>
                </a:solidFill>
                <a:latin typeface="Helvetica Neue"/>
                <a:ea typeface="Helvetica Neue"/>
                <a:cs typeface="Helvetica Neue"/>
              </a:defRPr>
            </a:pPr>
            <a:r>
              <a:rPr sz="1200" b="1">
                <a:solidFill>
                  <a:srgbClr val="5B6546"/>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60DDF1CA-043B-4C93-81EB-C88649C9DE3D}"/>
              </a:ext>
            </a:extLst>
          </p:cNvPr>
          <p:cNvSpPr>
            <a:spLocks xmlns:a="http://schemas.openxmlformats.org/drawingml/2006/main" noGrp="1"/>
          </p:cNvSpPr>
          <p:nvPr/>
        </p:nvSpPr>
        <p:spPr>
          <a:xfrm xmlns:a="http://schemas.openxmlformats.org/drawingml/2006/main">
            <a:off x="8553450" y="39147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292A26"/>
                </a:solidFill>
                <a:latin typeface="Helvetica Neue"/>
                <a:ea typeface="Helvetica Neue"/>
                <a:cs typeface="Helvetica Neue"/>
              </a:defRPr>
            </a:pPr>
            <a:r>
              <a:rPr sz="1275" b="1">
                <a:solidFill>
                  <a:srgbClr val="292A26"/>
                </a:solidFill>
                <a:latin typeface="Helvetica Neue"/>
                <a:ea typeface="Helvetica Neue"/>
                <a:cs typeface="Helvetica Neue"/>
              </a:rPr>
              <a:t>Analyst review time</a:t>
            </a:r>
          </a:p>
        </p:txBody>
      </p:sp>
      <p:sp>
        <p:nvSpPr>
          <p:cNvPr id="30" name="">
            <a:extLst xmlns:a="http://schemas.openxmlformats.org/drawingml/2006/main">
              <a:ext uri="{FF2B5EF4-FFF2-40B4-BE49-F238E27FC236}">
                <a16:creationId xmlns:a16="http://schemas.microsoft.com/office/drawing/2014/main" id="{BFE3C8F8-FA04-4A71-9E01-8D260C407801}"/>
              </a:ext>
            </a:extLst>
          </p:cNvPr>
          <p:cNvSpPr>
            <a:spLocks xmlns:a="http://schemas.openxmlformats.org/drawingml/2006/main" noGrp="1"/>
          </p:cNvSpPr>
          <p:nvPr/>
        </p:nvSpPr>
        <p:spPr>
          <a:xfrm xmlns:a="http://schemas.openxmlformats.org/drawingml/2006/main">
            <a:off x="685800" y="525780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C74634"/>
                </a:solidFill>
                <a:latin typeface="Helvetica Neue"/>
                <a:ea typeface="Helvetica Neue"/>
                <a:cs typeface="Helvetica Neue"/>
              </a:defRPr>
            </a:pPr>
            <a:r>
              <a:rPr sz="975" b="1">
                <a:solidFill>
                  <a:srgbClr val="C74634"/>
                </a:solidFill>
                <a:latin typeface="Helvetica Neue"/>
                <a:ea typeface="Helvetica Neue"/>
                <a:cs typeface="Helvetica Neue"/>
              </a:rPr>
              <a:t>Kill signal</a:t>
            </a:r>
          </a:p>
        </p:txBody>
      </p:sp>
      <p:sp>
        <p:nvSpPr>
          <p:cNvPr id="31" name="">
            <a:extLst xmlns:a="http://schemas.openxmlformats.org/drawingml/2006/main">
              <a:ext uri="{FF2B5EF4-FFF2-40B4-BE49-F238E27FC236}">
                <a16:creationId xmlns:a16="http://schemas.microsoft.com/office/drawing/2014/main" id="{3D85D6D7-8612-4E45-9502-B1719A13083B}"/>
              </a:ext>
            </a:extLst>
          </p:cNvPr>
          <p:cNvSpPr>
            <a:spLocks xmlns:a="http://schemas.openxmlformats.org/drawingml/2006/main" noGrp="1"/>
          </p:cNvSpPr>
          <p:nvPr/>
        </p:nvSpPr>
        <p:spPr>
          <a:xfrm xmlns:a="http://schemas.openxmlformats.org/drawingml/2006/main">
            <a:off x="685800" y="55340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92A26"/>
                </a:solidFill>
                <a:latin typeface="Helvetica Neue"/>
                <a:ea typeface="Helvetica Neue"/>
                <a:cs typeface="Helvetica Neue"/>
              </a:defRPr>
            </a:pPr>
            <a:r>
              <a:rPr sz="1350" b="1">
                <a:solidFill>
                  <a:srgbClr val="292A26"/>
                </a:solidFill>
                <a:latin typeface="Helvetica Neue"/>
                <a:ea typeface="Helvetica Neue"/>
                <a:cs typeface="Helvetica Neue"/>
              </a:rPr>
              <a:t>If cross-layer evidence does not improve detection or review time at matched false-positive rate, reduce the claim and keep only the components that earn evidence.</a:t>
            </a:r>
          </a:p>
        </p:txBody>
      </p:sp>
      <p:sp>
        <p:nvSpPr>
          <p:cNvPr id="32" name="">
            <a:extLst xmlns:a="http://schemas.openxmlformats.org/drawingml/2006/main">
              <a:ext uri="{FF2B5EF4-FFF2-40B4-BE49-F238E27FC236}">
                <a16:creationId xmlns:a16="http://schemas.microsoft.com/office/drawing/2014/main" id="{A86AF012-B0DB-42BC-93BA-5415F756D0C9}"/>
              </a:ext>
            </a:extLst>
          </p:cNvPr>
          <p:cNvSpPr>
            <a:spLocks xmlns:a="http://schemas.openxmlformats.org/drawingml/2006/main" noGrp="1"/>
          </p:cNvSpPr>
          <p:nvPr/>
        </p:nvSpPr>
        <p:spPr>
          <a:xfrm xmlns:a="http://schemas.openxmlformats.org/drawingml/2006/main">
            <a:off x="685800" y="6505575"/>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96B62"/>
                </a:solidFill>
                <a:latin typeface="Helvetica Neue"/>
                <a:ea typeface="Helvetica Neue"/>
                <a:cs typeface="Helvetica Neue"/>
              </a:defRPr>
            </a:pPr>
            <a:r>
              <a:rPr sz="750" b="0">
                <a:solidFill>
                  <a:srgbClr val="696B62"/>
                </a:solidFill>
                <a:latin typeface="Helvetica Neue"/>
                <a:ea typeface="Helvetica Neue"/>
                <a:cs typeface="Helvetica Neue"/>
              </a:rPr>
              <a:t>PramaanCV  |  SIH26228</a:t>
            </a:r>
          </a:p>
        </p:txBody>
      </p:sp>
    </p:spTree>
    <p:extLst>
      <p:ext uri="{BB962C8B-B14F-4D97-AF65-F5344CB8AC3E}">
        <p14:creationId xmlns:p14="http://schemas.microsoft.com/office/powerpoint/2010/main" val="142885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2026-09-09T18:29:43.5250000Z</dcterms:created>
  <dcterms:modified xsi:type="dcterms:W3CDTF">2026-09-09T18:29:43.5250000Z</dcterms:modified>
</coreProperties>
</file>