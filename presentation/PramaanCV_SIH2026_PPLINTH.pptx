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d33331bfd94363" /><Relationship Type="http://schemas.openxmlformats.org/officeDocument/2006/relationships/extended-properties" Target="/docProps/app.xml" Id="R5f018cebee6e4879" /><Relationship Type="http://schemas.openxmlformats.org/officeDocument/2006/relationships/officeDocument" Target="/ppt/presentation.xml" Id="R74cb8802e5a9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dfe880e3644a7"/>
  </p:sldMasterIdLst>
  <p:notesMasterIdLst>
    <p:notesMasterId xmlns:r="http://schemas.openxmlformats.org/officeDocument/2006/relationships" r:id="Rb5cd4673bdc14f26"/>
  </p:notesMasterIdLst>
  <p:sldIdLst>
    <p:sldId xmlns:r="http://schemas.openxmlformats.org/officeDocument/2006/relationships" id="256" r:id="R631c5f500cc94785"/>
    <p:sldId xmlns:r="http://schemas.openxmlformats.org/officeDocument/2006/relationships" id="257" r:id="R983d5929c12d4101"/>
    <p:sldId xmlns:r="http://schemas.openxmlformats.org/officeDocument/2006/relationships" id="258" r:id="R4f156ab011444412"/>
    <p:sldId xmlns:r="http://schemas.openxmlformats.org/officeDocument/2006/relationships" id="259" r:id="R969bc1cc131b483a"/>
    <p:sldId xmlns:r="http://schemas.openxmlformats.org/officeDocument/2006/relationships" id="260" r:id="R121ce92a6c214e74"/>
    <p:sldId xmlns:r="http://schemas.openxmlformats.org/officeDocument/2006/relationships" id="261" r:id="R769cac94662b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c3ef77ca64820" /><Relationship Type="http://schemas.openxmlformats.org/officeDocument/2006/relationships/slideMaster" Target="/ppt/slideMasters/slideMaster1.xml" Id="Rd03dfe880e3644a7" /><Relationship Type="http://schemas.openxmlformats.org/officeDocument/2006/relationships/notesMaster" Target="/ppt/notesMasters/notesMaster1.xml" Id="Rb5cd4673bdc14f26" /><Relationship Type="http://schemas.openxmlformats.org/officeDocument/2006/relationships/presProps" Target="/ppt/presProps.xml" Id="R84a8c036faa84434" /><Relationship Type="http://schemas.openxmlformats.org/officeDocument/2006/relationships/viewProps" Target="/ppt/viewProps.xml" Id="R6ebc4955458e4ff9" /><Relationship Type="http://schemas.openxmlformats.org/officeDocument/2006/relationships/tableStyles" Target="/ppt/tableStyles.xml" Id="R0c0066771b1649d7" /><Relationship Type="http://schemas.openxmlformats.org/officeDocument/2006/relationships/slide" Target="/ppt/slides/slide1.xml" Id="R631c5f500cc94785" /><Relationship Type="http://schemas.openxmlformats.org/officeDocument/2006/relationships/slide" Target="/ppt/slides/slide2.xml" Id="R983d5929c12d4101" /><Relationship Type="http://schemas.openxmlformats.org/officeDocument/2006/relationships/slide" Target="/ppt/slides/slide3.xml" Id="R4f156ab011444412" /><Relationship Type="http://schemas.openxmlformats.org/officeDocument/2006/relationships/slide" Target="/ppt/slides/slide4.xml" Id="R969bc1cc131b483a" /><Relationship Type="http://schemas.openxmlformats.org/officeDocument/2006/relationships/slide" Target="/ppt/slides/slide5.xml" Id="R121ce92a6c214e74" /><Relationship Type="http://schemas.openxmlformats.org/officeDocument/2006/relationships/slide" Target="/ppt/slides/slide6.xml" Id="R769cac94662b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822edc4074c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0b839ae844bb6" /><Relationship Type="http://schemas.openxmlformats.org/officeDocument/2006/relationships/notesMaster" Target="/ppt/notesMasters/notesMaster1.xml" Id="R9cba47c18b4643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9a98d5cb0c4668" /><Relationship Type="http://schemas.openxmlformats.org/officeDocument/2006/relationships/notesMaster" Target="/ppt/notesMasters/notesMaster1.xml" Id="R592fc569737244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70b229b13d4a9b" /><Relationship Type="http://schemas.openxmlformats.org/officeDocument/2006/relationships/notesMaster" Target="/ppt/notesMasters/notesMaster1.xml" Id="R3cb2c24e439342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f9cc4f1e6645ae" /><Relationship Type="http://schemas.openxmlformats.org/officeDocument/2006/relationships/notesMaster" Target="/ppt/notesMasters/notesMaster1.xml" Id="R93c79db3de5e47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9c96d2a8eb49a0" /><Relationship Type="http://schemas.openxmlformats.org/officeDocument/2006/relationships/notesMaster" Target="/ppt/notesMasters/notesMaster1.xml" Id="R366079cb6e39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0b5d9bb2e4647" /><Relationship Type="http://schemas.openxmlformats.org/officeDocument/2006/relationships/notesMaster" Target="/ppt/notesMasters/notesMaster1.xml" Id="R3c9e047c129942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PramaanCV is the idea name. Team name and ID must match the SIH portal. Six members, five presenters. Source: user-provided SIH26228 problem statement. Explain: data labels can be wrong, a supplied model can contain hidden behaviour, and saved predictions can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illustration is AI-generated concept art, not a measured result. Current code aggregates findings with rules. Typed asset relationships, causal evidence handoff and automated hypothesis testing remain planned. Novelty hypothesis: connected evidence improves detection at matched false-positive rate or reduces analyst review time. Compare against isolated checks before claiming improvement.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Demo: Receipt tab, choose image and small model file, leave clearly labelled sample output, sign, tamper output digest, compile decision. Real signature verification fails. Model tab evaluates operator-supplied summaries, not direct inference. Signature binds submitted bytes, not proof of execution. Current output confidence values are fixed policy numbers, not calibrated probabilities. Replay button passes replayed:true. Full automatic replay enforcement and chain verification are pending. Node crypto: https://nodejs.org/api/crypto.html . Ed25519: https://www.rfc-editor.org/info/rfc8032/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Current request body limit is 25 MB, including Base64 overhead. Current server reads ledger from disk and generates process-local signing keys. National work must enforce coverage before ACCEPT and link findings to the same assets before corroboration. Costs are not measured: main drivers are inference compute, model storage and analyst time. Six-person ownership: data, model tests, provenance, platform, delivery, validation. No hardware-specific novelty.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Measure TPR at fixed FPR, AUROC/AUPRC, clean quarantine rate, analyst review time, memory and runtime. Offline operation is a deployment requirement, not a guarantee against a compromised host. Distribution shift, such as new weather or sensor conditions, is separate from a deliberate backdoor. COCO-O calibration is planned. Environmental benefit has not been quantified.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https://pages.nist.gov/trojai/docs/object-detection-feb2023.html ; https://openaccess.thecvf.com/content/ICCV2023/papers/Mao_COCO-O_A_Benchmark_for_Object_Detectors_under_Natural_Distribution_Shifts_ICCV_2023_paper.pdf ; https://arxiv.org/abs/2309.00832 ; https://proceedings.mlr.press/v238/pichler24a.html . Counts describe source benchmarks, not team experiments. Validate actual downloaded cohort size because later reports and round documentation may differ. Known-trigger demonstrations do not establish unknown-trigger detection. Keep ground-truth labels out of detector features.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a55c045c940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99a001b4b48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e93d6655140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3c63d45e64a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c4e0e9cfc4c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456c768c943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a64f75ae34b6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08091c778497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a1fe1d2ea422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05dd0e2b445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804bedb064a7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BABDFB-BE21-47F0-B2FF-344E1704DA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2FD3EB9-3F78-4A81-8BF9-501B902DF0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70BE15-FFEC-4723-8FD0-DEE9BB7781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79CD5D-52A4-4943-BAFF-9512AD0122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ED323B-557A-43F5-95C2-670E7F8F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AAB7AB-E46D-4C40-87B7-50084EC7A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2069CDD-3F7B-4EF7-8138-9E52C40EEE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D964EA-5046-4E2B-BA4E-E6171F0F51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9407DC-E87F-45F7-A6DC-628858CE8D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493B0F-B9EA-4556-BAE1-736CF4B964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35AC6A-8A0D-4330-BCD8-B59E18CCE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BC77DD-5771-4DBD-97C3-714E1370DB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E66527B-B0BD-464F-8A65-B71231D5D1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CBC6C1-7ECD-4064-94D0-AD94A309C3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2A6821-802F-4F8D-824A-87FA6C59BC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E8C757-0A2F-466E-9E1F-7C3F0B1D2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C0A043A-EAB8-4CDB-8137-1F89EF3AA6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1FDFB93-25A0-4918-907C-0645CD0DC96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6A7000-783B-488A-BEF6-1A03A1EC6D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9/10/26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CB8E78-9141-4990-8B66-A8AA5C6CC3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E0947F-899D-4C3F-9FAD-4D9E2ACB77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0A7263-BF8D-43F9-A886-6B5D5FF075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81E07D-C2F2-42DC-A313-5A6E8D8FB6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0CE22B-C3B0-4E5B-9FD8-B6580D06C00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2ED8497-E23A-4787-933D-0F42D77CD33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C8EAE1F-2DD2-4B03-944E-CD7916BB95F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3BA0F8-CCCB-451C-8DCE-45D4F27A95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9/10/26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A389C2-8BB0-4F5D-87BF-5C5CAE686C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E4EBFB-CD4E-4669-8E3E-6CC3F3C53C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ECA8AD-9115-48E1-A125-106CDA9D91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86932C-AB30-4D94-AD05-F632D60D49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9/10/26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CB2468-3DA3-4DD9-9317-D70747EDD0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75B655-78E0-4DA0-A333-4F9C908E80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CB4C3C-5E99-4167-8BCE-1F1617CE0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9/10/26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4D240F-9446-489F-80B6-64D76EB991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621DA0-C034-4D3C-96EC-16820F3542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16112F-5F52-4714-AF08-B70209425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79FC92-CF26-499C-8045-5F9CE07B0B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878935-4B13-4839-A454-9C8D634C73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53A919-7F8D-46F6-8156-0C4F662B00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9/10/26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9E4789-BF04-492F-8B92-DD40315E9D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D3E31F-A2FE-43A1-A7F8-A70B9CF2C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973FD9-3458-43B9-8262-D9D2255900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DA16A1-5480-4A5D-BC0C-8FA0F89B27F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AC6B26A-A7D2-4F7C-BCE6-02BC7FB8C2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88C3D-27CA-45D3-8815-85BB1F3BD6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9/10/26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EA72A4-BC2B-4EF0-A30B-3DAF72DE81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3FDB70-903A-4E3D-8A0D-A90F9E58E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E47DD1-9D8F-41F3-A3A4-3B3395119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1D9909-44C1-4005-80EF-4E39D030B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83A579E-A979-4A9E-86C2-CCBD985C6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0CD5274-D46D-4D82-9E97-C80967330D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64ABC7-AB4A-4287-9279-005ACC6F96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BD8986-92A6-4B67-A1DD-4BD251EA2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378CF7-C202-4292-AC5F-7138099F9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E3F3B5-6525-4EE2-879B-DFB3633C94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2419809-D95C-425A-B02B-CE03C7AEFE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B22E6C-B8B0-49C5-84D5-13055CFC1E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d2a2ef1aaa46c9" /><Relationship Type="http://schemas.openxmlformats.org/officeDocument/2006/relationships/slideLayout" Target="/ppt/slideLayouts/slideLayout1.xml" Id="R94d01ee3e82341f5" /><Relationship Type="http://schemas.openxmlformats.org/officeDocument/2006/relationships/slideLayout" Target="/ppt/slideLayouts/slideLayout2.xml" Id="R2c47f9bc212a427c" /><Relationship Type="http://schemas.openxmlformats.org/officeDocument/2006/relationships/slideLayout" Target="/ppt/slideLayouts/slideLayout3.xml" Id="Rb1014fae9ed8451c" /><Relationship Type="http://schemas.openxmlformats.org/officeDocument/2006/relationships/slideLayout" Target="/ppt/slideLayouts/slideLayout4.xml" Id="R12d8cb35ba764f65" /><Relationship Type="http://schemas.openxmlformats.org/officeDocument/2006/relationships/slideLayout" Target="/ppt/slideLayouts/slideLayout5.xml" Id="R016f0b5fc0564323" /><Relationship Type="http://schemas.openxmlformats.org/officeDocument/2006/relationships/slideLayout" Target="/ppt/slideLayouts/slideLayout6.xml" Id="R66e3bca846a44b77" /><Relationship Type="http://schemas.openxmlformats.org/officeDocument/2006/relationships/slideLayout" Target="/ppt/slideLayouts/slideLayout7.xml" Id="R7fa8a270cf484988" /><Relationship Type="http://schemas.openxmlformats.org/officeDocument/2006/relationships/slideLayout" Target="/ppt/slideLayouts/slideLayout8.xml" Id="Re9660572fd1a43d4" /><Relationship Type="http://schemas.openxmlformats.org/officeDocument/2006/relationships/slideLayout" Target="/ppt/slideLayouts/slideLayout9.xml" Id="R36715f511558454d" /><Relationship Type="http://schemas.openxmlformats.org/officeDocument/2006/relationships/slideLayout" Target="/ppt/slideLayouts/slideLayout10.xml" Id="Rb07d702ccea34a47" /><Relationship Type="http://schemas.openxmlformats.org/officeDocument/2006/relationships/slideLayout" Target="/ppt/slideLayouts/slideLayout11.xml" Id="R28fb4417b8e045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037EB6-6EFD-4B19-84D1-350093F60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A856E3-897F-45FB-B059-278C54E88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EF4E79-02FD-406F-985E-52F8558B825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9/10/26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418BB1-6744-45BD-90CB-9A9C3F7FA7E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9B4770-2E74-447F-8BC4-B5867E59ED1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d01ee3e82341f5"/>
    <p:sldLayoutId xmlns:r="http://schemas.openxmlformats.org/officeDocument/2006/relationships" id="2147483650" r:id="R2c47f9bc212a427c"/>
    <p:sldLayoutId xmlns:r="http://schemas.openxmlformats.org/officeDocument/2006/relationships" id="2147483651" r:id="Rb1014fae9ed8451c"/>
    <p:sldLayoutId xmlns:r="http://schemas.openxmlformats.org/officeDocument/2006/relationships" id="2147483652" r:id="R12d8cb35ba764f65"/>
    <p:sldLayoutId xmlns:r="http://schemas.openxmlformats.org/officeDocument/2006/relationships" id="2147483653" r:id="R016f0b5fc0564323"/>
    <p:sldLayoutId xmlns:r="http://schemas.openxmlformats.org/officeDocument/2006/relationships" id="2147483654" r:id="R66e3bca846a44b77"/>
    <p:sldLayoutId xmlns:r="http://schemas.openxmlformats.org/officeDocument/2006/relationships" id="2147483655" r:id="R7fa8a270cf484988"/>
    <p:sldLayoutId xmlns:r="http://schemas.openxmlformats.org/officeDocument/2006/relationships" id="2147483656" r:id="Re9660572fd1a43d4"/>
    <p:sldLayoutId xmlns:r="http://schemas.openxmlformats.org/officeDocument/2006/relationships" id="2147483657" r:id="R36715f511558454d"/>
    <p:sldLayoutId xmlns:r="http://schemas.openxmlformats.org/officeDocument/2006/relationships" id="2147483658" r:id="Rb07d702ccea34a47"/>
    <p:sldLayoutId xmlns:r="http://schemas.openxmlformats.org/officeDocument/2006/relationships" id="2147483659" r:id="R28fb4417b8e0451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38848a6f74834" /><Relationship Type="http://schemas.openxmlformats.org/officeDocument/2006/relationships/image" Target="/ppt/media/image.png" Id="R4939051896a04bf6" /><Relationship Type="http://schemas.openxmlformats.org/officeDocument/2006/relationships/image" Target="/ppt/media/image2.png" Id="R371da4bedc08494d" /><Relationship Type="http://schemas.openxmlformats.org/officeDocument/2006/relationships/notesSlide" Target="/ppt/notesSlides/notesSlide1.xml" Id="Rc03c056f786a4c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73ce16f454be9" /><Relationship Type="http://schemas.openxmlformats.org/officeDocument/2006/relationships/image" Target="/ppt/media/image2.png" Id="Ra36b8b30a96d4332" /><Relationship Type="http://schemas.openxmlformats.org/officeDocument/2006/relationships/image" Target="/ppt/media/image3.png" Id="Rbf6622f39ccb4113" /><Relationship Type="http://schemas.openxmlformats.org/officeDocument/2006/relationships/notesSlide" Target="/ppt/notesSlides/notesSlide2.xml" Id="R19fbfed7ad45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9202938dd54eb3" /><Relationship Type="http://schemas.openxmlformats.org/officeDocument/2006/relationships/image" Target="/ppt/media/image2.png" Id="R4dd972a81db54528" /><Relationship Type="http://schemas.openxmlformats.org/officeDocument/2006/relationships/notesSlide" Target="/ppt/notesSlides/notesSlide3.xml" Id="Ra9a9fde93d9049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e1752af598460d" /><Relationship Type="http://schemas.openxmlformats.org/officeDocument/2006/relationships/image" Target="/ppt/media/image2.png" Id="R0271cd13758c4dc5" /><Relationship Type="http://schemas.openxmlformats.org/officeDocument/2006/relationships/notesSlide" Target="/ppt/notesSlides/notesSlide4.xml" Id="Ra1017fb557ae44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e16cf8ea84997" /><Relationship Type="http://schemas.openxmlformats.org/officeDocument/2006/relationships/image" Target="/ppt/media/image2.png" Id="Rc74250792af545c8" /><Relationship Type="http://schemas.openxmlformats.org/officeDocument/2006/relationships/notesSlide" Target="/ppt/notesSlides/notesSlide5.xml" Id="R394b48af2dae4a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e7aa41f244b68" /><Relationship Type="http://schemas.openxmlformats.org/officeDocument/2006/relationships/image" Target="/ppt/media/image2.png" Id="Reac386147d8d4867" /><Relationship Type="http://schemas.openxmlformats.org/officeDocument/2006/relationships/notesSlide" Target="/ppt/notesSlides/notesSlide6.xml" Id="Ra152795e814c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39051896a04bf6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pic>
        <p:nvPicPr>
          <p:cNvPr id="53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da4bedc0849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F85191-2622-474B-B1D3-18C381C1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8125"/>
            <a:ext cx="923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AC2FA0-AB23-432A-B8BB-03A952C4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81125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PramaanCV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33B016-9561-4542-9481-31B8AC3A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Offline checks before trusting a vision model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9CC9A7-8C0A-4BAE-98FA-DD9D6B7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Problem Statement 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382826-829C-4833-8EAE-2D8F1852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SIH26228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62FA18-22E8-4FB2-88B8-59247E51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Problem Statement Title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7C99BA-533A-4886-888A-E0AF450E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609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Trustworthy Computer Vision Integrity Assurance for Data, Models and Inference Outputs in Multi-Contributor Pipelines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A93484-02D2-4C3D-9E99-DD7C7E82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Theme: Blockchain &amp; Cybersecurity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73CC48-94EE-46B9-953E-B3E6796E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PS Category: Software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C796E2-BC06-482C-807F-6FF5DBD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817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365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36522"/>
                </a:solidFill>
                <a:latin typeface="Arial"/>
                <a:ea typeface="Arial"/>
                <a:cs typeface="Arial"/>
              </a:rPr>
              <a:t>Team Name: PPLINTH     Team ID: Not applicable</a:t>
            </a:r>
          </a:p>
        </p:txBody>
      </p:sp>
    </p:spTree>
    <p:extLst>
      <p:ext uri="{BB962C8B-B14F-4D97-AF65-F5344CB8AC3E}">
        <p14:creationId xmlns:p14="http://schemas.microsoft.com/office/powerpoint/2010/main" val="3037205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0BFB4A-7B47-4FB7-9C3A-6FEC824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1A3C04-27A9-4317-8FE3-CDA3171AE2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39500" y="6410325"/>
            <a:ext cx="400050" cy="238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EDDF4A3-7BF4-4069-A9D9-70247F3D72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14E7B"/>
                </a:solidFill>
                <a:latin typeface="Arial"/>
                <a:ea typeface="Arial"/>
                <a:cs typeface="Arial"/>
              </a:rPr>
              <a:t>PPLINTH</a:t>
            </a:r>
            <a:endParaRPr/>
          </a:p>
        </p:txBody>
      </p:sp>
      <p:pic>
        <p:nvPicPr>
          <p:cNvPr id="1537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b8b30a96d43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4FD3F728-0FD3-43B5-9223-B384D666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4C7F33F9-E299-4186-BD7C-4BF873E4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PramaanCV: an offline assurance workflow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359D48E2-AC5D-4B54-9A93-27CF10E5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613121C9-E3D6-4735-88C8-CFFCB728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561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Inspect contributed data and model evidence.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Protect results with a signed record.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EC995E3A-C9C4-4AE6-9DB6-8B9F4AF8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984CEDBE-DA54-4954-B621-EEF41D65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8575"/>
            <a:ext cx="561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Show each finding and its affected asset.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Recommend acceptance, review or quarantine.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883F7A86-B045-4455-A445-24442A5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Innovation and uniqueness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0A7E27E8-64E7-45A7-8389-C27B24EE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8275"/>
            <a:ext cx="609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Proposed: a data finding guides a model test.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Linked evidence supports the analyst’s decision.</a:t>
            </a:r>
          </a:p>
        </p:txBody>
      </p:sp>
      <p:pic>
        <p:nvPicPr>
          <p:cNvPr id="15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622f39ccb4113"/>
          <a:srcRect xmlns:a="http://schemas.openxmlformats.org/drawingml/2006/main" l="7748" t="0" r="77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2085975"/>
            <a:ext cx="4762500" cy="3171825"/>
          </a:xfrm>
          <a:prstGeom xmlns:a="http://schemas.openxmlformats.org/drawingml/2006/main" prst="rect">
            <a:avLst/>
          </a:prstGeom>
        </p:spPr>
      </p:pic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0FEE30F0-2AB6-4D15-966A-44CDB94E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911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Concept illustration</a:t>
            </a:r>
          </a:p>
        </p:txBody>
      </p:sp>
    </p:spTree>
    <p:extLst>
      <p:ext uri="{BB962C8B-B14F-4D97-AF65-F5344CB8AC3E}">
        <p14:creationId xmlns:p14="http://schemas.microsoft.com/office/powerpoint/2010/main" val="867087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6ED7AA-17A1-4510-8877-E571E790ED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39500" y="6410325"/>
            <a:ext cx="400050" cy="238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926BCAB-4D9F-4623-9AA6-4466507D2B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14E7B"/>
                </a:solidFill>
                <a:latin typeface="Arial"/>
                <a:ea typeface="Arial"/>
                <a:cs typeface="Arial"/>
              </a:rPr>
              <a:t>PPLINTH</a:t>
            </a:r>
            <a:endParaRPr/>
          </a:p>
        </p:txBody>
      </p:sp>
      <p:pic>
        <p:nvPicPr>
          <p:cNvPr id="1743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972a81db54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959A8A13-4FE1-4DB9-88D7-F4A0BD7B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74E60D5-E3E2-49B2-B40D-DC4E812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Technologies to be used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8A04F3FE-7729-4C0C-A78E-0F037C7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Built: HTML/CSS, JavaScript, Node.js, SHA-256, Ed25519, JSONL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56E92C84-778D-4C05-9570-1CC7FE57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Next: isolated Python/PyTorch worker, ONNX adapter, durable storage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453B871-496A-4B63-9048-ADA8704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Methodology and process for implementation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2E696B87-311C-4B79-A494-B76339A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3652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D365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48ACCADA-A57B-4002-8CDB-058E2FBD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A8E27A81-9EE1-48D1-A3C7-E884921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2619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COCO label checks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Source-level counts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D0416C7B-0191-4CA8-ABE5-F0A856AA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385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3652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D365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3A9A46E0-1F4A-44F0-802F-69B986C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05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4F65DFC9-0500-4C88-AA7B-F2F87671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2619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Supplied output deltas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Declared thresholds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7EF74FBD-30E0-4158-83D4-5435EE9B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385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3652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D365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B4282AB5-0190-49CE-9488-65F94DDE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05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RECEIPT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8027889A-40F0-4E38-BF1E-308228A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62475"/>
            <a:ext cx="2619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File fingerprints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Digital signature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BB06A0A0-1DD5-49D1-8CA9-C4EB01B2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385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D36522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D3652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E7BC7EAE-4509-4993-AFAB-14D5217E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2A5C6AC4-40D3-462E-8A9D-A21DDA02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62475"/>
            <a:ext cx="26193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Reasons and findings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Rule-based decision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D185417A-DF85-49D9-9463-2226D1C0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14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Working prototype: sign a record, change its output digest, verify failure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DB000C14-1229-4814-B026-26BE0631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59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Model execution is pending. Replay uses an explicit simulation flag.</a:t>
            </a:r>
          </a:p>
        </p:txBody>
      </p:sp>
    </p:spTree>
    <p:extLst>
      <p:ext uri="{BB962C8B-B14F-4D97-AF65-F5344CB8AC3E}">
        <p14:creationId xmlns:p14="http://schemas.microsoft.com/office/powerpoint/2010/main" val="18057765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CD7459-FB05-4081-BE4B-3272AF85BC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39500" y="6410325"/>
            <a:ext cx="400050" cy="238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072C1D2-1E3B-4C9A-A6B5-990CEF7F51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14E7B"/>
                </a:solidFill>
                <a:latin typeface="Arial"/>
                <a:ea typeface="Arial"/>
                <a:cs typeface="Arial"/>
              </a:rPr>
              <a:t>PPLINTH</a:t>
            </a:r>
            <a:endParaRPr/>
          </a:p>
        </p:txBody>
      </p:sp>
      <p:pic>
        <p:nvPicPr>
          <p:cNvPr id="1743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1cd13758c4d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3A0CBB6B-05E4-4C24-A24E-F6AE59E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A01330B-8B1A-4DC4-BDC7-90C103C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Analysis of feasibility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C5D2F649-D894-40B9-B675-C0DE2300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95475"/>
            <a:ext cx="1114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local PoC runs today. National MVP starts with a real NIST model pair.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5A4A2E03-5E14-4CF1-8A05-43F69216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7B00319F-68AA-4E82-B430-7DEB10A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76525"/>
            <a:ext cx="547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Strategies for overcoming challenges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6F927AD3-45E9-4031-974C-C5939E6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 trigger test can raise a false alarm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6B8BC5AD-5396-444A-9F0F-ECFF9F82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Use clean controls and fixed thresholds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4A6EA5D9-E6EE-44EB-9231-7A2A75F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Model files can execute unsafe code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67E8D634-4DAE-42AE-8E1A-A869D465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Load inside a restricted offline worker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C0031143-7BE8-433F-AC70-D3FBC247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Large models exceed browser uploads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1BF810C2-6AF6-4BF6-B512-4EE9273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Hash assets as streams and queue workers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27EF1FC3-A548-4E75-B86B-1724F3E5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Keys reset and replay checks are limited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3EB66E73-6138-4F67-A8D1-01D81F78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5302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Persist trusted keys and receiver state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09DFF2EF-F124-462A-AA20-E188E39A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59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Baseline assessment will not require retraining the supplied model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857DD6-D562-4818-B9D8-CEFE8C4DEF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39500" y="6410325"/>
            <a:ext cx="400050" cy="238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8C7D15D-6978-4222-8311-87ABFEA5A1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14E7B"/>
                </a:solidFill>
                <a:latin typeface="Arial"/>
                <a:ea typeface="Arial"/>
                <a:cs typeface="Arial"/>
              </a:rPr>
              <a:t>PPLINTH</a:t>
            </a:r>
            <a:endParaRPr/>
          </a:p>
        </p:txBody>
      </p:sp>
      <p:pic>
        <p:nvPicPr>
          <p:cNvPr id="1742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250792af5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F36AA8B7-D7FC-41D7-86C6-39470403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0093E48-A719-4DC7-8904-3E99243F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6BF864B3-FCFF-4FC8-9D47-8F26BEA6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049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Defence AI reviewers and teams accepting externally supplied vision models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D386B6B8-D776-4E4B-BD1C-01382BDF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Operational benefit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268CD403-1930-4177-9940-99419FC9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Evidence helps analysts investigate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unexpected model behaviour.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C4E0A1E3-85B7-438E-9CFD-82F7E08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Economic benefit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90027FF1-7556-43AD-A206-42BED2E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Reusable checks may reduce repeated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manual review and integration work.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08436F16-0F38-4CBC-B71D-EE8BFBB0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38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Governance benefit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63301058-54FC-45C1-A4DE-F5D8AC63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14875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Signed records expose later changes.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Offline use keeps inputs on site.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2E22BD36-CD9A-4928-A10C-6557807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How we will measure impact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FDF88614-E6CA-4ADB-A7C8-9B40E2A1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5381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Detection at a fixed false-alarm rate.</a:t>
            </a:r>
          </a:p>
          <a:p xmlns:a="http://schemas.openxmlformats.org/drawingml/2006/main">
            <a:pPr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Review time, runtime and memory per model.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8EBDFF5C-18A2-4336-8FEB-5BEFD435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959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Expected benefits require validation. No field impact or cost saving claimed yet.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F16591-C06B-4CF8-B2D5-1BB2E3953F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39500" y="6410325"/>
            <a:ext cx="400050" cy="238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44D4087-88F3-4FE0-A4A3-6DB38ED38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14E7B"/>
                </a:solidFill>
                <a:latin typeface="Arial"/>
                <a:ea typeface="Arial"/>
                <a:cs typeface="Arial"/>
              </a:rPr>
              <a:t>PPLINTH</a:t>
            </a:r>
            <a:endParaRPr/>
          </a:p>
        </p:txBody>
      </p:sp>
      <p:pic>
        <p:nvPicPr>
          <p:cNvPr id="1743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386147d8d4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56FFBA54-7FB0-4E8D-B227-F587EECF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8125"/>
            <a:ext cx="790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214E7B"/>
                </a:solidFill>
                <a:latin typeface="Times New Roman"/>
                <a:ea typeface="Times New Roman"/>
                <a:cs typeface="Times New Roman"/>
              </a:rPr>
              <a:t>RESEARCH AND REFERENCES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3C8D938B-8E1E-434B-A405-79EAD15B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9225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Research that grounds the problem and the validation plan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2249E50A-E50E-4A8B-8648-C6E505EB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NIST TrojAI Round 13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E8B0715-D295-4AAB-9F11-5229CF5D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738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128 training models in the round documentation. Four attack effects.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344EEF66-1DFB-4393-BB83-A3071A9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738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pages.nist.gov/trojai/docs/object-detection-feb2023.html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B60B2D5A-BF8E-4621-8CD1-181FF5FC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COCO-O, ICCV 2023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5FC45813-52EE-4CBE-84CB-EE56BAE1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86100"/>
            <a:ext cx="738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6,782 images across six domains for natural distribution shift.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E17543DD-AFD4-4481-9708-3FE98815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86150"/>
            <a:ext cx="738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github.com/alibaba/easyrobust/tree/main/benchmarks/coco_o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FBF5CDD5-F6E8-4574-B772-B909495B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ObjectLab, 2023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B493A772-0F85-43B7-BC44-04A8518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57650"/>
            <a:ext cx="738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Research on label errors in object-detection datasets.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B07BF03D-1DC9-4BAD-A58F-DDC05A39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57700"/>
            <a:ext cx="738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arxiv.org/abs/2309.00832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B4D47EEB-153F-441B-A04B-2DADD2A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3714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14E7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14E7B"/>
                </a:solidFill>
                <a:latin typeface="Arial"/>
                <a:ea typeface="Arial"/>
                <a:cs typeface="Arial"/>
              </a:rPr>
              <a:t>Pichler et al., AISTATS 2024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FE56499F-798C-4C9F-8464-C279E39B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29200"/>
            <a:ext cx="738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Limits of universal backdoor detection motivate explicit coverage.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1B6891B0-330D-4F4F-B597-9442CBD8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738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65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575"/>
                </a:solidFill>
                <a:latin typeface="Arial"/>
                <a:ea typeface="Arial"/>
                <a:cs typeface="Arial"/>
              </a:rPr>
              <a:t>proceedings.mlr.press/v238/pichler24a.html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2026-09-10T07:26:54.1350000Z</dcterms:created>
  <dcterms:modified xsi:type="dcterms:W3CDTF">2026-09-10T07:26:54.1350000Z</dcterms:modified>
</coreProperties>
</file>